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20"/>
  </p:notesMasterIdLst>
  <p:sldIdLst>
    <p:sldId id="256" r:id="rId2"/>
    <p:sldId id="257" r:id="rId3"/>
    <p:sldId id="258" r:id="rId4"/>
    <p:sldId id="675" r:id="rId5"/>
    <p:sldId id="67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9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6" r:id="rId113"/>
    <p:sldId id="365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90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4" r:id="rId231"/>
    <p:sldId id="485" r:id="rId232"/>
    <p:sldId id="486" r:id="rId233"/>
    <p:sldId id="487" r:id="rId234"/>
    <p:sldId id="488" r:id="rId235"/>
    <p:sldId id="489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19" r:id="rId354"/>
    <p:sldId id="608" r:id="rId355"/>
    <p:sldId id="609" r:id="rId356"/>
    <p:sldId id="610" r:id="rId357"/>
    <p:sldId id="611" r:id="rId358"/>
    <p:sldId id="612" r:id="rId359"/>
    <p:sldId id="613" r:id="rId360"/>
    <p:sldId id="614" r:id="rId361"/>
    <p:sldId id="615" r:id="rId362"/>
    <p:sldId id="616" r:id="rId363"/>
    <p:sldId id="617" r:id="rId364"/>
    <p:sldId id="630" r:id="rId365"/>
    <p:sldId id="618" r:id="rId366"/>
    <p:sldId id="620" r:id="rId367"/>
    <p:sldId id="621" r:id="rId368"/>
    <p:sldId id="622" r:id="rId369"/>
    <p:sldId id="623" r:id="rId370"/>
    <p:sldId id="624" r:id="rId371"/>
    <p:sldId id="625" r:id="rId372"/>
    <p:sldId id="626" r:id="rId373"/>
    <p:sldId id="627" r:id="rId374"/>
    <p:sldId id="628" r:id="rId375"/>
    <p:sldId id="629" r:id="rId376"/>
    <p:sldId id="631" r:id="rId377"/>
    <p:sldId id="632" r:id="rId378"/>
    <p:sldId id="633" r:id="rId379"/>
    <p:sldId id="634" r:id="rId380"/>
    <p:sldId id="635" r:id="rId381"/>
    <p:sldId id="638" r:id="rId382"/>
    <p:sldId id="636" r:id="rId383"/>
    <p:sldId id="637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73" r:id="rId395"/>
    <p:sldId id="649" r:id="rId396"/>
    <p:sldId id="650" r:id="rId397"/>
    <p:sldId id="651" r:id="rId398"/>
    <p:sldId id="652" r:id="rId399"/>
    <p:sldId id="653" r:id="rId400"/>
    <p:sldId id="654" r:id="rId401"/>
    <p:sldId id="655" r:id="rId402"/>
    <p:sldId id="656" r:id="rId403"/>
    <p:sldId id="657" r:id="rId404"/>
    <p:sldId id="658" r:id="rId405"/>
    <p:sldId id="659" r:id="rId406"/>
    <p:sldId id="660" r:id="rId407"/>
    <p:sldId id="661" r:id="rId408"/>
    <p:sldId id="662" r:id="rId409"/>
    <p:sldId id="663" r:id="rId410"/>
    <p:sldId id="664" r:id="rId411"/>
    <p:sldId id="665" r:id="rId412"/>
    <p:sldId id="666" r:id="rId413"/>
    <p:sldId id="667" r:id="rId414"/>
    <p:sldId id="668" r:id="rId415"/>
    <p:sldId id="669" r:id="rId416"/>
    <p:sldId id="670" r:id="rId417"/>
    <p:sldId id="672" r:id="rId418"/>
    <p:sldId id="671" r:id="rId4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84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366" Type="http://schemas.openxmlformats.org/officeDocument/2006/relationships/slide" Target="slides/slide365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377" Type="http://schemas.openxmlformats.org/officeDocument/2006/relationships/slide" Target="slides/slide376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402" Type="http://schemas.openxmlformats.org/officeDocument/2006/relationships/slide" Target="slides/slide401.xml"/><Relationship Id="rId279" Type="http://schemas.openxmlformats.org/officeDocument/2006/relationships/slide" Target="slides/slide278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25" Type="http://schemas.openxmlformats.org/officeDocument/2006/relationships/slide" Target="slides/slide324.xml"/><Relationship Id="rId346" Type="http://schemas.openxmlformats.org/officeDocument/2006/relationships/slide" Target="slides/slide345.xml"/><Relationship Id="rId367" Type="http://schemas.openxmlformats.org/officeDocument/2006/relationships/slide" Target="slides/slide366.xml"/><Relationship Id="rId388" Type="http://schemas.openxmlformats.org/officeDocument/2006/relationships/slide" Target="slides/slide387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413" Type="http://schemas.openxmlformats.org/officeDocument/2006/relationships/slide" Target="slides/slide412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15" Type="http://schemas.openxmlformats.org/officeDocument/2006/relationships/slide" Target="slides/slide314.xml"/><Relationship Id="rId336" Type="http://schemas.openxmlformats.org/officeDocument/2006/relationships/slide" Target="slides/slide335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378" Type="http://schemas.openxmlformats.org/officeDocument/2006/relationships/slide" Target="slides/slide377.xml"/><Relationship Id="rId399" Type="http://schemas.openxmlformats.org/officeDocument/2006/relationships/slide" Target="slides/slide398.xml"/><Relationship Id="rId403" Type="http://schemas.openxmlformats.org/officeDocument/2006/relationships/slide" Target="slides/slide402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424" Type="http://schemas.openxmlformats.org/officeDocument/2006/relationships/tableStyles" Target="tableStyles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26" Type="http://schemas.openxmlformats.org/officeDocument/2006/relationships/slide" Target="slides/slide325.xml"/><Relationship Id="rId347" Type="http://schemas.openxmlformats.org/officeDocument/2006/relationships/slide" Target="slides/slide346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368" Type="http://schemas.openxmlformats.org/officeDocument/2006/relationships/slide" Target="slides/slide367.xml"/><Relationship Id="rId389" Type="http://schemas.openxmlformats.org/officeDocument/2006/relationships/slide" Target="slides/slide388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414" Type="http://schemas.openxmlformats.org/officeDocument/2006/relationships/slide" Target="slides/slide413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16" Type="http://schemas.openxmlformats.org/officeDocument/2006/relationships/slide" Target="slides/slide315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358" Type="http://schemas.openxmlformats.org/officeDocument/2006/relationships/slide" Target="slides/slide357.xml"/><Relationship Id="rId379" Type="http://schemas.openxmlformats.org/officeDocument/2006/relationships/slide" Target="slides/slide378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48" Type="http://schemas.openxmlformats.org/officeDocument/2006/relationships/slide" Target="slides/slide347.xml"/><Relationship Id="rId369" Type="http://schemas.openxmlformats.org/officeDocument/2006/relationships/slide" Target="slides/slide368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415" Type="http://schemas.openxmlformats.org/officeDocument/2006/relationships/slide" Target="slides/slide414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338" Type="http://schemas.openxmlformats.org/officeDocument/2006/relationships/slide" Target="slides/slide337.xml"/><Relationship Id="rId359" Type="http://schemas.openxmlformats.org/officeDocument/2006/relationships/slide" Target="slides/slide358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370" Type="http://schemas.openxmlformats.org/officeDocument/2006/relationships/slide" Target="slides/slide369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28" Type="http://schemas.openxmlformats.org/officeDocument/2006/relationships/slide" Target="slides/slide327.xml"/><Relationship Id="rId349" Type="http://schemas.openxmlformats.org/officeDocument/2006/relationships/slide" Target="slides/slide348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381" Type="http://schemas.openxmlformats.org/officeDocument/2006/relationships/slide" Target="slides/slide380.xml"/><Relationship Id="rId416" Type="http://schemas.openxmlformats.org/officeDocument/2006/relationships/slide" Target="slides/slide415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slide" Target="slides/slide317.xml"/><Relationship Id="rId339" Type="http://schemas.openxmlformats.org/officeDocument/2006/relationships/slide" Target="slides/slide338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371" Type="http://schemas.openxmlformats.org/officeDocument/2006/relationships/slide" Target="slides/slide370.xml"/><Relationship Id="rId406" Type="http://schemas.openxmlformats.org/officeDocument/2006/relationships/slide" Target="slides/slide405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392" Type="http://schemas.openxmlformats.org/officeDocument/2006/relationships/slide" Target="slides/slide391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361" Type="http://schemas.openxmlformats.org/officeDocument/2006/relationships/slide" Target="slides/slide360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417" Type="http://schemas.openxmlformats.org/officeDocument/2006/relationships/slide" Target="slides/slide416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72" Type="http://schemas.openxmlformats.org/officeDocument/2006/relationships/slide" Target="slides/slide371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362" Type="http://schemas.openxmlformats.org/officeDocument/2006/relationships/slide" Target="slides/slide361.xml"/><Relationship Id="rId383" Type="http://schemas.openxmlformats.org/officeDocument/2006/relationships/slide" Target="slides/slide382.xml"/><Relationship Id="rId418" Type="http://schemas.openxmlformats.org/officeDocument/2006/relationships/slide" Target="slides/slide417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352" Type="http://schemas.openxmlformats.org/officeDocument/2006/relationships/slide" Target="slides/slide351.xml"/><Relationship Id="rId373" Type="http://schemas.openxmlformats.org/officeDocument/2006/relationships/slide" Target="slides/slide372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363" Type="http://schemas.openxmlformats.org/officeDocument/2006/relationships/slide" Target="slides/slide362.xml"/><Relationship Id="rId384" Type="http://schemas.openxmlformats.org/officeDocument/2006/relationships/slide" Target="slides/slide383.xml"/><Relationship Id="rId419" Type="http://schemas.openxmlformats.org/officeDocument/2006/relationships/slide" Target="slides/slide418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353" Type="http://schemas.openxmlformats.org/officeDocument/2006/relationships/slide" Target="slides/slide352.xml"/><Relationship Id="rId374" Type="http://schemas.openxmlformats.org/officeDocument/2006/relationships/slide" Target="slides/slide373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420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slide" Target="slides/slide342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75" Type="http://schemas.openxmlformats.org/officeDocument/2006/relationships/slide" Target="slides/slide374.xml"/><Relationship Id="rId396" Type="http://schemas.openxmlformats.org/officeDocument/2006/relationships/slide" Target="slides/slide395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400" Type="http://schemas.openxmlformats.org/officeDocument/2006/relationships/slide" Target="slides/slide399.xml"/><Relationship Id="rId421" Type="http://schemas.openxmlformats.org/officeDocument/2006/relationships/presProps" Target="presProp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slide" Target="slides/slide34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65" Type="http://schemas.openxmlformats.org/officeDocument/2006/relationships/slide" Target="slides/slide364.xml"/><Relationship Id="rId386" Type="http://schemas.openxmlformats.org/officeDocument/2006/relationships/slide" Target="slides/slide385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55" Type="http://schemas.openxmlformats.org/officeDocument/2006/relationships/slide" Target="slides/slide354.xml"/><Relationship Id="rId376" Type="http://schemas.openxmlformats.org/officeDocument/2006/relationships/slide" Target="slides/slide375.xml"/><Relationship Id="rId397" Type="http://schemas.openxmlformats.org/officeDocument/2006/relationships/slide" Target="slides/slide396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422" Type="http://schemas.openxmlformats.org/officeDocument/2006/relationships/viewProps" Target="viewProps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412" Type="http://schemas.openxmlformats.org/officeDocument/2006/relationships/slide" Target="slides/slide411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423" Type="http://schemas.openxmlformats.org/officeDocument/2006/relationships/theme" Target="theme/theme1.xml"/><Relationship Id="rId258" Type="http://schemas.openxmlformats.org/officeDocument/2006/relationships/slide" Target="slides/slide2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44AFD-311F-484B-A565-7CCEEF46B22B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2149B-8733-4CCE-B6FF-F22BC49EE9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99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2149B-8733-4CCE-B6FF-F22BC49EE934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297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2149B-8733-4CCE-B6FF-F22BC49EE934}" type="slidenum">
              <a:rPr lang="zh-CN" altLang="en-US" smtClean="0"/>
              <a:t>294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48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72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77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49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1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19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12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224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30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35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33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91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2016/12/5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61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emf"/><Relationship Id="rId4" Type="http://schemas.openxmlformats.org/officeDocument/2006/relationships/image" Target="../media/image100.emf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emf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emf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emf"/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emf"/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emf"/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emf"/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emf"/><Relationship Id="rId1" Type="http://schemas.openxmlformats.org/officeDocument/2006/relationships/slideLayout" Target="../slideLayouts/slideLayout2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4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emf"/><Relationship Id="rId1" Type="http://schemas.openxmlformats.org/officeDocument/2006/relationships/slideLayout" Target="../slideLayouts/slideLayout2.xml"/></Relationships>
</file>

<file path=ppt/slides/_rels/slide4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55576" y="764704"/>
            <a:ext cx="7776864" cy="4874096"/>
          </a:xfrm>
        </p:spPr>
        <p:txBody>
          <a:bodyPr>
            <a:normAutofit fontScale="70000" lnSpcReduction="20000"/>
          </a:bodyPr>
          <a:lstStyle/>
          <a:p>
            <a:pPr marL="113030" indent="-113030">
              <a:lnSpc>
                <a:spcPct val="150000"/>
              </a:lnSpc>
            </a:pPr>
            <a:r>
              <a:rPr lang="zh-CN" altLang="zh-CN" sz="4000" b="1" dirty="0">
                <a:solidFill>
                  <a:srgbClr val="000000"/>
                </a:solidFill>
                <a:latin typeface="Times New Roman"/>
              </a:rPr>
              <a:t>第</a:t>
            </a:r>
            <a:r>
              <a:rPr lang="en-US" altLang="zh-CN" sz="4000" b="1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sz="4000" b="1" dirty="0">
                <a:solidFill>
                  <a:srgbClr val="000000"/>
                </a:solidFill>
                <a:latin typeface="Times New Roman"/>
              </a:rPr>
              <a:t>讲 比谁眼力好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</a:t>
            </a:r>
            <a:r>
              <a:rPr lang="zh-CN" altLang="zh-CN" b="1" dirty="0">
                <a:solidFill>
                  <a:srgbClr val="000000"/>
                </a:solidFill>
                <a:latin typeface="Times New Roman"/>
              </a:rPr>
              <a:t>专题简析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小朋友，如果给你一组图形，其中有一个图形与其他图形的特征不一样，你能很快辨认出来吗？或者先画了几幅图，要你接着画下去你会画吗？这就要比谁的眼力好了。我们可以从图形的形状、位置、大小、方向等方面观察、比较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要学会这种本领，小朋友一定要认真观察，根据前后几个图形的排列，找出变化的规律，才能推算出下面该画什么图形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。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464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504056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下面一组图中，有一个是不同的，你能找出它吗？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en-US" altLang="zh-CN" dirty="0" smtClean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en-US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en-US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图（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）、（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）、（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）、（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）是完全相同的两个图形重叠一小部分。而图（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）是两个完全一样的半圆拼成的一个整圆，没有重叠。</a:t>
            </a:r>
          </a:p>
          <a:p>
            <a:pPr marL="90170" indent="3016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这几组图形中，第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组图形与其他的不同。</a:t>
            </a:r>
          </a:p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48" y="2276872"/>
            <a:ext cx="5818800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479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4" y="817784"/>
            <a:ext cx="8699978" cy="5027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768880" y="6093296"/>
            <a:ext cx="358944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．（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）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    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．（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）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     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．（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）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98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480720"/>
          </a:xfrm>
        </p:spPr>
        <p:txBody>
          <a:bodyPr>
            <a:normAutofit fontScale="85000" lnSpcReduction="20000"/>
          </a:bodyPr>
          <a:lstStyle/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根据规律接着画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en-US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en-US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仔细观察图可以发现，第一竖行是三个基本图形○、△、□，第二竖行是在○、△、□外面加了一个圆，第三竖行由上两个图形发现是在○、△、□外加上了一个方框，由此可推断第三个空格的图应该在□外加上一个方框。所以图中空格里应该画“回”。</a:t>
            </a:r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240" y="1124744"/>
            <a:ext cx="2062864" cy="209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453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842"/>
            <a:ext cx="10475103" cy="4579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88" y="5229200"/>
            <a:ext cx="6119813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923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620688"/>
            <a:ext cx="8229600" cy="6048672"/>
          </a:xfrm>
        </p:spPr>
        <p:txBody>
          <a:bodyPr>
            <a:normAutofit/>
          </a:bodyPr>
          <a:lstStyle/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在方框里填上适当的字母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仔细观察这些字母，不难发现，每一横行、竖行都有字母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A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C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，只不过是排列顺序不同而已。因此空格里横看、竖看，都应该填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132856"/>
            <a:ext cx="36004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423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052736"/>
            <a:ext cx="858803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94226"/>
            <a:ext cx="846611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877272"/>
            <a:ext cx="6119813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161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16632"/>
            <a:ext cx="8640960" cy="5184576"/>
          </a:xfrm>
        </p:spPr>
        <p:txBody>
          <a:bodyPr>
            <a:normAutofit fontScale="77500" lnSpcReduction="20000"/>
          </a:bodyPr>
          <a:lstStyle/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请你根据前三个图形的变化规律，画出第四个图形来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en-US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通过观察可以发现这三幅图都是把完全一样的圆平均分成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份，把其中的一份涂上阴影。第一幅图阴影部分在左上角，第二幅图阴影部分在左下角，第三幅图阴影部分在右下角。根据这个规律，第四幅图阴影部分应该转到右上角。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所以第四个方框里应填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97246"/>
            <a:ext cx="5461223" cy="1014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928" y="4581128"/>
            <a:ext cx="4095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821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836071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05064"/>
            <a:ext cx="8893071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085184"/>
            <a:ext cx="6119813" cy="168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370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8640"/>
            <a:ext cx="8229600" cy="6192688"/>
          </a:xfrm>
        </p:spPr>
        <p:txBody>
          <a:bodyPr>
            <a:normAutofit lnSpcReduction="10000"/>
          </a:bodyPr>
          <a:lstStyle/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接着应该怎样画？请画在空格里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90170" indent="-901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导航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先观察○。（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）在左上角，（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）在左下角，（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）在右下角。由此可见○按逆时针方向依次转动。再观察◇、□、△这三种也是按照逆时针方向依次转动。根据规律第四幅图应该这样画：</a:t>
            </a:r>
            <a:r>
              <a:rPr lang="en-US" altLang="zh-CN" dirty="0">
                <a:solidFill>
                  <a:srgbClr val="FFC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261" y="1556792"/>
            <a:ext cx="396044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5" y="5229200"/>
            <a:ext cx="790575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189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26" y="658283"/>
            <a:ext cx="8213221" cy="5584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0"/>
            <a:ext cx="6119813" cy="128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837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692696"/>
            <a:ext cx="8229600" cy="5472608"/>
          </a:xfrm>
        </p:spPr>
        <p:txBody>
          <a:bodyPr>
            <a:normAutofit fontScale="70000" lnSpcReduction="20000"/>
          </a:bodyPr>
          <a:lstStyle/>
          <a:p>
            <a:pPr marL="194945" indent="-194945"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4400" b="1" dirty="0">
                <a:solidFill>
                  <a:srgbClr val="000000"/>
                </a:solidFill>
                <a:latin typeface="Times New Roman"/>
                <a:cs typeface="宋体"/>
              </a:rPr>
              <a:t>第</a:t>
            </a:r>
            <a:r>
              <a:rPr lang="en-US" altLang="zh-CN" sz="4400" b="1" dirty="0">
                <a:solidFill>
                  <a:srgbClr val="000000"/>
                </a:solidFill>
                <a:latin typeface="Times New Roman"/>
                <a:cs typeface="宋体"/>
              </a:rPr>
              <a:t>2</a:t>
            </a:r>
            <a:r>
              <a:rPr lang="zh-CN" altLang="zh-CN" sz="4400" b="1" dirty="0">
                <a:solidFill>
                  <a:srgbClr val="000000"/>
                </a:solidFill>
                <a:latin typeface="Times New Roman"/>
                <a:cs typeface="宋体"/>
              </a:rPr>
              <a:t>讲 数数图形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</a:t>
            </a:r>
            <a:r>
              <a:rPr lang="zh-CN" altLang="zh-CN" b="1" dirty="0">
                <a:solidFill>
                  <a:srgbClr val="000000"/>
                </a:solidFill>
                <a:latin typeface="Times New Roman"/>
              </a:rPr>
              <a:t>专题简析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我们已经认识了线段、角、三角形、长方形等基本图形，当这些图形重重叠叠地交错在一起时就构成了复杂的几何图形。要想准确地计数这类图形中所包含的某一种基本图形的个数，就需要仔细地观察，灵活地运用有关的知识和思考方法，掌握数图形的规律，才能获得正确的结果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要准确、迅速地计数图形必须注意以下几点：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FFC000"/>
                </a:solidFill>
                <a:latin typeface="宋体"/>
              </a:rPr>
              <a:t>1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，弄清被数图形的特征和变化规律。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FFC000"/>
                </a:solidFill>
                <a:latin typeface="宋体"/>
              </a:rPr>
              <a:t>2</a:t>
            </a: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，要按一定的顺序数，做到不重复，不遗漏。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37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92688"/>
          </a:xfrm>
        </p:spPr>
        <p:txBody>
          <a:bodyPr>
            <a:normAutofit fontScale="92500"/>
          </a:bodyPr>
          <a:lstStyle/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】：数出下面图中有多少条线段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  <a:cs typeface="宋体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/>
              <a:cs typeface="宋体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Times New Roman"/>
                <a:cs typeface="宋体"/>
              </a:rPr>
              <a:t>  </a:t>
            </a:r>
          </a:p>
          <a:p>
            <a:pPr marL="129540" indent="-129540">
              <a:lnSpc>
                <a:spcPct val="150000"/>
              </a:lnSpc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FFC000"/>
                </a:solidFill>
                <a:latin typeface="Times New Roman"/>
              </a:rPr>
              <a:t>分析与解答：要正确解答这类问题，需要我们按照一定的顺序来数，做到不重复，不遗漏。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r>
              <a:rPr lang="zh-CN" altLang="zh-CN" dirty="0">
                <a:solidFill>
                  <a:srgbClr val="FFC000"/>
                </a:solidFill>
                <a:cs typeface="Times New Roman"/>
              </a:rPr>
              <a:t>从图中可以看出，从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A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点出发的不同线段有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3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条：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AB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、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AC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、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AD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；从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B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点出发的不同线段有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2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条：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BC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、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BD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；从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C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点出发的不同线段有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1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条：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CD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。因此，图中共有</a:t>
            </a:r>
            <a:r>
              <a:rPr lang="en-US" altLang="zh-CN" dirty="0">
                <a:solidFill>
                  <a:srgbClr val="FFC000"/>
                </a:solidFill>
                <a:cs typeface="Times New Roman"/>
              </a:rPr>
              <a:t>3+2+1=6</a:t>
            </a:r>
            <a:r>
              <a:rPr lang="zh-CN" altLang="zh-CN" dirty="0">
                <a:solidFill>
                  <a:srgbClr val="FFC000"/>
                </a:solidFill>
                <a:cs typeface="Times New Roman"/>
              </a:rPr>
              <a:t>条线段。</a:t>
            </a:r>
            <a:endParaRPr lang="zh-CN" altLang="en-US" dirty="0">
              <a:solidFill>
                <a:srgbClr val="FFC00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052736"/>
            <a:ext cx="4032448" cy="995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776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548680"/>
            <a:ext cx="8706593" cy="491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733256"/>
            <a:ext cx="6119813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125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64087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：数一数下图中有多少个锐角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  <a:cs typeface="宋体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/>
              <a:cs typeface="宋体"/>
            </a:endParaRPr>
          </a:p>
          <a:p>
            <a:pPr>
              <a:lnSpc>
                <a:spcPct val="150000"/>
              </a:lnSpc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endParaRPr lang="en-US" altLang="zh-CN" dirty="0" smtClean="0">
              <a:solidFill>
                <a:srgbClr val="000000"/>
              </a:solidFill>
              <a:latin typeface="Times New Roman"/>
              <a:cs typeface="宋体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dirty="0" smtClean="0">
                <a:solidFill>
                  <a:srgbClr val="FFC000"/>
                </a:solidFill>
                <a:latin typeface="Times New Roman"/>
                <a:cs typeface="宋体"/>
              </a:rPr>
              <a:t>分析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与解答：数角的方法和数线段的方法类似，图中的五条射线相当于线段上的五个点，因此，要求图中有多少个锐角，可根据公式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1+2+3……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（总射线数－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1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）求得：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1+2+3+4=10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（个）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196752"/>
            <a:ext cx="2736304" cy="2077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1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2736"/>
            <a:ext cx="7917781" cy="282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555776" y="4869160"/>
            <a:ext cx="2666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6         2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15      3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28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927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77500" lnSpcReduction="20000"/>
          </a:bodyPr>
          <a:lstStyle/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：数一数下图中共有多少个三角形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  <a:cs typeface="宋体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/>
              <a:cs typeface="宋体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分析与解答：图中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AD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边上的每一条线段与顶点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O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构成一个三角形，也就是说，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AD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边上有几条线段，就构成了几个三角形，因为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AD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上有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4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个点，共有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1+2+3=6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条线段，所以图中有</a:t>
            </a:r>
            <a:r>
              <a:rPr lang="en-US" altLang="zh-CN" dirty="0">
                <a:solidFill>
                  <a:srgbClr val="FFC000"/>
                </a:solidFill>
                <a:latin typeface="Times New Roman"/>
                <a:cs typeface="宋体"/>
              </a:rPr>
              <a:t>6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个三角形。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F3F3F3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052736"/>
            <a:ext cx="3168352" cy="217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718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7720635" cy="339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979712" y="479715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891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：数一数下图中共有多少个三角形。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ctr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分析与解答：与前一个例子相比，图中多了一条线段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EF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，因此三角形的个数应是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AD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EF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上面的线段与点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O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所围成的三角形个数的和。显然，以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AD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上的线段为底边的三角形也是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1+2+3=6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个，所以图中共有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6×2=12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个三角形</a:t>
            </a:r>
            <a:r>
              <a:rPr lang="zh-CN" altLang="zh-CN" dirty="0">
                <a:solidFill>
                  <a:srgbClr val="FFC000"/>
                </a:solidFill>
                <a:latin typeface="Times New Roman"/>
                <a:cs typeface="宋体"/>
              </a:rPr>
              <a:t>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>
              <a:solidFill>
                <a:srgbClr val="FFC000"/>
              </a:solidFill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84784"/>
            <a:ext cx="2808312" cy="2358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468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0808"/>
            <a:ext cx="10231240" cy="2982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691680" y="551723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20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21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973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：数一数下图中有多少个长方形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  <a:cs typeface="宋体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/>
              <a:cs typeface="宋体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分析与解答：数长方形与数线段的方法类似。可以这样思考，图中的长方形的个数取决于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AB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或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CD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边上的线段，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AB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边上的线段条数是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1+2+3=6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条，所以图中有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个长方形。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2776"/>
            <a:ext cx="4608512" cy="1740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789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4664"/>
            <a:ext cx="8240565" cy="4968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331640" y="537321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3         2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18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454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94945" indent="-194945"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</a:t>
            </a:r>
            <a:r>
              <a:rPr lang="zh-CN" altLang="zh-CN" sz="4400" b="1" kern="100" dirty="0">
                <a:latin typeface="Times New Roman"/>
              </a:rPr>
              <a:t>讲 按规律填数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【专题简析】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我们经常会看到按一定规律排列起来的一列数，如果要接在一列数后面再写几个数，就要仔细观察这列数中已经出现的几个数之间有什么规律，找准了规律，就能按规律接下去填数了。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按规律填数不是很容易就填对的，要运用数的顺序和加、减、乘法的知识，通过仔细观察，根据同组数排列的顺序和前后、上下之间的相互关系，才能找出数与数间的排列规律。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566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按规律填数。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）第一个数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减去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是第三个数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，第三个数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减去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是第五个数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，第二、四、六个数不变，根据这一规律，第七个数是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 = 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，第八个数还是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）第一个数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加上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的和是第三个数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，第三个数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加上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的和是第五个数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，第二个数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减去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的差是第四个数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，第四个数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减去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是第六个数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，根据这一规律，第七个数应是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5 = 20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，第八个数应是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 = 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，即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23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．找规律填数。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8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．找规律填数。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38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8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．找规律填数。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40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76056" y="4293096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；（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32</a:t>
            </a:r>
            <a:r>
              <a:rPr lang="zh-CN" altLang="zh-CN" kern="100" dirty="0">
                <a:latin typeface="Times New Roman"/>
              </a:rPr>
              <a:t>；（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27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；（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1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311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仔细观察，找规律填数。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这里第一个数加上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得到第二个数（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= 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），第二个数乘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得第三个数（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= 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），这里第三个数加上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得到第四个数（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= 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），第四个数乘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得第五个数（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= 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.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即根据加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，乘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，乘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……的规律，可以确定括号内应填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= 14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= 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这两个数</a:t>
            </a:r>
            <a:r>
              <a:rPr lang="zh-CN" altLang="zh-CN" kern="100" dirty="0">
                <a:latin typeface="Times New Roman"/>
              </a:rPr>
              <a:t>。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593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按规律填数。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4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5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283968" y="-3545"/>
            <a:ext cx="432048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11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22</a:t>
            </a:r>
            <a:r>
              <a:rPr lang="zh-CN" altLang="zh-CN" kern="100" dirty="0">
                <a:latin typeface="Times New Roman"/>
              </a:rPr>
              <a:t>（加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；加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……）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17</a:t>
            </a:r>
            <a:r>
              <a:rPr lang="zh-CN" altLang="zh-CN" kern="100" dirty="0">
                <a:latin typeface="Times New Roman"/>
              </a:rPr>
              <a:t>（乘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减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减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……）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48</a:t>
            </a:r>
            <a:r>
              <a:rPr lang="zh-CN" altLang="zh-CN" kern="100" dirty="0">
                <a:latin typeface="Times New Roman"/>
              </a:rPr>
              <a:t>（前一个数乘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4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（除以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减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，除以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减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……）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5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endParaRPr lang="zh-CN" altLang="zh-CN" sz="1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669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85000" lnSpcReduction="1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在空格中填上合适的数</a:t>
            </a:r>
            <a:r>
              <a:rPr lang="zh-CN" altLang="zh-CN" kern="100" dirty="0" smtClean="0">
                <a:latin typeface="Times New Roman"/>
              </a:rPr>
              <a:t>。</a:t>
            </a:r>
            <a:endParaRPr lang="en-US" altLang="zh-CN" kern="100" dirty="0" smtClean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表格中的数分上下两排，每排的数各有自己的规律，上排的数是从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开始依次加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得到，这样最后一个数就是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 = 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。下排的数是从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开始依次加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得到，这样下排最后一个数就是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 = 33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，所以空格中应填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88840"/>
            <a:ext cx="4104456" cy="1072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5301208"/>
            <a:ext cx="576064" cy="742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51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90268"/>
            <a:ext cx="7632848" cy="587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093" y="692696"/>
            <a:ext cx="6119813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678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60648"/>
            <a:ext cx="8229600" cy="5577483"/>
          </a:xfrm>
        </p:spPr>
        <p:txBody>
          <a:bodyPr>
            <a:normAutofit fontScale="62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在空格中填入合适的数</a:t>
            </a:r>
            <a:r>
              <a:rPr lang="zh-CN" altLang="zh-CN" kern="100" dirty="0" smtClean="0">
                <a:latin typeface="Times New Roman"/>
              </a:rPr>
              <a:t>。</a:t>
            </a:r>
            <a:endParaRPr lang="en-US" altLang="zh-CN" kern="100" dirty="0" smtClean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每组有三个数，第一组中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 = 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，即第一个数和第三个数的和是中间一个数的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倍，同样第三组中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 = 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，所以中间一组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 = 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 = 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，所以空格中应填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也可以横着看，第一排中有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 = 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 = 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，即后面的数比前面的数大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，第三排中有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 = 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 = 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，后面的数比前面的数大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，再看第二排应是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 = 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 = 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，所以空格中应填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40768"/>
            <a:ext cx="3096344" cy="1440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573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0688"/>
            <a:ext cx="8068258" cy="5224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4624"/>
            <a:ext cx="6119813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47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704"/>
            <a:ext cx="8435280" cy="5616624"/>
          </a:xfrm>
        </p:spPr>
        <p:txBody>
          <a:bodyPr>
            <a:normAutofit fontScale="5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找规律填数。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</a:t>
            </a:r>
            <a:r>
              <a:rPr lang="en-US" altLang="zh-CN" kern="100" dirty="0">
                <a:latin typeface="Times New Roman"/>
              </a:rPr>
              <a:t>36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</a:t>
            </a:r>
            <a:r>
              <a:rPr lang="en-US" altLang="zh-CN" kern="100" dirty="0">
                <a:latin typeface="Times New Roman"/>
              </a:rPr>
              <a:t>32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64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</a:t>
            </a:r>
            <a:r>
              <a:rPr lang="en-US" altLang="zh-CN" kern="100" dirty="0">
                <a:latin typeface="Times New Roman"/>
              </a:rPr>
              <a:t>31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）在这些数中，仔细观察可以发现，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 = 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= 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 = 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 = 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 = 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，根据这一规律，中间正好少了，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 = 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 = 25.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所以括号里填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）在这些数中，通过观察，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= 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= 64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，试一试用前一个数乘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= 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= 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= 32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，正好都能满足前一个数乘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得最后一个数。因此括号里填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）在这一列数中，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 = 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 = 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，后一个数是否等于前一个数乘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，再试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= 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= 31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，因此这道题的规律是后一个数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=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前一个数×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，括号里应填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751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找规律填数：</a:t>
            </a:r>
            <a:r>
              <a:rPr lang="en-US" altLang="zh-CN" kern="100" dirty="0">
                <a:latin typeface="Times New Roman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</a:t>
            </a:r>
            <a:r>
              <a:rPr lang="en-US" altLang="zh-CN" kern="100" dirty="0">
                <a:latin typeface="Times New Roman"/>
              </a:rPr>
              <a:t>49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81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</a:t>
            </a:r>
            <a:r>
              <a:rPr lang="en-US" altLang="zh-CN" kern="100" dirty="0">
                <a:latin typeface="Times New Roman"/>
              </a:rPr>
              <a:t>49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36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111760" indent="1308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），（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91880" y="77583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36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64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25</a:t>
            </a:r>
            <a:endParaRPr lang="zh-CN" altLang="zh-CN" sz="1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32</a:t>
            </a:r>
            <a:endParaRPr lang="zh-CN" altLang="zh-CN" sz="1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447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94945" indent="-194945"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4400" b="1" dirty="0">
                <a:solidFill>
                  <a:srgbClr val="000000"/>
                </a:solidFill>
                <a:latin typeface="Times New Roman"/>
              </a:rPr>
              <a:t>第</a:t>
            </a:r>
            <a:r>
              <a:rPr lang="en-US" altLang="zh-CN" sz="4400" b="1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sz="4400" b="1" dirty="0">
                <a:solidFill>
                  <a:srgbClr val="000000"/>
                </a:solidFill>
                <a:latin typeface="Times New Roman"/>
              </a:rPr>
              <a:t>讲 趣味数学（一）</a:t>
            </a:r>
            <a:r>
              <a:rPr lang="en-US" altLang="zh-CN" sz="4000" dirty="0">
                <a:solidFill>
                  <a:srgbClr val="000000"/>
                </a:solidFill>
                <a:latin typeface="宋体"/>
              </a:rPr>
              <a:t> 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</a:t>
            </a:r>
            <a:r>
              <a:rPr lang="zh-CN" altLang="zh-CN" b="1" dirty="0">
                <a:solidFill>
                  <a:srgbClr val="000000"/>
                </a:solidFill>
                <a:latin typeface="Times New Roman"/>
              </a:rPr>
              <a:t>专题简析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小朋友，下面有一些有趣的题目，不要列复杂算式计算，但一不小心在回答时就可能落入“圈套”。要想正确解答这些题目，一定要充分发挥自己的智力，有时还要打破“常规”去想。</a:t>
            </a: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解答这些带有迷惑性的题目，要靠认真读题，领会题目的意思，再经过充分的分析和思考，运用自己的聪明才智巧妙地解决。</a:t>
            </a: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82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】盒子里有红球和黄球各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8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个，最多摸出几个球，才能保证有两种颜色不同的球？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在摸球时，如果不凑巧，连续摸出的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个都是同一种颜色的球，那么再摸一个，也就是第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个，一定是另一种颜色的球。</a:t>
            </a: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答：最多摸出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个球，才能保证有两种颜色不相同的球。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273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9540" lvl="0" indent="-129540">
              <a:lnSpc>
                <a:spcPct val="150000"/>
              </a:lnSpc>
              <a:spcBef>
                <a:spcPct val="20000"/>
              </a:spcBef>
            </a:pPr>
            <a:r>
              <a:rPr lang="en-US" altLang="zh-CN" sz="1300" dirty="0">
                <a:solidFill>
                  <a:srgbClr val="000000"/>
                </a:solidFill>
                <a:latin typeface="宋体"/>
                <a:cs typeface="+mn-cs"/>
              </a:rPr>
              <a:t>1</a:t>
            </a:r>
            <a:r>
              <a:rPr lang="zh-CN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．</a:t>
            </a:r>
            <a:r>
              <a:rPr lang="en-US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5</a:t>
            </a:r>
            <a:r>
              <a:rPr lang="zh-CN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粒</a:t>
            </a:r>
            <a:r>
              <a:rPr lang="en-US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    2</a:t>
            </a:r>
            <a:r>
              <a:rPr lang="zh-CN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．</a:t>
            </a:r>
            <a:r>
              <a:rPr lang="en-US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7</a:t>
            </a:r>
            <a:r>
              <a:rPr lang="zh-CN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块</a:t>
            </a:r>
            <a:r>
              <a:rPr lang="en-US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     3</a:t>
            </a:r>
            <a:r>
              <a:rPr lang="zh-CN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．</a:t>
            </a:r>
            <a:r>
              <a:rPr lang="en-US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2</a:t>
            </a:r>
            <a:r>
              <a:rPr lang="zh-CN" altLang="zh-CN" sz="1300" dirty="0">
                <a:solidFill>
                  <a:srgbClr val="000000"/>
                </a:solidFill>
                <a:latin typeface="Times New Roman"/>
                <a:cs typeface="+mn-cs"/>
              </a:rPr>
              <a:t>个</a:t>
            </a:r>
            <a:endParaRPr lang="zh-CN" altLang="zh-CN" sz="1300" b="1" dirty="0">
              <a:solidFill>
                <a:srgbClr val="000000"/>
              </a:solidFill>
              <a:latin typeface="Times New Roman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．小口袋里混合放着红、黄两种玻璃球各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粒。它们的形状大小完全一样，如果不用眼睛看，要保证一次拿出两粒颜色不同的玻璃球，至少必须摸出几粒？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．布袋里有红、绿两种小木块各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块，形状大小都一样，如果要保证一次能从布袋里取出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块颜色不同的木块，至少必须取出几块小木块？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3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．在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367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个七岁小朋友中，至少有几个小朋友是同月同日生的？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30175" indent="-13017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896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】一只小兔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分钟吃一棵菜，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只小兔同时吃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棵同样大的菜需要几分钟？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【思路导航】根据题意，一只小兔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分钟吃一棵菜，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只小兔同时吃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棵菜所需的时间，也就等于一只小兔吃一棵菜所用的时间。</a:t>
            </a:r>
          </a:p>
          <a:p>
            <a:pPr marL="12827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一只小兔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分钟吃一棵菜，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只小兔同时吃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棵同样大的菜需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分钟。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393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．一个小朋友吃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个西红柿，要用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分钟。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个小朋友同时吃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个同样大小的西红柿，要用几分钟才能吃完？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个小朋友同时削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枝铅笔需要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分钟，照这样的速度，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7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个小朋友同时削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7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枝铅笔需要几分钟？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宋体"/>
                <a:cs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cs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cs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cs typeface="Times New Roman"/>
              </a:rPr>
              <a:t>只猫</a:t>
            </a:r>
            <a:r>
              <a:rPr lang="en-US" altLang="zh-CN" dirty="0">
                <a:solidFill>
                  <a:srgbClr val="000000"/>
                </a:solidFill>
                <a:cs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cs typeface="Times New Roman"/>
              </a:rPr>
              <a:t>天能捉</a:t>
            </a:r>
            <a:r>
              <a:rPr lang="en-US" altLang="zh-CN" dirty="0">
                <a:solidFill>
                  <a:srgbClr val="000000"/>
                </a:solidFill>
                <a:cs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cs typeface="Times New Roman"/>
              </a:rPr>
              <a:t>只老鼠，照这样计算，要在</a:t>
            </a:r>
            <a:r>
              <a:rPr lang="en-US" altLang="zh-CN" dirty="0">
                <a:solidFill>
                  <a:srgbClr val="000000"/>
                </a:solidFill>
                <a:cs typeface="Times New Roman"/>
              </a:rPr>
              <a:t>100</a:t>
            </a:r>
            <a:r>
              <a:rPr lang="zh-CN" altLang="zh-CN" dirty="0">
                <a:solidFill>
                  <a:srgbClr val="000000"/>
                </a:solidFill>
                <a:cs typeface="Times New Roman"/>
              </a:rPr>
              <a:t>天里捉</a:t>
            </a:r>
            <a:r>
              <a:rPr lang="en-US" altLang="zh-CN" dirty="0">
                <a:solidFill>
                  <a:srgbClr val="000000"/>
                </a:solidFill>
                <a:cs typeface="Times New Roman"/>
              </a:rPr>
              <a:t>100</a:t>
            </a:r>
            <a:r>
              <a:rPr lang="zh-CN" altLang="zh-CN" dirty="0">
                <a:solidFill>
                  <a:srgbClr val="000000"/>
                </a:solidFill>
                <a:cs typeface="Times New Roman"/>
              </a:rPr>
              <a:t>只老鼠需要多少只猫？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195736" y="546147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    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   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只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666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点放学，雨还在不停地下，大家都盼着晴天，小林对小季说：“已经连续两天下雨了，你说再过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小时太阳会出来吗？”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晚上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点，再过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小时，是第二天晚上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点（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 = 23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），而不管阴天、雨天、晴天，夜里太阳都不会出来，因此再过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小时太阳不会出来。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953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点放学，雨还在下，大家都盼着晴天，张三问李四：“再过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小时太阳会出来吗？”请你帮李四判断一下。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．中午小红问小明：“后天有雨吗？”小明说：“今天晴，再过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小时要连续下雨两天两夜。”请你帮小红推导一下后天是否有雨？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．今天是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号，早上雨还在不停地下，妈妈对小兰说；“兰兰，我考考你，今天下雨，再过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72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小时天会晴，那么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17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号是晴还是雨？”请你帮兰兰回答。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88640"/>
            <a:ext cx="5508972" cy="160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839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】甜甜小朋友将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颗珠子排成数量不等的五堆，每堆的颗数恰好是双数，你知道每堆各有多少颗吗？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由于“珠子排成数量不等的五堆，每堆的颗数恰好又是双数”，于是我们可以从最小的双数想起，最小的一堆是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颗，则每堆分别为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颗，因为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10 = 30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（颗）。</a:t>
            </a:r>
          </a:p>
          <a:p>
            <a:pPr marL="128270" indent="13081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五堆分别为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颗。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180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4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．雯雯小朋友将</a:t>
            </a:r>
            <a:r>
              <a:rPr lang="en-US" altLang="zh-CN" dirty="0"/>
              <a:t>25</a:t>
            </a:r>
            <a:r>
              <a:rPr lang="zh-CN" altLang="en-US" dirty="0"/>
              <a:t>颗珠子排成数量不等的五堆，每堆颗数恰好都是单数，你知道每堆各有多少颗？ 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．有</a:t>
            </a:r>
            <a:r>
              <a:rPr lang="en-US" altLang="zh-CN" dirty="0"/>
              <a:t>48</a:t>
            </a:r>
            <a:r>
              <a:rPr lang="zh-CN" altLang="en-US" dirty="0"/>
              <a:t>个同学参加三项体育活动，只知道参加每项活动的人数不一样，而人数都有一个数字“</a:t>
            </a:r>
            <a:r>
              <a:rPr lang="en-US" altLang="zh-CN" dirty="0"/>
              <a:t>6”</a:t>
            </a:r>
            <a:r>
              <a:rPr lang="zh-CN" altLang="en-US" dirty="0"/>
              <a:t>，参加三项体育活动的各有多少人？ 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．</a:t>
            </a:r>
            <a:r>
              <a:rPr lang="en-US" altLang="zh-CN" dirty="0"/>
              <a:t>10</a:t>
            </a:r>
            <a:r>
              <a:rPr lang="zh-CN" altLang="en-US" dirty="0"/>
              <a:t>块糖分成数量不同的</a:t>
            </a:r>
            <a:r>
              <a:rPr lang="en-US" altLang="zh-CN" dirty="0"/>
              <a:t>4</a:t>
            </a:r>
            <a:r>
              <a:rPr lang="zh-CN" altLang="en-US" dirty="0"/>
              <a:t>堆，数量最多的一堆有几块？ </a:t>
            </a:r>
          </a:p>
          <a:p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02609"/>
            <a:ext cx="5759773" cy="1119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67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】兔妈妈把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根萝卜分成数量各不相等的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堆，问最多的一堆中有几根萝卜？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兔妈妈要把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根萝卜分成根数各不相等的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堆，要让最多的一堆中萝卜的根数尽量多，那么余下三堆的根数就要尽量少，所以，兔妈妈可以在第一堆中放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根萝卜，在第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堆中放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根萝卜，在第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堆中放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根萝卜，这样第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堆可放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 = 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（根）萝卜。列式如下：</a:t>
            </a:r>
          </a:p>
          <a:p>
            <a:pPr marL="128270" indent="3949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FFC000"/>
                </a:solidFill>
                <a:latin typeface="宋体"/>
              </a:rPr>
              <a:t>12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 = 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（根）</a:t>
            </a:r>
          </a:p>
          <a:p>
            <a:pPr marL="128270" indent="12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答：最多的一堆中有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根萝卜。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382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5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1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．小猫要把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8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条鱼分成数量不等的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堆，问最多的一堆中可放几条鱼？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  <a:tabLst>
                <a:tab pos="129540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		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2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．小红把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13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根小棒分成数量不等的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堆，问最多的一堆中有几根小棒？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/>
              </a:rPr>
              <a:t>3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．如果要把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18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枚棋子分成数量不等的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</a:rPr>
              <a:t>堆，最多的一堆中有几枚棋子？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</a:t>
            </a:r>
            <a:endParaRPr lang="zh-CN" altLang="zh-CN" b="1" dirty="0" smtClean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32656"/>
            <a:ext cx="6119813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25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000" b="1" dirty="0">
                <a:solidFill>
                  <a:srgbClr val="000000"/>
                </a:solidFill>
                <a:latin typeface="Times New Roman"/>
              </a:rPr>
              <a:t>第</a:t>
            </a:r>
            <a:r>
              <a:rPr lang="en-US" altLang="zh-CN" sz="4000" b="1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sz="4000" b="1" dirty="0">
                <a:solidFill>
                  <a:srgbClr val="000000"/>
                </a:solidFill>
                <a:latin typeface="Times New Roman"/>
              </a:rPr>
              <a:t>讲 锯木头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专题简析：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36195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爬楼梯遇到层数问题，主要是要明白几楼与几层楼梯是不同的，楼数比楼梯层多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。锯木头的段数问题，主要是要明白锯成木头的段数比锯木头的次数多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。同样敲钟遇到的时间问题，应先考虑敲的次数比敲的间隔数多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。解答这类问题，先考虑这些问题的差别所在，再选择恰当的解题方法。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10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【典型例题】</a:t>
            </a:r>
            <a:endParaRPr lang="zh-CN" altLang="zh-CN" sz="40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zh-CN" altLang="zh-CN" sz="4000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</a:rPr>
              <a:t>】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爸爸把一根木头锯成了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9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段，每锯一次要用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7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分钟，爸爸锯完这根木头要用多少分钟？</a:t>
            </a:r>
            <a:endParaRPr lang="zh-CN" altLang="zh-CN" sz="4000" b="1" dirty="0">
              <a:solidFill>
                <a:srgbClr val="000000"/>
              </a:solidFill>
              <a:latin typeface="Times New Roman"/>
            </a:endParaRPr>
          </a:p>
          <a:p>
            <a:pPr indent="133350"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思路导航：要计算爸爸锯这根木头用了多少分钟，必须要知道锯的次数和每锯一次所用的时间，已知条件中不知道锯了多少次，但通过分析我们知道锯一次可以把一根木头锯成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段，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,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锯两次可以把一根木头锯成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3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段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.......,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总结得出锯的次数总比段数少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，所以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9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段就应该锯了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8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次。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              9-1=8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（次）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     8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×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7=56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（分）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             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答：爸爸锯完这根木头要用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56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分钟。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00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1.</a:t>
            </a:r>
            <a:r>
              <a:rPr lang="zh-CN" altLang="zh-CN" kern="100" dirty="0">
                <a:latin typeface="Times New Roman"/>
              </a:rPr>
              <a:t>把一根粗细均匀的木头锯成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段，每锯一次需要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分钟，一共要多少分钟？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沸羊羊把一根木头锯成两段用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分钟，锯成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段，要多少分钟？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灰太狼要把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米长的钢管锯成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米长的小段，每锯一次用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分钟，一共需要几分钟？</a:t>
            </a:r>
            <a:endParaRPr lang="zh-CN" altLang="zh-CN" sz="24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31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】把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根粗细均匀的木头锯成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7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段，共用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分钟，每锯一次要几分钟？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把一根木头锯成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段，根据段数比次数多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，可知锯了（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7-1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=6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次，锯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次用了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分钟，每次要用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30 6=5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（分钟）</a:t>
            </a: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7-1=6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（次）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   30 6=5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（分钟）</a:t>
            </a: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答：每锯一次要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分钟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592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王师傅把一根钢筋锯成了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段，一共用了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27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分钟，他锯一次要用几分钟？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2.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有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根木料，每根锯成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段，一共用了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18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分钟，每锯一次要用几分钟？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3.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李师傅把一根铝合金材料锯成三段时用了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分钟，他用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18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分钟，把这根铝合金锯成适用的短料，这根铝合金被锯成了多少小段？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066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】时钟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点敲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下，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秒钟敲完，敲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下需要几秒？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用敲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下，可以知道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下中有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个间隔，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个间隔用了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秒钟敲完，由此可见每个间隔为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÷（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—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=2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（秒）；敲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下，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下之间有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个间隔，每个间隔用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秒，所以一共用了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×（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12-1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=22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（秒）。列式如下：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FFC000"/>
                </a:solidFill>
                <a:latin typeface="宋体"/>
              </a:rPr>
              <a:t>10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÷（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—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=2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（秒）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FFC000"/>
                </a:solidFill>
                <a:latin typeface="宋体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×（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12-1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=22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（秒）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答：敲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下需要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秒。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617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：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1.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时钟敲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下用了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秒，敲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下用几秒？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2.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时钟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12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秒敲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7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下，敲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下需要几秒？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、时钟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点敲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下用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8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秒钟，那么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点敲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下用几秒？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815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</a:rPr>
              <a:t>】小明家住九楼，他从底楼走到二楼用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</a:rPr>
              <a:t>分钟，那么他从底楼走到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</a:rPr>
              <a:t>9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</a:rPr>
              <a:t>楼需要几分钟？</a:t>
            </a:r>
            <a:endParaRPr lang="zh-CN" altLang="zh-CN" sz="4000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楼数比楼梯层多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，小明从底楼走到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楼就走了（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—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）层楼。他从底楼走到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楼用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分钟，就是他每走一层楼要用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分钟。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</a:rPr>
              <a:t>1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</a:rPr>
              <a:t>×（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</a:rPr>
              <a:t>—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</a:rPr>
              <a:t>=8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</a:rPr>
              <a:t>（分）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dirty="0">
                <a:solidFill>
                  <a:srgbClr val="FFC000"/>
                </a:solidFill>
                <a:latin typeface="Times New Roman"/>
              </a:rPr>
              <a:t>答：他从底楼走到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</a:rPr>
              <a:t>楼需要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</a:rPr>
              <a:t>分钟。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099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1.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小红家住四楼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她从底楼到二楼需要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那么他从底楼到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楼需要几分钟？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2.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小红家住八楼，她从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7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楼走到八楼要用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分钟，那么她从底楼走到八楼要用几分钟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?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</a:rPr>
              <a:t>3.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王师傅家住在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楼，他从底楼走到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楼要用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分钟。那么他从底楼到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楼要几分钟？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50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】荣荣住的这栋楼共七层，每层楼有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级台阶，她家住在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楼，荣荣从底楼开始，往上走多少级台阶才能到自己住的那一层？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  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sz="2400" b="1" dirty="0">
                <a:solidFill>
                  <a:srgbClr val="FFC000"/>
                </a:solidFill>
                <a:latin typeface="宋体"/>
              </a:rPr>
              <a:t>: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荣荣住在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楼，从底楼走到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楼，其实是走了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5-1=4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（层）楼梯，由于每层楼梯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级，因此住在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楼，其实是求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是多少，即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（级）台阶。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5-1=4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（层）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   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（级）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答：往上走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</a:rPr>
              <a:t>80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级台阶才能到自己住的那一层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30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开心果一边上楼一边数台阶，他走到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楼时，有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20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级台阶，他家住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楼，一共有多少级台阶？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小东住在大厦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11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楼，他数了数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楼到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楼有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42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级台阶，那么他要走多少级台阶才能从底楼走到自己住的那一层？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3.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小明和小红同住一栋楼，小红家住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楼，小明家住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楼，小明说：“我走的台阶数是小红的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</a:rPr>
              <a:t>倍。”他说得对吗？为什么？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3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30175" indent="-130175" algn="ctr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第</a:t>
            </a:r>
            <a:r>
              <a:rPr lang="en-US" altLang="zh-CN" b="1" kern="100" dirty="0">
                <a:latin typeface="Times New Roman"/>
              </a:rPr>
              <a:t>6</a:t>
            </a:r>
            <a:r>
              <a:rPr lang="zh-CN" altLang="zh-CN" b="1" kern="100" dirty="0">
                <a:latin typeface="Times New Roman"/>
              </a:rPr>
              <a:t>讲 间隔趣谈</a:t>
            </a:r>
            <a:r>
              <a:rPr lang="en-US" altLang="zh-CN" b="1" kern="100" dirty="0">
                <a:latin typeface="宋体"/>
              </a:rPr>
              <a:t>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1176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两根绳子结起来只要打一个结，两根绳子结成一个圆需要打两个结，一根绳子剪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次被剪成了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等等，这是日常生活中的比较特殊的问题。想要做好这类题，需要我们多动脑筋，多动笔画画，才能找到正确的答案。这一讲是有关绳子打结和剪绳子的问题。给绳子打结如果不练成一个圆，打结的次数比绳子的根数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；如果结成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个圆，打结的次数与绳子的根数同样多。同样，如果是剪绳子，那么剪成的段数比剪得次数多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4868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130175" indent="-13017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</a:t>
            </a:r>
            <a:r>
              <a:rPr lang="zh-CN" altLang="zh-CN" kern="100" dirty="0">
                <a:latin typeface="Times New Roman"/>
              </a:rPr>
              <a:t>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b="1" kern="100" dirty="0">
                <a:latin typeface="Times New Roman"/>
              </a:rPr>
              <a:t>】小刚把</a:t>
            </a:r>
            <a:r>
              <a:rPr lang="en-US" altLang="zh-CN" b="1" kern="100" dirty="0">
                <a:latin typeface="Times New Roman"/>
              </a:rPr>
              <a:t>4</a:t>
            </a:r>
            <a:r>
              <a:rPr lang="zh-CN" altLang="zh-CN" b="1" kern="100" dirty="0">
                <a:latin typeface="Times New Roman"/>
              </a:rPr>
              <a:t>根绳子连起来成一条绳子，一共需要打几个结？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思路导航</a:t>
            </a:r>
            <a:r>
              <a:rPr lang="en-US" altLang="zh-CN" kern="100" dirty="0">
                <a:latin typeface="Times New Roman"/>
              </a:rPr>
              <a:t>:</a:t>
            </a:r>
            <a:r>
              <a:rPr lang="zh-CN" altLang="zh-CN" kern="100" dirty="0">
                <a:latin typeface="Times New Roman"/>
              </a:rPr>
              <a:t>解这种题，可以画图解答。如图</a:t>
            </a:r>
            <a:r>
              <a:rPr lang="zh-CN" altLang="zh-CN" kern="100" dirty="0" smtClean="0">
                <a:latin typeface="Times New Roman"/>
              </a:rPr>
              <a:t>：</a:t>
            </a: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从上图中可以看出，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根绳子要结起来成一根绳子，只要打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次结就可以了，可见，打结的次数比绳子的根数少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1752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4-1=3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3810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答：小刚把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根绳子连起来成一条绳子，一共需要打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个结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4" y="1700807"/>
            <a:ext cx="4475981" cy="86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783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．小明把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根绳子连起来成一根长绳，一共需要打几个结？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根绳子连接起来成一根绳子，一共需要打几个结？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练习题答案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1.4</a:t>
            </a:r>
            <a:r>
              <a:rPr lang="zh-CN" altLang="zh-CN" kern="100" dirty="0">
                <a:latin typeface="Times New Roman"/>
              </a:rPr>
              <a:t>个</a:t>
            </a:r>
            <a:r>
              <a:rPr lang="en-US" altLang="zh-CN" kern="100" dirty="0">
                <a:latin typeface="Times New Roman"/>
              </a:rPr>
              <a:t>  2.7</a:t>
            </a:r>
            <a:r>
              <a:rPr lang="zh-CN" altLang="zh-CN" kern="100" dirty="0">
                <a:latin typeface="Times New Roman"/>
              </a:rPr>
              <a:t>个</a:t>
            </a:r>
            <a:r>
              <a:rPr lang="en-US" altLang="zh-CN" kern="100" dirty="0">
                <a:latin typeface="Times New Roman"/>
              </a:rPr>
              <a:t>  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835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548680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】把几根绳子打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个结就能成一个圆</a:t>
            </a:r>
            <a:r>
              <a:rPr lang="zh-CN" altLang="zh-CN" kern="100" dirty="0" smtClean="0">
                <a:latin typeface="Times New Roman"/>
              </a:rPr>
              <a:t>？</a:t>
            </a:r>
            <a:endParaRPr lang="en-US" altLang="zh-CN" kern="100" dirty="0" smtClean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根据题意，如图所示：打了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个结，就把一些绳子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结成了一个圆，这些绳子应该有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根。因此，如果把绳子结成圆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时，绳子的根数与打结的次数相等。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根绳子打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个结就能成一个圆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124743"/>
            <a:ext cx="2304256" cy="1553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462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．丽丽打了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个结就把一些绳子结成一个圆，你知道丽丽拿了几根绳子吗？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．小红拿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根绳子结成一个圆，她打了几个结？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．把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根绳子连接起来成一根绳子，一共需要打几个结？如果要结成一个圆，需要结几次？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756" y="1196752"/>
            <a:ext cx="6119813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617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】一根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米长的绳子剪了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次，平均每段长多少米？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米长的绳子剪了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次，应该剪成了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段。求平均每段长多少米，也就是要把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平均分成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份，求每份是多少。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（米），因此平均每段长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4+1=5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（段）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（米）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答：平均每段长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238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．一根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米长的绳子，剪了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次，平均每段长多少米？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．一根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分米长的绳子，剪了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次，平均每段长多少分米？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．一根绳子剪了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次后，平均每段长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米，这根绳子原来长多少米？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589240"/>
            <a:ext cx="6119813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938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60648"/>
            <a:ext cx="8229600" cy="6408712"/>
          </a:xfrm>
        </p:spPr>
        <p:txBody>
          <a:bodyPr>
            <a:normAutofit fontScale="62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】一根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米长的绳子，把它剪成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米长的一段，可以剪多少段？要剪几次？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米长的绳子，剪成每段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米长，要求可剪多少段，这里求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里面有几个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（段），可以剪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）要求剪几次，可以用线段图分析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从图中可以看出每一段剪一次，剪最后一次还可以有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段，因此剪的次数比剪得段数少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即剪得次数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-1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（段）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5-1=4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（次）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答：可以剪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段，要剪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次。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818523"/>
            <a:ext cx="3456384" cy="114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764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一根木材长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米，把它锯成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米长的小段，可以锯成多少段？要锯几次？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一根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米长的铁丝，把它剪成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米长的小段，可以剪成多少段？要剪多少次？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一根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米长的电线，剪了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次，可以剪成多少段？平均每段长多少米？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548680"/>
            <a:ext cx="6119813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601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5904656"/>
          </a:xfrm>
        </p:spPr>
        <p:txBody>
          <a:bodyPr>
            <a:normAutofit fontScale="92500" lnSpcReduction="1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】小兰在桌上摆小棒，先摆了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根，然后每隔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厘米放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根，在距离第一根</a:t>
            </a:r>
            <a:r>
              <a:rPr lang="en-US" altLang="zh-CN" kern="100" dirty="0">
                <a:latin typeface="Times New Roman"/>
              </a:rPr>
              <a:t>42</a:t>
            </a:r>
            <a:r>
              <a:rPr lang="zh-CN" altLang="zh-CN" kern="100" dirty="0">
                <a:latin typeface="Times New Roman"/>
              </a:rPr>
              <a:t>厘米处，共放了几根？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每隔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厘米放一根，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里有几个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就有几段，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（段），小棒的根数比段数多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228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6+1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（根）。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1176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:42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7+1=7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（根）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18745" indent="-520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答：共放了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296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．小灰灰把贝壳放在桌上，先放一个，然后每隔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厘米放一个，从第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个到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厘米处，一共可以放多少个？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小红把几枝铅笔放在桌上，每两枝之间相隔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厘米，从第一根到最后一根之间相隔</a:t>
            </a:r>
            <a:r>
              <a:rPr lang="en-US" altLang="zh-CN" kern="100" dirty="0">
                <a:latin typeface="Times New Roman"/>
              </a:rPr>
              <a:t>64</a:t>
            </a:r>
            <a:r>
              <a:rPr lang="zh-CN" altLang="zh-CN" kern="100" dirty="0">
                <a:latin typeface="Times New Roman"/>
              </a:rPr>
              <a:t>厘米，你知道放了几枝铅笔吗？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小美在桌上摆了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颗珠子，然后每隔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厘米放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颗，在距第一颗</a:t>
            </a:r>
            <a:r>
              <a:rPr lang="en-US" altLang="zh-CN" kern="100" dirty="0">
                <a:latin typeface="Times New Roman"/>
              </a:rPr>
              <a:t>35</a:t>
            </a:r>
            <a:r>
              <a:rPr lang="zh-CN" altLang="zh-CN" kern="100" dirty="0">
                <a:latin typeface="Times New Roman"/>
              </a:rPr>
              <a:t>厘米处放的是第几颗？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691680" y="18864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1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1.20</a:t>
            </a:r>
            <a:r>
              <a:rPr lang="zh-CN" altLang="zh-CN" kern="100" dirty="0">
                <a:latin typeface="Times New Roman"/>
              </a:rPr>
              <a:t>÷</a:t>
            </a:r>
            <a:r>
              <a:rPr lang="en-US" altLang="zh-CN" kern="100" dirty="0">
                <a:latin typeface="Times New Roman"/>
              </a:rPr>
              <a:t>4+1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（个）</a:t>
            </a:r>
            <a:endParaRPr lang="zh-CN" altLang="zh-CN" sz="1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2.64</a:t>
            </a:r>
            <a:r>
              <a:rPr lang="zh-CN" altLang="zh-CN" kern="100" dirty="0">
                <a:latin typeface="Times New Roman"/>
              </a:rPr>
              <a:t>÷</a:t>
            </a:r>
            <a:r>
              <a:rPr lang="en-US" altLang="zh-CN" kern="100" dirty="0">
                <a:latin typeface="Times New Roman"/>
              </a:rPr>
              <a:t>8+1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（枝）</a:t>
            </a:r>
            <a:endParaRPr lang="zh-CN" altLang="zh-CN" sz="1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3.35</a:t>
            </a:r>
            <a:r>
              <a:rPr lang="zh-CN" altLang="zh-CN" kern="100" dirty="0">
                <a:latin typeface="Times New Roman"/>
              </a:rPr>
              <a:t>÷</a:t>
            </a:r>
            <a:r>
              <a:rPr lang="en-US" altLang="zh-CN" kern="100" dirty="0">
                <a:latin typeface="Times New Roman"/>
              </a:rPr>
              <a:t>5+1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（颗）</a:t>
            </a:r>
            <a:endParaRPr lang="zh-CN" altLang="zh-CN" sz="1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15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30175" indent="-130175" algn="ctr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第</a:t>
            </a:r>
            <a:r>
              <a:rPr lang="en-US" altLang="zh-CN" b="1" kern="100" dirty="0">
                <a:latin typeface="Times New Roman"/>
              </a:rPr>
              <a:t>7</a:t>
            </a:r>
            <a:r>
              <a:rPr lang="zh-CN" altLang="zh-CN" b="1" kern="100" dirty="0">
                <a:latin typeface="Times New Roman"/>
              </a:rPr>
              <a:t>讲 火柴棒游戏</a:t>
            </a:r>
            <a:r>
              <a:rPr lang="en-US" altLang="zh-CN" b="1" kern="100" dirty="0">
                <a:latin typeface="宋体"/>
              </a:rPr>
              <a:t>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用火柴棒做游戏，小朋友们感兴趣吗？火柴棒游戏中有很多窍门，让我们共同了解火柴棒中的数学，了解数学的其妙，使小朋友们在有趣的数学游戏中变得更加聪明。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1176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用火柴棒摆成的算式，可以根据算式中给的数的特点，移动火柴棒使它变成另一个数，或改变一个运算符号，使等式成立，如果是图形，可以直接拿掉或移动多余的几根火柴棒，还要考虑让火柴棒重复使用，这样可增加图形的个数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710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 fontScale="5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】下面是用火柴棒摆成的两道算式，但都不能成立，请你只移动一根火柴棒，使算式成立。</a:t>
            </a:r>
            <a:endParaRPr lang="zh-CN" altLang="zh-CN" sz="2400" kern="100" dirty="0"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移动火柴棒时，要保证火柴棒的根数没有变化。如“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与“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“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与“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与“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之间都可以相互转化。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第（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）题中，等号左边的计算结果是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，而右边只是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，所以应通过移动火柴棒，使左边减小右边增大。把左边的“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”变成“－”，左边移动一根火柴棒到右边，使“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”变成“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”，等式成立。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第（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）题中，观察算式两边。等号左边的计算结果是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641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，右边的计算结果是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，所以应从等号左边移一根火柴棒到右边，把等号左边的减数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变成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，则左边的计算结果是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741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。等号右边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中，添上移过来的一根火柴棒，恰好变成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741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，于是等式成立。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4+7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741+21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741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141+121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141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17892"/>
            <a:ext cx="160972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67193"/>
            <a:ext cx="309562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2005343"/>
            <a:ext cx="2571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2005343"/>
            <a:ext cx="3333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52" y="2348305"/>
            <a:ext cx="37147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64" y="2348305"/>
            <a:ext cx="29527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365" y="2265162"/>
            <a:ext cx="320799" cy="452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349" y="2286014"/>
            <a:ext cx="333375" cy="44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846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47567"/>
            <a:ext cx="8892480" cy="475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948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8229600" cy="626469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</a:t>
            </a:r>
            <a:r>
              <a:rPr lang="zh-CN" altLang="zh-CN" kern="100" dirty="0">
                <a:latin typeface="Times New Roman"/>
              </a:rPr>
              <a:t>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b="1" kern="100" dirty="0">
                <a:latin typeface="Times New Roman"/>
              </a:rPr>
              <a:t>】</a:t>
            </a:r>
            <a:r>
              <a:rPr lang="zh-CN" altLang="zh-CN" kern="100" dirty="0">
                <a:latin typeface="Times New Roman"/>
              </a:rPr>
              <a:t>有一把椅子如图（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）所示，椅子翻倒还掉了一条腿。请移动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根火柴，使椅子翻过来，且看上去也不缺少腿。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        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要把椅子翻过来，就要使下面有四条腿，上面有靠背。移动后的结果如图（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）所示，虚线表示移走的火柴。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1492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解：见图（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92896"/>
            <a:ext cx="81915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764" y="2283346"/>
            <a:ext cx="136207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783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87346"/>
            <a:ext cx="8208912" cy="583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954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5544616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</a:t>
            </a:r>
            <a:r>
              <a:rPr lang="zh-CN" altLang="zh-CN" kern="100" dirty="0">
                <a:latin typeface="Times New Roman"/>
              </a:rPr>
              <a:t>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b="1" kern="100" dirty="0">
                <a:latin typeface="Times New Roman"/>
              </a:rPr>
              <a:t>】</a:t>
            </a:r>
            <a:r>
              <a:rPr lang="zh-CN" altLang="zh-CN" kern="100" dirty="0">
                <a:latin typeface="Times New Roman"/>
              </a:rPr>
              <a:t>你能用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根火柴棒摆成三个相同的三角形吗？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根火柴棒摆成三个同样的三角形，需要我们动脑筋想一想。一个三角形要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根火柴棒，两个三角形就要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根火柴棒，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根火柴棒用去了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根。仅剩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根火柴棒，就必须考虑重复使用至少两个边，也就是必须考虑有两个公用边，如下图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解：见图（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 smtClean="0">
                <a:latin typeface="Times New Roman"/>
              </a:rPr>
              <a:t>）</a:t>
            </a: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15" y="3429000"/>
            <a:ext cx="4405195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041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你能用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根火柴棒摆成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个相同的三角形吗？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你能用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根火柴棒摆成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个相同的正方形吗？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你能用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根火柴棒摆成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个相同的正方形吗？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958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548680"/>
            <a:ext cx="8229600" cy="547260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</a:t>
            </a:r>
            <a:r>
              <a:rPr lang="zh-CN" altLang="zh-CN" kern="100" dirty="0">
                <a:latin typeface="Times New Roman"/>
              </a:rPr>
              <a:t>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b="1" kern="100" dirty="0">
                <a:latin typeface="Times New Roman"/>
              </a:rPr>
              <a:t>】</a:t>
            </a:r>
            <a:r>
              <a:rPr lang="zh-CN" altLang="zh-CN" kern="100" dirty="0">
                <a:latin typeface="Times New Roman"/>
              </a:rPr>
              <a:t>移动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根火柴，把图（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）中的斧子变成三个完全相同的三角形。</a:t>
            </a:r>
            <a:endParaRPr lang="zh-CN" altLang="zh-CN" sz="2400" kern="100" dirty="0">
              <a:latin typeface="Times New Roman"/>
            </a:endParaRPr>
          </a:p>
          <a:p>
            <a:pPr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       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）中摆斧子的火柴棒共有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根，要用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根火柴摆出三个完全相同的三角形，说明三个三角形没有公用的边，所以可摆成图（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），其中虚线表示移走的火柴。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解：见图（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30175" indent="-13017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5085184"/>
            <a:ext cx="1512168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354" y="5007623"/>
            <a:ext cx="1656184" cy="1783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685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74" y="332656"/>
            <a:ext cx="7734626" cy="6259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698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</a:t>
            </a:r>
            <a:r>
              <a:rPr lang="zh-CN" altLang="zh-CN" kern="100" dirty="0">
                <a:latin typeface="Times New Roman"/>
              </a:rPr>
              <a:t>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b="1" kern="100" dirty="0">
                <a:latin typeface="Times New Roman"/>
              </a:rPr>
              <a:t>】</a:t>
            </a:r>
            <a:r>
              <a:rPr lang="zh-CN" altLang="zh-CN" kern="100" dirty="0">
                <a:latin typeface="Times New Roman"/>
              </a:rPr>
              <a:t>如下图，是用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根火柴棒摆成的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个相等的正方形，请你拿走基中的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根火柴棒，使它变成只有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个正方形的图形，怎样拿</a:t>
            </a:r>
            <a:r>
              <a:rPr lang="zh-CN" altLang="zh-CN" kern="100" dirty="0" smtClean="0">
                <a:latin typeface="Times New Roman"/>
              </a:rPr>
              <a:t>？</a:t>
            </a: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: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一个正方形，由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根火柴棒摆成，只要去掉一根火柴棒，就不是正方形了。所以把左上角的两根去掉，再把正中最下面的一根去掉，就破坏掉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个正方形，只剩下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个正方形了。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9845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解：</a:t>
            </a:r>
            <a:r>
              <a:rPr lang="en-US" altLang="zh-CN" kern="100" dirty="0">
                <a:latin typeface="Times New Roman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88840"/>
            <a:ext cx="1800200" cy="1228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030" y="5517232"/>
            <a:ext cx="1898898" cy="1207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04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18145"/>
            <a:ext cx="8720383" cy="6439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172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8</a:t>
            </a:r>
            <a:r>
              <a:rPr lang="zh-CN" altLang="zh-CN" sz="4400" b="1" kern="100" dirty="0">
                <a:latin typeface="Times New Roman"/>
              </a:rPr>
              <a:t>讲 巧用余数（一）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小朋友已经学会了有余数的除法，在有余数的除法里，余数要比除数小，利用余数，可以解决许多有趣的实际问题，就要看你会不会巧妙地应用了。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要解决除数最小，余数最大的问题，就要理解除数和余数之间的关系，余数必须比除数小，即除数必须比余数大，掌握了这一点才能找到准确答案。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要求平均分给几位小朋友，平均每人种多少棵树等类型的问题时，应该首先从总数里去掉多余的部分，使得能够除尽，这样就能符合题意，求出问题的结果。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78143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548680"/>
            <a:ext cx="8507288" cy="557748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r>
              <a:rPr lang="zh-CN" altLang="zh-CN" kern="100" dirty="0">
                <a:latin typeface="Times New Roman"/>
              </a:rPr>
              <a:t> </a:t>
            </a:r>
          </a:p>
          <a:p>
            <a:pPr indent="7493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 smtClean="0">
                <a:latin typeface="Times New Roman"/>
              </a:rPr>
              <a:t>                               </a:t>
            </a:r>
            <a:r>
              <a:rPr lang="zh-CN" altLang="zh-CN" sz="4000" b="1" kern="100" dirty="0" smtClean="0">
                <a:latin typeface="Times New Roman"/>
              </a:rPr>
              <a:t>， </a:t>
            </a:r>
            <a:r>
              <a:rPr lang="zh-CN" altLang="zh-CN" sz="4000" b="1" kern="100" dirty="0">
                <a:latin typeface="Times New Roman"/>
              </a:rPr>
              <a:t>除数最小是几？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思路导航：根据余数一定要比除数小的道理，现在余数是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，那么除数的范围就比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大，比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大的数有很多，最小的是几呢？答案是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，因为最小的除数只要比余数大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就可以了。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解：除数最小是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74777"/>
            <a:ext cx="4161304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58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）÷</a:t>
            </a:r>
            <a:r>
              <a:rPr lang="en-US" altLang="zh-CN" kern="100" dirty="0">
                <a:latin typeface="Times New Roman"/>
              </a:rPr>
              <a:t>(    )=(    )……3,</a:t>
            </a:r>
            <a:r>
              <a:rPr lang="zh-CN" altLang="zh-CN" kern="100" dirty="0">
                <a:latin typeface="Times New Roman"/>
              </a:rPr>
              <a:t>除数最小是（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）÷</a:t>
            </a:r>
            <a:r>
              <a:rPr lang="en-US" altLang="zh-CN" kern="100" dirty="0">
                <a:latin typeface="Times New Roman"/>
              </a:rPr>
              <a:t>(    )=(    )……7,</a:t>
            </a:r>
            <a:r>
              <a:rPr lang="zh-CN" altLang="zh-CN" kern="100" dirty="0">
                <a:latin typeface="Times New Roman"/>
              </a:rPr>
              <a:t>除数最小是（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）÷</a:t>
            </a:r>
            <a:r>
              <a:rPr lang="en-US" altLang="zh-CN" kern="100" dirty="0">
                <a:latin typeface="Times New Roman"/>
              </a:rPr>
              <a:t>(    )=6……8,</a:t>
            </a:r>
            <a:r>
              <a:rPr lang="zh-CN" altLang="zh-CN" kern="100" dirty="0">
                <a:latin typeface="Times New Roman"/>
              </a:rPr>
              <a:t>除数最小是几？当除数取最小时，被除数是几？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091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 smtClean="0">
                <a:latin typeface="Times New Roman"/>
              </a:rPr>
              <a:t>                                </a:t>
            </a:r>
            <a:r>
              <a:rPr lang="zh-CN" altLang="zh-CN" sz="4000" kern="100" dirty="0" smtClean="0">
                <a:latin typeface="Times New Roman"/>
              </a:rPr>
              <a:t>余数</a:t>
            </a:r>
            <a:r>
              <a:rPr lang="zh-CN" altLang="zh-CN" sz="4000" kern="100" dirty="0">
                <a:latin typeface="Times New Roman"/>
              </a:rPr>
              <a:t>可以是几，最大余数是几？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思路导航：根据余数一定比除数小的道理，可知余数可以是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，最大余数是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，最大余数的确定，是只要比除数小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就可以了。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解：余数可以是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，最大余数是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28800"/>
            <a:ext cx="4097904" cy="60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217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）÷</a:t>
            </a:r>
            <a:r>
              <a:rPr lang="en-US" altLang="zh-CN" kern="100" dirty="0">
                <a:latin typeface="Times New Roman"/>
              </a:rPr>
              <a:t>7 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……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），余数可以是（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），最大余数是（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）÷</a:t>
            </a:r>
            <a:r>
              <a:rPr lang="en-US" altLang="zh-CN" kern="100" dirty="0">
                <a:latin typeface="Times New Roman"/>
              </a:rPr>
              <a:t>5 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……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），余数可以是（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），最大余数是（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）÷</a:t>
            </a:r>
            <a:r>
              <a:rPr lang="en-US" altLang="zh-CN" kern="100" dirty="0">
                <a:latin typeface="Times New Roman"/>
              </a:rPr>
              <a:t>6 = 5……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），余数取最大时，被除数是（</a:t>
            </a:r>
            <a:r>
              <a:rPr lang="en-US" altLang="zh-CN" kern="100" dirty="0">
                <a:latin typeface="Times New Roman"/>
              </a:rPr>
              <a:t>     </a:t>
            </a:r>
            <a:r>
              <a:rPr lang="zh-CN" altLang="zh-CN" kern="100" dirty="0">
                <a:latin typeface="Times New Roman"/>
              </a:rPr>
              <a:t>）。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244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   </a:t>
            </a:r>
            <a:r>
              <a:rPr lang="zh-CN" altLang="zh-CN" sz="4000" kern="100" dirty="0">
                <a:latin typeface="Times New Roman"/>
              </a:rPr>
              <a:t>新年快到了，青青草原上挂起了彩灯，按“红、黄、蓝、白、绿、紫”的顺序挂，一共挂了</a:t>
            </a:r>
            <a:r>
              <a:rPr lang="en-US" altLang="zh-CN" sz="4000" kern="100" dirty="0">
                <a:latin typeface="Times New Roman"/>
              </a:rPr>
              <a:t>50</a:t>
            </a:r>
            <a:r>
              <a:rPr lang="zh-CN" altLang="zh-CN" sz="4000" kern="100" dirty="0">
                <a:latin typeface="Times New Roman"/>
              </a:rPr>
              <a:t>盏彩灯，第</a:t>
            </a:r>
            <a:r>
              <a:rPr lang="en-US" altLang="zh-CN" sz="4000" kern="100" dirty="0">
                <a:latin typeface="Times New Roman"/>
              </a:rPr>
              <a:t>50</a:t>
            </a:r>
            <a:r>
              <a:rPr lang="zh-CN" altLang="zh-CN" sz="4000" kern="100" dirty="0">
                <a:latin typeface="Times New Roman"/>
              </a:rPr>
              <a:t>盏彩灯是什么颜色？红色的彩灯一共有多少盏？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思路导航：这些彩灯按“红、黄、蓝、白、绿、紫”的顺序，即六种颜色为一个周期，先算出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盏彩灯有几个这样的周期：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6=8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……2(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)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，余数是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盏彩灯是第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个周期之后的红、黄两种彩灯。所以第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盏彩灯是黄色的，红色的彩灯一共有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8+1=9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（盏）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6=8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……2(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盏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)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8+1=9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（盏）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答：第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盏彩灯是黄色的，红色的彩灯一共有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盏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119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慢羊羊把</a:t>
            </a:r>
            <a:r>
              <a:rPr lang="en-US" altLang="zh-CN" kern="100" dirty="0">
                <a:latin typeface="Times New Roman"/>
              </a:rPr>
              <a:t>54</a:t>
            </a:r>
            <a:r>
              <a:rPr lang="zh-CN" altLang="zh-CN" kern="100" dirty="0">
                <a:latin typeface="Times New Roman"/>
              </a:rPr>
              <a:t>张扑克牌依次发给喜洋洋、美羊羊、沸羊羊和懒羊羊，问：第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张扑克牌发给谁？谁会拿到最后一张扑克牌？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学校大门上挂有一串彩灯，按“红、绿、白、黄”的规律排列起来，请你算一算，第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只彩灯是什么颜色？第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只彩灯是什么颜色？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植树节那天，同学们按一棵松树，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棵香樟树和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棵广玉兰的顺序依次栽树，那么第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棵是什么树？第</a:t>
            </a:r>
            <a:r>
              <a:rPr lang="en-US" altLang="zh-CN" kern="100" dirty="0">
                <a:latin typeface="Times New Roman"/>
              </a:rPr>
              <a:t>31</a:t>
            </a:r>
            <a:r>
              <a:rPr lang="zh-CN" altLang="zh-CN" kern="100" dirty="0">
                <a:latin typeface="Times New Roman"/>
              </a:rPr>
              <a:t>棵是什么树？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668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40871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一张纸很整齐的写着下面这样的两行字：</a:t>
            </a:r>
            <a:endParaRPr lang="zh-CN" altLang="zh-CN" sz="2400" kern="100" dirty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喜羊羊与灰太狼喜羊羊与灰太狼喜羊羊与灰太狼</a:t>
            </a:r>
            <a:r>
              <a:rPr lang="en-US" altLang="zh-CN" kern="100" dirty="0">
                <a:latin typeface="宋体"/>
              </a:rPr>
              <a:t>……</a:t>
            </a:r>
            <a:endParaRPr lang="zh-CN" altLang="zh-CN" sz="2400" kern="100" dirty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青青草原青青草原青青草原</a:t>
            </a:r>
            <a:r>
              <a:rPr lang="en-US" altLang="zh-CN" kern="100" dirty="0" smtClean="0">
                <a:latin typeface="Times New Roman"/>
              </a:rPr>
              <a:t>……</a:t>
            </a: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如果我们把同一列的上下两个字称为一组，第一组的两个字是（喜，青），第二组的两个字是（羊，青）</a:t>
            </a:r>
            <a:r>
              <a:rPr lang="en-US" altLang="zh-CN" kern="100" dirty="0">
                <a:latin typeface="宋体"/>
              </a:rPr>
              <a:t>……</a:t>
            </a:r>
            <a:r>
              <a:rPr lang="zh-CN" altLang="zh-CN" kern="100" dirty="0">
                <a:latin typeface="Times New Roman"/>
              </a:rPr>
              <a:t>那么第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组的两个字是（</a:t>
            </a:r>
            <a:r>
              <a:rPr lang="en-US" altLang="zh-CN" u="sng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u="sng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思路导航：根据题意，可以分别算出第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组的上，下两个字分别是什么。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第一行字是按“喜羊羊与灰太狼”为一组排列的，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7=3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（组）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……4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（个），所以第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组的上面一个字是“与”。第二行字是按“青青草原”为一组排列的，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4=6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（组）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……1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（个），所以第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组的下面一个字是“青”，因此第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组的两个字是（与，青）。</a:t>
            </a:r>
          </a:p>
          <a:p>
            <a:pPr indent="3810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解：与，青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930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16" y="1052736"/>
            <a:ext cx="8512892" cy="4468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001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小红带领</a:t>
            </a:r>
            <a:r>
              <a:rPr lang="en-US" altLang="zh-CN" sz="4000" kern="100" dirty="0">
                <a:latin typeface="Times New Roman"/>
              </a:rPr>
              <a:t>7</a:t>
            </a:r>
            <a:r>
              <a:rPr lang="zh-CN" altLang="zh-CN" sz="4000" kern="100" dirty="0">
                <a:latin typeface="Times New Roman"/>
              </a:rPr>
              <a:t>个小朋友为幼儿园做</a:t>
            </a:r>
            <a:r>
              <a:rPr lang="en-US" altLang="zh-CN" sz="4000" kern="100" dirty="0">
                <a:latin typeface="Times New Roman"/>
              </a:rPr>
              <a:t>50</a:t>
            </a:r>
            <a:r>
              <a:rPr lang="zh-CN" altLang="zh-CN" sz="4000" kern="100" dirty="0">
                <a:latin typeface="Times New Roman"/>
              </a:rPr>
              <a:t>朵花，平均每人做几朵？小红要多做几多才能完成任务？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思路导航：要求平均每人做几朵，用花的总数除以总人数，根据题意可知总人数是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7+1=8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8=6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（朵）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……2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（朵），这余下的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朵若给小红做就正好完成任务，也就是小红要比别的小朋友多做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朵。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7+1=8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（人）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8=6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（朵）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……2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（朵）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答：平均每人做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朵，小红要多做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多才能完成任务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48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小明带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个小朋友种</a:t>
            </a:r>
            <a:r>
              <a:rPr lang="en-US" altLang="zh-CN" kern="100" dirty="0">
                <a:latin typeface="Times New Roman"/>
              </a:rPr>
              <a:t>32</a:t>
            </a:r>
            <a:r>
              <a:rPr lang="zh-CN" altLang="zh-CN" kern="100" dirty="0">
                <a:latin typeface="Times New Roman"/>
              </a:rPr>
              <a:t>棵数，平均每人种多少棵？小明要多种几棵才能完成任务？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2.4</a:t>
            </a:r>
            <a:r>
              <a:rPr lang="zh-CN" altLang="zh-CN" kern="100" dirty="0">
                <a:latin typeface="Times New Roman"/>
              </a:rPr>
              <a:t>个西瓜重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千克，每个西瓜的重量都是整千克数，其中一个重一点，其余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个一样重，重的一个西瓜是几千克？（轻重两种西瓜相差不超过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千克）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小林和小邱带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个小朋友去拿苹果，一共拿了</a:t>
            </a:r>
            <a:r>
              <a:rPr lang="en-US" altLang="zh-CN" kern="100" dirty="0">
                <a:latin typeface="Times New Roman"/>
              </a:rPr>
              <a:t>42</a:t>
            </a:r>
            <a:r>
              <a:rPr lang="zh-CN" altLang="zh-CN" kern="100" dirty="0">
                <a:latin typeface="Times New Roman"/>
              </a:rPr>
              <a:t>个，平均每人拿几个？小林，小邱平均每人多拿几个就能一次拿完？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455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9</a:t>
            </a:r>
            <a:r>
              <a:rPr lang="zh-CN" altLang="zh-CN" sz="4400" b="1" kern="100" dirty="0">
                <a:latin typeface="Times New Roman"/>
              </a:rPr>
              <a:t>讲 天平平衡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小朋友们一定知道“曹冲称象”的故事吧？“曹冲称象”不是瞎称的，而是运用了“等量代换”的思考方法，即两个完全相等的量，可以互相代换。解数学题，经常会用到这种思考方法。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进行等量代换时，要选择容易求出结果的两个等式来比较，使同一个等式中的未知量或符号越来越少，最后只剩下一个。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302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只猪的重量</a:t>
            </a:r>
            <a:r>
              <a:rPr lang="en-US" altLang="zh-CN" kern="100" dirty="0">
                <a:latin typeface="Times New Roman"/>
              </a:rPr>
              <a:t>=2</a:t>
            </a:r>
            <a:r>
              <a:rPr lang="zh-CN" altLang="zh-CN" kern="100" dirty="0">
                <a:latin typeface="Times New Roman"/>
              </a:rPr>
              <a:t>只羊的重量，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只羊的重量</a:t>
            </a:r>
            <a:r>
              <a:rPr lang="en-US" altLang="zh-CN" kern="100" dirty="0">
                <a:latin typeface="Times New Roman"/>
              </a:rPr>
              <a:t>=5</a:t>
            </a:r>
            <a:r>
              <a:rPr lang="zh-CN" altLang="zh-CN" kern="100" dirty="0">
                <a:latin typeface="Times New Roman"/>
              </a:rPr>
              <a:t>只兔的重量。</a:t>
            </a:r>
            <a:endParaRPr lang="zh-CN" altLang="zh-CN" sz="2400" kern="100" dirty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问：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只猪的重量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）只兔的重量。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思路导航：由一只羊的重量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只兔的重量，可知：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只羊的重量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只兔的重量，而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只猪的重量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只羊的重量，所以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只猪的重量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只兔的重量。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086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8720"/>
            <a:ext cx="8474106" cy="507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912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你能动脑筋，想办法使天平平衡吗？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思路导航：因为左边重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10+3+7=20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（克），右边重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4+6=10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（克），左边比右边多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20-10=10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（克），所以要使左右平衡必须从左边拿出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克，或拿出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克、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克，也可以在右边再添上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克，也能使天平平衡。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解：左边减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克，或右边加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克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46021"/>
            <a:ext cx="3456384" cy="218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613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04" y="81046"/>
            <a:ext cx="8213636" cy="6444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882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8640"/>
            <a:ext cx="8229600" cy="593752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smtClean="0">
                <a:latin typeface="Times New Roman"/>
              </a:rPr>
              <a:t>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smtClean="0">
                <a:latin typeface="Times New Roman"/>
              </a:rPr>
              <a:t>  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 </a:t>
            </a:r>
            <a:r>
              <a:rPr lang="zh-CN" altLang="zh-CN" kern="100" dirty="0">
                <a:latin typeface="Times New Roman"/>
              </a:rPr>
              <a:t>）克</a:t>
            </a:r>
            <a:r>
              <a:rPr lang="en-US" altLang="zh-CN" kern="100" dirty="0">
                <a:latin typeface="Times New Roman"/>
              </a:rPr>
              <a:t>      </a:t>
            </a:r>
            <a:r>
              <a:rPr lang="en-US" altLang="zh-CN" kern="100" dirty="0" smtClean="0">
                <a:latin typeface="Times New Roman"/>
              </a:rPr>
              <a:t>     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 </a:t>
            </a:r>
            <a:r>
              <a:rPr lang="zh-CN" altLang="zh-CN" kern="100" dirty="0">
                <a:latin typeface="Times New Roman"/>
              </a:rPr>
              <a:t>）克</a:t>
            </a:r>
            <a:r>
              <a:rPr lang="en-US" altLang="zh-CN" kern="100" dirty="0">
                <a:latin typeface="Times New Roman"/>
              </a:rPr>
              <a:t>        </a:t>
            </a:r>
            <a:r>
              <a:rPr lang="en-US" altLang="zh-CN" kern="100" dirty="0" smtClean="0">
                <a:latin typeface="Times New Roman"/>
              </a:rPr>
              <a:t>     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 </a:t>
            </a:r>
            <a:r>
              <a:rPr lang="zh-CN" altLang="zh-CN" kern="100" dirty="0">
                <a:latin typeface="Times New Roman"/>
              </a:rPr>
              <a:t>）克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思路导航：从图中可以看出：梨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香蕉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=200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克，而且苹果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香蕉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=300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克，显然，苹果的重量是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300-200=100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（克）；再看苹果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香蕉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=150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克，所以香蕉的重量是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150-100=50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克；最后看梨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香蕉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=200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克，可以推算出梨的重量是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200-50=150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克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）克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盏彩灯是黄色的，红色的彩灯一共有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3005"/>
            <a:ext cx="4240275" cy="89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818" y="903005"/>
            <a:ext cx="4247724" cy="90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73152"/>
            <a:ext cx="4924425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3281014"/>
            <a:ext cx="44767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797152"/>
            <a:ext cx="44767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910" y="3250813"/>
            <a:ext cx="447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797152"/>
            <a:ext cx="447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311" y="3287519"/>
            <a:ext cx="6286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961" y="4835252"/>
            <a:ext cx="6286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824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7" y="116632"/>
            <a:ext cx="8931880" cy="6634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526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下面有四个算式：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小猫的只数－小鸭的植树＝</a:t>
            </a:r>
            <a:r>
              <a:rPr lang="en-US" altLang="zh-CN" kern="100" dirty="0">
                <a:latin typeface="Times New Roman"/>
              </a:rPr>
              <a:t>15      </a:t>
            </a:r>
            <a:r>
              <a:rPr lang="zh-CN" altLang="zh-CN" kern="100" dirty="0">
                <a:latin typeface="Times New Roman"/>
              </a:rPr>
              <a:t>小猫的只数×小鸭的只数＝</a:t>
            </a:r>
            <a:r>
              <a:rPr lang="en-US" altLang="zh-CN" kern="100" dirty="0">
                <a:latin typeface="Times New Roman"/>
              </a:rPr>
              <a:t>16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小猫的只数÷小鸭的只数＝</a:t>
            </a:r>
            <a:r>
              <a:rPr lang="en-US" altLang="zh-CN" kern="100" dirty="0">
                <a:latin typeface="Times New Roman"/>
              </a:rPr>
              <a:t>16      </a:t>
            </a:r>
            <a:r>
              <a:rPr lang="zh-CN" altLang="zh-CN" kern="100" dirty="0">
                <a:latin typeface="Times New Roman"/>
              </a:rPr>
              <a:t>小猫只数</a:t>
            </a:r>
            <a:r>
              <a:rPr lang="en-US" altLang="zh-CN" kern="100" dirty="0">
                <a:latin typeface="Times New Roman"/>
              </a:rPr>
              <a:t> + </a:t>
            </a:r>
            <a:r>
              <a:rPr lang="zh-CN" altLang="zh-CN" kern="100" dirty="0">
                <a:latin typeface="Times New Roman"/>
              </a:rPr>
              <a:t>小鸭只数＝</a:t>
            </a:r>
            <a:r>
              <a:rPr lang="en-US" altLang="zh-CN" kern="100" dirty="0">
                <a:latin typeface="Times New Roman"/>
              </a:rPr>
              <a:t>17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那么，小鸭有几只？小猫有几只？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思路导航：从“小猫的只数×小鸭的只数＝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”，有三种情况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，小猫只数与小鸭只数交换，又有两种可能，即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，再根据另外三个等式，可推算小鸭和小猫的只数，把这五种情况代入另外三个算式，只有第四种情况符合题意，即：小猫有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只，小鸭有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解：小猫有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只，小鸭有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319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1.</a:t>
            </a:r>
            <a:r>
              <a:rPr lang="zh-CN" altLang="zh-CN" kern="100" dirty="0">
                <a:latin typeface="Times New Roman"/>
              </a:rPr>
              <a:t>鸡的只数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鸭的只数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鹅的只数</a:t>
            </a:r>
            <a:r>
              <a:rPr lang="en-US" altLang="zh-CN" kern="100" dirty="0">
                <a:latin typeface="Times New Roman"/>
              </a:rPr>
              <a:t>=17</a:t>
            </a:r>
            <a:r>
              <a:rPr lang="zh-CN" altLang="zh-CN" kern="100" dirty="0">
                <a:latin typeface="Times New Roman"/>
              </a:rPr>
              <a:t>，鸭的只数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鸡的只数×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，鹅有</a:t>
            </a:r>
            <a:r>
              <a:rPr lang="en-US" altLang="zh-CN" kern="100" dirty="0">
                <a:latin typeface="Times New Roman"/>
              </a:rPr>
              <a:t>(     )</a:t>
            </a:r>
            <a:r>
              <a:rPr lang="zh-CN" altLang="zh-CN" kern="100" dirty="0">
                <a:latin typeface="Times New Roman"/>
              </a:rPr>
              <a:t>只</a:t>
            </a:r>
            <a:r>
              <a:rPr lang="en-US" altLang="zh-CN" kern="100" dirty="0">
                <a:latin typeface="Times New Roman"/>
              </a:rPr>
              <a:t>.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如果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只兔子可以换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只羊，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只羊可以换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头小猪，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头小猪可以换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头牛。那么用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头牛可以换（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）只兔子。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已知：鸡×</a:t>
            </a:r>
            <a:r>
              <a:rPr lang="en-US" altLang="zh-CN" kern="100" dirty="0">
                <a:latin typeface="Times New Roman"/>
              </a:rPr>
              <a:t>4 = </a:t>
            </a:r>
            <a:r>
              <a:rPr lang="zh-CN" altLang="zh-CN" kern="100" dirty="0">
                <a:latin typeface="Times New Roman"/>
              </a:rPr>
              <a:t>鸭</a:t>
            </a:r>
            <a:r>
              <a:rPr lang="en-US" altLang="zh-CN" kern="100" dirty="0">
                <a:latin typeface="Times New Roman"/>
              </a:rPr>
              <a:t> + </a:t>
            </a:r>
            <a:r>
              <a:rPr lang="zh-CN" altLang="zh-CN" kern="100" dirty="0">
                <a:latin typeface="Times New Roman"/>
              </a:rPr>
              <a:t>鹅</a:t>
            </a:r>
            <a:r>
              <a:rPr lang="en-US" altLang="zh-CN" kern="100" dirty="0">
                <a:latin typeface="Times New Roman"/>
              </a:rPr>
              <a:t>        </a:t>
            </a:r>
            <a:r>
              <a:rPr lang="zh-CN" altLang="zh-CN" kern="100" dirty="0">
                <a:latin typeface="Times New Roman"/>
              </a:rPr>
              <a:t>鹅</a:t>
            </a:r>
            <a:r>
              <a:rPr lang="en-US" altLang="zh-CN" kern="100" dirty="0">
                <a:latin typeface="Times New Roman"/>
              </a:rPr>
              <a:t> = </a:t>
            </a:r>
            <a:r>
              <a:rPr lang="zh-CN" altLang="zh-CN" kern="100" dirty="0">
                <a:latin typeface="Times New Roman"/>
              </a:rPr>
              <a:t>鸭×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如果：鸡</a:t>
            </a:r>
            <a:r>
              <a:rPr lang="en-US" altLang="zh-CN" kern="100" dirty="0">
                <a:latin typeface="Times New Roman"/>
              </a:rPr>
              <a:t> = 3千克，那么，鸭 =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）千克，鹅</a:t>
            </a:r>
            <a:r>
              <a:rPr lang="en-US" altLang="zh-CN" kern="100" dirty="0">
                <a:latin typeface="Times New Roman"/>
              </a:rPr>
              <a:t> =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）千克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819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有一架天平和一个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克的砝码，用这架天平称出</a:t>
            </a:r>
            <a:r>
              <a:rPr lang="en-US" altLang="zh-CN" sz="4000" kern="100" dirty="0">
                <a:latin typeface="Times New Roman"/>
              </a:rPr>
              <a:t>30</a:t>
            </a:r>
            <a:r>
              <a:rPr lang="zh-CN" altLang="zh-CN" sz="4000" kern="100" dirty="0">
                <a:latin typeface="Times New Roman"/>
              </a:rPr>
              <a:t>克味精，至少要称几次？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思路导航：第一次先把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克砝码放在天平的一个盘里，另一个盘里放味精，使得天平平衡，这样就得到了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克味精。第二次先把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克的砝码与第一次称出的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克味精放在天平的一个盘里，再给另一个盘里放味精，使天平平衡，这样称出了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克的味精。第三次把已称出的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克味精放到一个盘里，另一个盘里放味精使天平平衡，称出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克味精，然后把两盘味精合起来就是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克，共称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次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解：</a:t>
            </a:r>
            <a:r>
              <a:rPr lang="en-US" altLang="zh-CN" sz="4000" kern="100" dirty="0">
                <a:latin typeface="Times New Roman"/>
              </a:rPr>
              <a:t> </a:t>
            </a:r>
            <a:endParaRPr lang="en-US" altLang="zh-CN" sz="4000" kern="100" dirty="0" smtClean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 smtClean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答：至少称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次。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629598"/>
            <a:ext cx="3260522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316" y="3629598"/>
            <a:ext cx="3916139" cy="84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4445558"/>
            <a:ext cx="5326732" cy="97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876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有一架天平只备有一个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克的砝码，要称出</a:t>
            </a:r>
            <a:r>
              <a:rPr lang="en-US" altLang="zh-CN" kern="100" dirty="0">
                <a:latin typeface="Times New Roman"/>
              </a:rPr>
              <a:t>140</a:t>
            </a:r>
            <a:r>
              <a:rPr lang="zh-CN" altLang="zh-CN" kern="100" dirty="0">
                <a:latin typeface="Times New Roman"/>
              </a:rPr>
              <a:t>克的物件，只称三次，应该怎样称？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有一架天平和两个砝码，一个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克，一个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克，怎样才能称出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个的白糖？（每个砝码只能用一次）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大勺子一次能装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两油，小勺子一次能装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两油，你能用这两把勺子量出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两油吗？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395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10</a:t>
            </a:r>
            <a:r>
              <a:rPr lang="zh-CN" altLang="zh-CN" sz="4400" b="1" kern="100" dirty="0">
                <a:latin typeface="Times New Roman"/>
              </a:rPr>
              <a:t>讲 学习一笔画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一笔画，就是从图形某点出发，笔不离开纸，而且每条线段都只画一次不重复。它是一种有趣的数学游戏。那么，哪些图形不能一笔画成，哪些图形可以一笔画成呢？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一个图形能否一笔画成，关键在于单数点的多少，有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个或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个单数点的图形就能够一笔画成，单数点在一笔画中只能作为起点和终点。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723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一些平面图形是由点和线构成的，这里的“线”可以是线段，也可以是一段曲线，请自己画一些图研究每个点和线的连接情况。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Times New Roman"/>
              </a:rPr>
              <a:t>思路导航：请小朋友仔细观察下列各图中的点，他们分别与几条线相连。 </a:t>
            </a:r>
          </a:p>
          <a:p>
            <a:pPr indent="685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indent="685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indent="685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400" kern="100" dirty="0">
                <a:latin typeface="Times New Roman"/>
              </a:rPr>
              <a:t>① </a:t>
            </a:r>
            <a:r>
              <a:rPr lang="en-US" altLang="zh-CN" sz="4400" kern="100" dirty="0">
                <a:latin typeface="Times New Roman"/>
              </a:rPr>
              <a:t>       </a:t>
            </a:r>
            <a:r>
              <a:rPr lang="zh-CN" altLang="zh-CN" sz="4400" kern="100" dirty="0">
                <a:latin typeface="Times New Roman"/>
              </a:rPr>
              <a:t>②</a:t>
            </a:r>
            <a:r>
              <a:rPr lang="en-US" altLang="zh-CN" sz="4400" kern="100" dirty="0">
                <a:latin typeface="Times New Roman"/>
              </a:rPr>
              <a:t>        </a:t>
            </a:r>
            <a:r>
              <a:rPr lang="zh-CN" altLang="zh-CN" sz="4400" kern="100" dirty="0">
                <a:latin typeface="Times New Roman"/>
              </a:rPr>
              <a:t>③</a:t>
            </a:r>
            <a:r>
              <a:rPr lang="en-US" altLang="zh-CN" sz="4400" kern="100" dirty="0">
                <a:latin typeface="Times New Roman"/>
              </a:rPr>
              <a:t>         </a:t>
            </a:r>
            <a:r>
              <a:rPr lang="zh-CN" altLang="zh-CN" sz="4400" kern="100" dirty="0">
                <a:latin typeface="Times New Roman"/>
              </a:rPr>
              <a:t>④</a:t>
            </a:r>
            <a:endParaRPr lang="zh-CN" altLang="zh-CN" sz="2400" kern="100" dirty="0">
              <a:latin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zh-CN" altLang="zh-CN" kern="100" dirty="0">
                <a:latin typeface="Times New Roman"/>
              </a:rPr>
              <a:t>与一条线段相连的点有：</a:t>
            </a:r>
            <a:r>
              <a:rPr lang="en-US" altLang="zh-CN" kern="100" dirty="0">
                <a:latin typeface="Times New Roman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endParaRPr lang="en-US" altLang="zh-CN" kern="100" dirty="0" smtClean="0">
              <a:latin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zh-CN" altLang="zh-CN" kern="100" dirty="0" smtClean="0">
                <a:latin typeface="Times New Roman"/>
              </a:rPr>
              <a:t>与</a:t>
            </a:r>
            <a:r>
              <a:rPr lang="zh-CN" altLang="zh-CN" kern="100" dirty="0">
                <a:latin typeface="Times New Roman"/>
              </a:rPr>
              <a:t>两条线段相连的点有：</a:t>
            </a:r>
            <a:r>
              <a:rPr lang="en-US" altLang="zh-CN" kern="100" dirty="0">
                <a:latin typeface="Times New Roman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endParaRPr lang="en-US" altLang="zh-CN" kern="100" dirty="0" smtClean="0">
              <a:latin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zh-CN" altLang="zh-CN" kern="100" dirty="0" smtClean="0">
                <a:latin typeface="Times New Roman"/>
              </a:rPr>
              <a:t>与</a:t>
            </a:r>
            <a:r>
              <a:rPr lang="zh-CN" altLang="zh-CN" kern="100" dirty="0">
                <a:latin typeface="Times New Roman"/>
              </a:rPr>
              <a:t>三条线段相连的点有：</a:t>
            </a:r>
            <a:r>
              <a:rPr lang="en-US" altLang="zh-CN" kern="100" dirty="0">
                <a:latin typeface="Times New Roman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endParaRPr lang="en-US" altLang="zh-CN" kern="100" dirty="0" smtClean="0">
              <a:latin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zh-CN" altLang="zh-CN" kern="100" dirty="0" smtClean="0">
                <a:latin typeface="Times New Roman"/>
              </a:rPr>
              <a:t>与</a:t>
            </a:r>
            <a:r>
              <a:rPr lang="zh-CN" altLang="zh-CN" kern="100" dirty="0">
                <a:latin typeface="Times New Roman"/>
              </a:rPr>
              <a:t>四条线段相连的点有：</a:t>
            </a:r>
            <a:r>
              <a:rPr lang="en-US" altLang="zh-CN" kern="100" dirty="0">
                <a:latin typeface="Times New Roman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归纳：把和一条、三条、五条等单数条线连得点叫做单数点；把和两条、四条、六条、八条等双数条线连的点叫双数点，每个图中的点要么是单数点，要么是双数点。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1698238"/>
            <a:ext cx="4104456" cy="104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2876550"/>
            <a:ext cx="1008112" cy="483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654" y="3429000"/>
            <a:ext cx="24479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697" y="4149080"/>
            <a:ext cx="186690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829" y="4823969"/>
            <a:ext cx="186690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458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228"/>
            <a:ext cx="8216246" cy="61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565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下面的图形能不能一笔画成？如果能，应该怎样画？</a:t>
            </a:r>
            <a:endParaRPr lang="zh-CN" altLang="zh-CN" sz="24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None/>
            </a:pPr>
            <a:endParaRPr lang="en-US" altLang="zh-CN" kern="100" dirty="0">
              <a:latin typeface="宋体"/>
            </a:endParaRPr>
          </a:p>
          <a:p>
            <a:pPr indent="0" algn="just">
              <a:spcAft>
                <a:spcPts val="0"/>
              </a:spcAft>
              <a:buNone/>
            </a:pPr>
            <a:endParaRPr lang="en-US" altLang="zh-CN" sz="2400" kern="100" dirty="0" smtClean="0">
              <a:latin typeface="宋体"/>
            </a:endParaRPr>
          </a:p>
          <a:p>
            <a:pPr indent="0" algn="just">
              <a:spcAft>
                <a:spcPts val="0"/>
              </a:spcAft>
              <a:buNone/>
            </a:pPr>
            <a:endParaRPr lang="en-US" altLang="zh-CN" sz="2400" kern="100" dirty="0">
              <a:latin typeface="宋体"/>
            </a:endParaRPr>
          </a:p>
          <a:p>
            <a:pPr indent="0" algn="just">
              <a:spcAft>
                <a:spcPts val="0"/>
              </a:spcAft>
              <a:buNone/>
            </a:pPr>
            <a:endParaRPr lang="en-US" altLang="zh-CN" sz="2400" kern="100" dirty="0" smtClean="0">
              <a:latin typeface="宋体"/>
            </a:endParaRPr>
          </a:p>
          <a:p>
            <a:pPr indent="0" algn="just">
              <a:spcAft>
                <a:spcPts val="0"/>
              </a:spcAft>
              <a:buNone/>
            </a:pPr>
            <a:endParaRPr lang="en-US" altLang="zh-CN" sz="2400" kern="100" dirty="0">
              <a:latin typeface="宋体"/>
            </a:endParaRPr>
          </a:p>
          <a:p>
            <a:pPr indent="0" algn="just">
              <a:spcAft>
                <a:spcPts val="0"/>
              </a:spcAft>
              <a:buNone/>
            </a:pPr>
            <a:endParaRPr lang="en-US" altLang="zh-CN" sz="2400" kern="100" dirty="0" smtClean="0">
              <a:latin typeface="宋体"/>
            </a:endParaRPr>
          </a:p>
          <a:p>
            <a:pPr indent="0" algn="just">
              <a:spcAft>
                <a:spcPts val="0"/>
              </a:spcAft>
              <a:buNone/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【思路导航】图（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）中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A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C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D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O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五个点都是双数点，所以这个图形可以一笔画成。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画时可以从任意一点出发。图（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）中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A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C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D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F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四个点都是双数点，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E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两个点是单数点，所以这个图形也可以一笔画成。画时要从单数点出发，最后回到另一个单数点。图（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）中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A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D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是双数点，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C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E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F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四个点是单数点，单数点的个数超过了两个，这个图形不能一笔画成。</a:t>
            </a:r>
          </a:p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760" y="1412776"/>
            <a:ext cx="6119813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719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04" y="130824"/>
            <a:ext cx="8398600" cy="6250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301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   </a:t>
            </a:r>
            <a:r>
              <a:rPr lang="zh-CN" altLang="zh-CN" sz="4000" kern="100" dirty="0">
                <a:latin typeface="Times New Roman"/>
              </a:rPr>
              <a:t>下图是某地区所有街道的平面图，甲、乙两人同时分别从</a:t>
            </a:r>
            <a:r>
              <a:rPr lang="en-US" altLang="zh-CN" sz="4000" kern="100" dirty="0">
                <a:latin typeface="Times New Roman"/>
              </a:rPr>
              <a:t>A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B</a:t>
            </a:r>
            <a:r>
              <a:rPr lang="zh-CN" altLang="zh-CN" sz="4000" kern="100" dirty="0">
                <a:latin typeface="Times New Roman"/>
              </a:rPr>
              <a:t>出发，以相同的速度走遍所有的街道，最后到达</a:t>
            </a:r>
            <a:r>
              <a:rPr lang="en-US" altLang="zh-CN" sz="4000" kern="100" dirty="0">
                <a:latin typeface="Times New Roman"/>
              </a:rPr>
              <a:t>C.</a:t>
            </a:r>
            <a:r>
              <a:rPr lang="zh-CN" altLang="zh-CN" sz="4000" kern="100" dirty="0">
                <a:latin typeface="Times New Roman"/>
              </a:rPr>
              <a:t>那么两人谁先到达</a:t>
            </a:r>
            <a:r>
              <a:rPr lang="zh-CN" altLang="zh-CN" sz="4000" kern="100" dirty="0" smtClean="0">
                <a:latin typeface="Times New Roman"/>
              </a:rPr>
              <a:t>？</a:t>
            </a:r>
            <a:endParaRPr lang="en-US" altLang="zh-CN" sz="40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思路导航：题中要求两人必须走遍所有街道，最后到达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C.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仔细观察，可以发现图中有两个单数点：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A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C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。这就是说：甲可以从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A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点出发，不重复地走遍所有街道，最后到达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C.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点是双数点，从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点出发的乙则不行。因此，甲所走的路程正好等于所有街道的总和，而乙所走的路程一定比这个总和多，所以甲最先到达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C.</a:t>
            </a: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解：甲最先到达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C.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915982"/>
            <a:ext cx="2448272" cy="167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9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11" y="256582"/>
            <a:ext cx="8039805" cy="6124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519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 </a:t>
            </a:r>
            <a:r>
              <a:rPr lang="zh-CN" altLang="zh-CN" kern="100" dirty="0">
                <a:latin typeface="Times New Roman"/>
              </a:rPr>
              <a:t>下图（图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）能否一笔画成，若不能，你能用什么方法把它改成能够一笔画成的图形？</a:t>
            </a:r>
            <a:endParaRPr lang="zh-CN" altLang="zh-CN" sz="2400" kern="100" dirty="0">
              <a:latin typeface="Times New Roman"/>
            </a:endParaRPr>
          </a:p>
          <a:p>
            <a:pPr indent="609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    </a:t>
            </a:r>
            <a:endParaRPr lang="en-US" altLang="zh-CN" kern="100" dirty="0" smtClean="0">
              <a:latin typeface="Times New Roman"/>
            </a:endParaRPr>
          </a:p>
          <a:p>
            <a:pPr indent="609600"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indent="609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smtClean="0">
                <a:latin typeface="Times New Roman"/>
              </a:rPr>
              <a:t> 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导航：此图共有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个点，其中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个点是双数点，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个点是单数点，由于超过两个单数点，因此不能一笔画成。要想改为一笔画成，关键在于减少单数点数目（把单数点的个数减少到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），所以只要在任意两个单数点间连上线，就可以一笔画，有时也可以将多余的两个单数点间的连线去掉，改成一笔画。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个单数点，不能一笔画成。要改成一笔画成，如图（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44760"/>
            <a:ext cx="2193238" cy="1240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819107"/>
            <a:ext cx="2592288" cy="1465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28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0694"/>
            <a:ext cx="8024919" cy="5975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46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邮递员叔叔要给一个居民小区送信（如图），怎么走才能少走重复路，使每天走的路尽可能短</a:t>
            </a:r>
            <a:r>
              <a:rPr lang="zh-CN" altLang="zh-CN" kern="100" dirty="0" smtClean="0">
                <a:latin typeface="Times New Roman"/>
              </a:rPr>
              <a:t>？</a:t>
            </a: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思路导航：图中一共有九个点，其中单数点有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个（点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D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和点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F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,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因此能一次不重复走过所有的路，但必须从这两个单数点中的一个出发，再回到另一个单数点。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解：邮递员叔叔只能从点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D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（或点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F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）出发，走过所有的路后，再回到点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F(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D)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 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716832"/>
            <a:ext cx="2448272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573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6408712" cy="6282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60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8628"/>
            <a:ext cx="6624736" cy="6418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760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】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计算：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37+5+45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13030" indent="-113030">
              <a:lnSpc>
                <a:spcPct val="150000"/>
              </a:lnSpc>
            </a:pPr>
            <a:r>
              <a:rPr lang="zh-CN" altLang="zh-CN" sz="2400" b="1" dirty="0">
                <a:solidFill>
                  <a:srgbClr val="FFC000"/>
                </a:solidFill>
                <a:latin typeface="Times New Roman"/>
                <a:cs typeface="宋体"/>
              </a:rPr>
              <a:t>思路导航：这道题是三个数相加，通过观察不难发现，</a:t>
            </a:r>
            <a:r>
              <a:rPr lang="en-US" altLang="zh-CN" sz="2400" b="1" dirty="0">
                <a:solidFill>
                  <a:srgbClr val="FFC000"/>
                </a:solidFill>
                <a:latin typeface="Times New Roman"/>
                <a:cs typeface="宋体"/>
              </a:rPr>
              <a:t>5</a:t>
            </a:r>
            <a:r>
              <a:rPr lang="zh-CN" altLang="zh-CN" sz="2400" b="1" dirty="0">
                <a:solidFill>
                  <a:srgbClr val="FFC000"/>
                </a:solidFill>
                <a:latin typeface="Times New Roman"/>
                <a:cs typeface="宋体"/>
              </a:rPr>
              <a:t>和</a:t>
            </a:r>
            <a:r>
              <a:rPr lang="en-US" altLang="zh-CN" sz="2400" b="1" dirty="0">
                <a:solidFill>
                  <a:srgbClr val="FFC000"/>
                </a:solidFill>
                <a:latin typeface="Times New Roman"/>
                <a:cs typeface="宋体"/>
              </a:rPr>
              <a:t>45</a:t>
            </a:r>
            <a:r>
              <a:rPr lang="zh-CN" altLang="zh-CN" sz="2400" b="1" dirty="0">
                <a:solidFill>
                  <a:srgbClr val="FFC000"/>
                </a:solidFill>
                <a:latin typeface="Times New Roman"/>
                <a:cs typeface="宋体"/>
              </a:rPr>
              <a:t>先算可以凑成整十（</a:t>
            </a:r>
            <a:r>
              <a:rPr lang="en-US" altLang="zh-CN" sz="2400" b="1" dirty="0">
                <a:solidFill>
                  <a:srgbClr val="FFC000"/>
                </a:solidFill>
                <a:latin typeface="Times New Roman"/>
                <a:cs typeface="宋体"/>
              </a:rPr>
              <a:t>50</a:t>
            </a:r>
            <a:r>
              <a:rPr lang="zh-CN" altLang="zh-CN" sz="2400" b="1" dirty="0">
                <a:solidFill>
                  <a:srgbClr val="FFC000"/>
                </a:solidFill>
                <a:latin typeface="Times New Roman"/>
                <a:cs typeface="宋体"/>
              </a:rPr>
              <a:t>），这样计算起来比较容易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解：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  37+5+45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b="1" dirty="0">
                <a:solidFill>
                  <a:srgbClr val="FFC000"/>
                </a:solidFill>
                <a:latin typeface="宋体"/>
                <a:cs typeface="宋体"/>
              </a:rPr>
              <a:t>    =37+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5+45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）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b="1" dirty="0">
                <a:solidFill>
                  <a:srgbClr val="FFC000"/>
                </a:solidFill>
                <a:latin typeface="宋体"/>
                <a:cs typeface="宋体"/>
              </a:rPr>
              <a:t>    =37+50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b="1" dirty="0">
                <a:solidFill>
                  <a:srgbClr val="FFC000"/>
                </a:solidFill>
                <a:latin typeface="宋体"/>
                <a:cs typeface="宋体"/>
              </a:rPr>
              <a:t>    =87</a:t>
            </a:r>
            <a:endParaRPr lang="zh-CN" altLang="zh-CN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187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94945" indent="-194945"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4400" b="1" dirty="0">
                <a:solidFill>
                  <a:srgbClr val="000000"/>
                </a:solidFill>
                <a:latin typeface="Times New Roman"/>
                <a:cs typeface="宋体"/>
              </a:rPr>
              <a:t>第</a:t>
            </a:r>
            <a:r>
              <a:rPr lang="en-US" altLang="zh-CN" sz="4400" b="1" dirty="0">
                <a:solidFill>
                  <a:srgbClr val="000000"/>
                </a:solidFill>
                <a:latin typeface="Times New Roman"/>
                <a:cs typeface="宋体"/>
              </a:rPr>
              <a:t>11</a:t>
            </a:r>
            <a:r>
              <a:rPr lang="zh-CN" altLang="zh-CN" sz="4400" b="1" dirty="0">
                <a:solidFill>
                  <a:srgbClr val="000000"/>
                </a:solidFill>
                <a:latin typeface="Times New Roman"/>
                <a:cs typeface="宋体"/>
              </a:rPr>
              <a:t>讲 凑整速算（一）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【专题简析】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</a:rPr>
              <a:t>同学们已经掌握了口算、笔算的基本方法，有时根据题目里几个数的特点，采用一些简便、快速的方法计算，不仅可以节省时间，还可以保证计算正确。这种练习可以训练思维的灵活性，提高计算能力。三个数相加减时为了使计算又快又准确，可以把相加能凑成整百、整十数算。注意：多加了要减，少加了要补；多减了要补，少减了再减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761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：用简便方法计算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1. 65+24+6                                 78+16+4 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2. 46+7+23                                 19+9+71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3. 38+46+2                                  54+68+46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279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【例题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2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】：计算：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32+25+8+5 </a:t>
            </a:r>
            <a:endParaRPr lang="zh-CN" altLang="zh-CN" sz="4000" b="1" dirty="0">
              <a:solidFill>
                <a:srgbClr val="000000"/>
              </a:solidFill>
              <a:latin typeface="Times New Roman"/>
            </a:endParaRPr>
          </a:p>
          <a:p>
            <a:pPr marL="113030" indent="-113030"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思路导航：这道题里是四个数连加，通过观察可以发现，如果把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32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8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相加就可以凑成整十（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40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）把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25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5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相加可以凑成整十（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30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），这样计算起来比较容易。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indent="152400">
              <a:lnSpc>
                <a:spcPct val="150000"/>
              </a:lnSpc>
            </a:pP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解：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  32+25+8+5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=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（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32+8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）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+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（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25+5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）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=40+30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=70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13030" indent="-113030">
              <a:lnSpc>
                <a:spcPct val="150000"/>
              </a:lnSpc>
            </a:pPr>
            <a:r>
              <a:rPr lang="en-US" altLang="zh-CN" b="1" dirty="0">
                <a:solidFill>
                  <a:srgbClr val="FFC000"/>
                </a:solidFill>
                <a:latin typeface="宋体"/>
                <a:cs typeface="宋体"/>
              </a:rPr>
              <a:t> 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056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：用简便方法计算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1. 7+24+33+16                          28+67+2+3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2. 19+35+21+5+7                       34+39+16+11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3. 16+27+14+13                         23+14+17+16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723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【例题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】：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182-23-37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182-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23+37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）的结果相等吗？哪一种计算比较简便？不简便的式子怎样改成简便计算</a:t>
            </a:r>
            <a:r>
              <a:rPr lang="zh-CN" altLang="zh-CN" dirty="0" smtClean="0">
                <a:solidFill>
                  <a:srgbClr val="000000"/>
                </a:solidFill>
                <a:latin typeface="Times New Roman"/>
                <a:cs typeface="宋体"/>
              </a:rPr>
              <a:t>？</a:t>
            </a:r>
            <a:endParaRPr lang="en-US" altLang="zh-CN" dirty="0" smtClean="0">
              <a:solidFill>
                <a:srgbClr val="000000"/>
              </a:solidFill>
              <a:latin typeface="Times New Roman"/>
              <a:cs typeface="宋体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Times New Roman"/>
                <a:cs typeface="宋体"/>
              </a:rPr>
              <a:t>           182-23-37                                                              182-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23+37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）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=159-37                                 =182-60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indent="30480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=122                                    =122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思路导航：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从上面的两个式子中，可以看出他们运算顺序不同，但结果是相等的，也就是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182-23-37=182-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（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23+37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）。比较两种计算方法，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23+37=60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，显然第二种比较简便，因此，从一个数中连续减去两个数，可以把减的两个数加起来，再从被减数中减去两个数的和，结果不变。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310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F3F3F3"/>
                </a:solidFill>
                <a:latin typeface="宋体"/>
                <a:cs typeface="宋体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用简便方法计算。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1. 94-51-19                             181-26-34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2. 128-64-36                            256-57-93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3. 249-117-83                           85-26-44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127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【例题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4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】计算：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39+39</a:t>
            </a:r>
            <a:endParaRPr lang="zh-CN" altLang="zh-CN" sz="4000" b="1" dirty="0">
              <a:solidFill>
                <a:srgbClr val="000000"/>
              </a:solidFill>
              <a:latin typeface="Times New Roman"/>
            </a:endParaRPr>
          </a:p>
          <a:p>
            <a:pPr marL="113030" indent="-113030"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思路导航：题中加数接近整十数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40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，所以这样想：两个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40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相加得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80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，最后把多加的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2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减去。也可以把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39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看成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38+1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，把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1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39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凑成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40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，然后再和</a:t>
            </a:r>
            <a:r>
              <a:rPr lang="en-US" altLang="zh-CN" b="1" dirty="0">
                <a:solidFill>
                  <a:srgbClr val="FFC000"/>
                </a:solidFill>
                <a:latin typeface="Times New Roman"/>
                <a:cs typeface="宋体"/>
              </a:rPr>
              <a:t>38</a:t>
            </a: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相加。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解：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 39+39                                    </a:t>
            </a:r>
            <a:r>
              <a:rPr lang="en-US" altLang="zh-CN" sz="4000" b="1" dirty="0" smtClean="0">
                <a:solidFill>
                  <a:srgbClr val="FFC000"/>
                </a:solidFill>
                <a:latin typeface="Times New Roman"/>
                <a:cs typeface="宋体"/>
              </a:rPr>
              <a:t>              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39+39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=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（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39+1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）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+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（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39+1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）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-2                     =38+1+39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=40+40-2                      </a:t>
            </a:r>
            <a:r>
              <a:rPr lang="en-US" altLang="zh-CN" sz="4000" b="1" dirty="0" smtClean="0">
                <a:solidFill>
                  <a:srgbClr val="FFC000"/>
                </a:solidFill>
                <a:latin typeface="宋体"/>
                <a:cs typeface="宋体"/>
              </a:rPr>
              <a:t>=</a:t>
            </a: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38+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（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1+39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）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=80-2                         </a:t>
            </a:r>
            <a:r>
              <a:rPr lang="en-US" altLang="zh-CN" sz="4000" b="1" dirty="0" smtClean="0">
                <a:solidFill>
                  <a:srgbClr val="FFC000"/>
                </a:solidFill>
                <a:latin typeface="宋体"/>
                <a:cs typeface="宋体"/>
              </a:rPr>
              <a:t>=</a:t>
            </a: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38+40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 =78                          </a:t>
            </a:r>
            <a:r>
              <a:rPr lang="en-US" altLang="zh-CN" sz="4000" b="1" dirty="0" smtClean="0">
                <a:solidFill>
                  <a:srgbClr val="FFC000"/>
                </a:solidFill>
                <a:latin typeface="宋体"/>
                <a:cs typeface="宋体"/>
              </a:rPr>
              <a:t> </a:t>
            </a: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=78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dirty="0">
                <a:solidFill>
                  <a:srgbClr val="F3F3F3"/>
                </a:solidFill>
                <a:latin typeface="宋体"/>
                <a:cs typeface="宋体"/>
              </a:rPr>
              <a:t> </a:t>
            </a:r>
            <a:endParaRPr lang="zh-CN" altLang="zh-CN" sz="4000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514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用简便方法计算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1. 59+59                               196+97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2. 37+37+37                           49+48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3. 39+49                               37+38+39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003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【例题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5</a:t>
            </a:r>
            <a:r>
              <a:rPr lang="zh-CN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】：计算</a:t>
            </a:r>
            <a:r>
              <a:rPr lang="en-US" altLang="zh-CN" sz="4000" dirty="0">
                <a:solidFill>
                  <a:srgbClr val="000000"/>
                </a:solidFill>
                <a:latin typeface="Times New Roman"/>
                <a:cs typeface="宋体"/>
              </a:rPr>
              <a:t>141-102</a:t>
            </a:r>
            <a:endParaRPr lang="zh-CN" altLang="zh-CN" sz="4000" b="1" dirty="0">
              <a:solidFill>
                <a:srgbClr val="000000"/>
              </a:solidFill>
              <a:latin typeface="Times New Roman"/>
            </a:endParaRPr>
          </a:p>
          <a:p>
            <a:pPr marL="113030" indent="-113030">
              <a:lnSpc>
                <a:spcPct val="150000"/>
              </a:lnSpc>
            </a:pPr>
            <a:r>
              <a:rPr lang="zh-CN" altLang="zh-CN" b="1" dirty="0">
                <a:solidFill>
                  <a:srgbClr val="FFC000"/>
                </a:solidFill>
                <a:latin typeface="Times New Roman"/>
                <a:cs typeface="宋体"/>
              </a:rPr>
              <a:t>思路导航：两个数相加、减，如果其中一个数接近整十或整百数，在计算时可以看作整十、整百数来进行计算，然后根据“多加要减，少加还要加；多减要加，少减还要减”的原理进行计算比较简便。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解：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 141-102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=141-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（</a:t>
            </a:r>
            <a:r>
              <a:rPr lang="en-US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100+2</a:t>
            </a:r>
            <a:r>
              <a:rPr lang="zh-CN" altLang="zh-CN" sz="4000" b="1" dirty="0">
                <a:solidFill>
                  <a:srgbClr val="FFC000"/>
                </a:solidFill>
                <a:latin typeface="Times New Roman"/>
                <a:cs typeface="宋体"/>
              </a:rPr>
              <a:t>）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=141-100-2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=41-2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pPr marL="129540" indent="-129540">
              <a:lnSpc>
                <a:spcPct val="150000"/>
              </a:lnSpc>
            </a:pPr>
            <a:r>
              <a:rPr lang="en-US" altLang="zh-CN" sz="4000" b="1" dirty="0">
                <a:solidFill>
                  <a:srgbClr val="FFC000"/>
                </a:solidFill>
                <a:latin typeface="宋体"/>
                <a:cs typeface="宋体"/>
              </a:rPr>
              <a:t>   =39</a:t>
            </a:r>
            <a:endParaRPr lang="zh-CN" altLang="zh-CN" sz="4000" b="1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828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>
              <a:lnSpc>
                <a:spcPct val="150000"/>
              </a:lnSpc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练习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：用简便方法计算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98+67                          176-96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cs typeface="宋体"/>
              </a:rPr>
              <a:t>．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cs typeface="宋体"/>
              </a:rPr>
              <a:t> 374+99                        623-98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3. 78+199                          1230-997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宋体"/>
                <a:cs typeface="宋体"/>
              </a:rPr>
              <a:t> </a:t>
            </a:r>
            <a:endParaRPr lang="zh-CN" altLang="zh-CN" b="1" dirty="0">
              <a:solidFill>
                <a:srgbClr val="000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03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12</a:t>
            </a:r>
            <a:r>
              <a:rPr lang="zh-CN" altLang="zh-CN" sz="4400" b="1" kern="100" dirty="0">
                <a:latin typeface="Times New Roman"/>
              </a:rPr>
              <a:t>讲 画图解题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，你喜欢小动物吗？每只动物都只有一个头，可腿的条数却有多有少。把不同的动物关在一个笼子里，告诉我们它们的头的个数和腿的条数，我们怎样知道笼子里的小动物各有几只呢？下面就向小朋友介绍一种“画图凑数法”，这种方法会给我们解答这类问题带来方便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用“画图凑数法”解这类问题时，先假设全部是腿数少的动物，这样所画的腿数一定比条件中说的腿数少，再根据两种动物腿数的差，用少的腿数除以腿数差，就得到腿数多的动物的只数。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727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鸡和兔在同一个笼子里，一共有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个头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条腿，你知道有几只鸡、几只兔吗？</a:t>
            </a:r>
            <a:endParaRPr lang="zh-CN" altLang="zh-CN" kern="100" dirty="0">
              <a:latin typeface="Times New Roman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思路导航：题中说一共有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个头，一定是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只小动物，用图表示如下：“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  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，给每个小动物画上两条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腿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        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。如果有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只鸡，只能有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条腿，比题目条件中的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条腿少了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条腿。又根据兔有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条腿，再给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个小动物添上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条腿，就有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个小动物是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了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               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条腿的是兔；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条腿的是鸡，从图中看出有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只兔，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只鸡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只鸡，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只兔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374" y="2780928"/>
            <a:ext cx="3333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999" y="2780928"/>
            <a:ext cx="3333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780928"/>
            <a:ext cx="3333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2597513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2614239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614240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111" y="4054485"/>
            <a:ext cx="3810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28" y="4044959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186" y="4035435"/>
            <a:ext cx="381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841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一只蛐蛐有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条腿，一只蜘蛛有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条腿，如果蛐蛐和蜘蛛共有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只，腿共有</a:t>
            </a:r>
            <a:r>
              <a:rPr lang="en-US" altLang="zh-CN" kern="100" dirty="0">
                <a:latin typeface="Times New Roman"/>
              </a:rPr>
              <a:t>22</a:t>
            </a:r>
            <a:r>
              <a:rPr lang="zh-CN" altLang="zh-CN" kern="100" dirty="0">
                <a:latin typeface="Times New Roman"/>
              </a:rPr>
              <a:t>条，你知道有几只蛐蛐、几只蜘蛛吗？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自行车和三轮车共有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辆，共有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个轮子，你知道有几辆自行车、几辆三轮车吗？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一只乌龟有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条腿，一只仙鹤有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条腿，如果乌龟和仙鹤共有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只，共有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条腿，你知道有几只乌龟，几只仙鹤吗？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47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4624"/>
            <a:ext cx="8229600" cy="608153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鸡兔同笼，共</a:t>
            </a:r>
            <a:r>
              <a:rPr lang="en-US" altLang="zh-CN" sz="4000" kern="100" dirty="0">
                <a:latin typeface="Times New Roman"/>
              </a:rPr>
              <a:t>10</a:t>
            </a:r>
            <a:r>
              <a:rPr lang="zh-CN" altLang="zh-CN" sz="4000" kern="100" dirty="0">
                <a:latin typeface="Times New Roman"/>
              </a:rPr>
              <a:t>个头、</a:t>
            </a:r>
            <a:r>
              <a:rPr lang="en-US" altLang="zh-CN" sz="4000" kern="100" dirty="0">
                <a:latin typeface="Times New Roman"/>
              </a:rPr>
              <a:t>26</a:t>
            </a:r>
            <a:r>
              <a:rPr lang="zh-CN" altLang="zh-CN" sz="4000" kern="100" dirty="0">
                <a:latin typeface="Times New Roman"/>
              </a:rPr>
              <a:t>条腿，笼里有几只鸡、几只兔？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导航：我们可以用“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kern="100" dirty="0" smtClean="0">
                <a:solidFill>
                  <a:srgbClr val="FFC000"/>
                </a:solidFill>
                <a:latin typeface="Times New Roman"/>
              </a:rPr>
              <a:t>        </a:t>
            </a:r>
            <a:r>
              <a:rPr lang="zh-CN" altLang="zh-CN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表示头，用“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/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”表示一条腿，先把它们全部看作是腿较少的动物，也就是全部画成鸡</a:t>
            </a:r>
            <a:r>
              <a:rPr lang="zh-CN" altLang="zh-CN" kern="100" dirty="0" smtClean="0">
                <a:solidFill>
                  <a:srgbClr val="FFC000"/>
                </a:solidFill>
                <a:latin typeface="Times New Roman"/>
              </a:rPr>
              <a:t>。</a:t>
            </a:r>
            <a:endParaRPr lang="en-US" altLang="zh-CN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从图中可以看出，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只鸡有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条腿，而条件中说共有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条腿，显然少画了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26-20=6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（条）。由于一只兔比一只鸡多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条腿，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2=3.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所以我们应该在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只鸡的图上再分别加上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条腿，使它们称为兔子的表示图</a:t>
            </a:r>
            <a:r>
              <a:rPr lang="zh-CN" altLang="zh-CN" kern="100" dirty="0" smtClean="0">
                <a:solidFill>
                  <a:srgbClr val="FFC000"/>
                </a:solidFill>
                <a:latin typeface="Times New Roman"/>
              </a:rPr>
              <a:t>。</a:t>
            </a:r>
            <a:endParaRPr lang="en-US" altLang="zh-CN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solidFill>
                <a:srgbClr val="FFC000"/>
              </a:solidFill>
              <a:latin typeface="Times New Roman"/>
            </a:endParaRPr>
          </a:p>
          <a:p>
            <a:pPr indent="7334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从图中可以看出，笼中有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只兔子，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只鸡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解：笼里有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只鸡，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只兔</a:t>
            </a:r>
            <a:endParaRPr lang="zh-CN" altLang="zh-CN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107" y="1700808"/>
            <a:ext cx="3333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887" y="2457723"/>
            <a:ext cx="61198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204442"/>
            <a:ext cx="61198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70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】蛐蛐和蜘蛛共</a:t>
            </a:r>
            <a:r>
              <a:rPr lang="en-US" altLang="zh-CN" sz="4000" kern="100" dirty="0">
                <a:latin typeface="Times New Roman"/>
              </a:rPr>
              <a:t>15</a:t>
            </a:r>
            <a:r>
              <a:rPr lang="zh-CN" altLang="zh-CN" sz="4000" kern="100" dirty="0">
                <a:latin typeface="Times New Roman"/>
              </a:rPr>
              <a:t>只，共有</a:t>
            </a:r>
            <a:r>
              <a:rPr lang="en-US" altLang="zh-CN" sz="4000" kern="100" dirty="0">
                <a:latin typeface="Times New Roman"/>
              </a:rPr>
              <a:t>100</a:t>
            </a:r>
            <a:r>
              <a:rPr lang="zh-CN" altLang="zh-CN" sz="4000" kern="100" dirty="0">
                <a:latin typeface="Times New Roman"/>
              </a:rPr>
              <a:t>条腿，蛐蛐和蜘蛛各有多少只？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思路导航：要解答这道题，必须先知道一只蛐蛐有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条腿，一只蜘蛛有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条腿。如果全是蛐蛐，则有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15=90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（条）腿，而题中说有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条腿，多出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100-90=10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（条）腿。一只蛐蛐比一只蜘蛛少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8-6=2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（条）腿，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里面有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2=5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（只），这个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也就是蜘蛛的只数。那么蛐蛐的只数有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15-5=10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（只）。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100-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（条）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8-6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15-5=10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答：蛐蛐有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只，蜘蛛有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只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338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蛐蛐和蜘蛛共有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只，共有</a:t>
            </a:r>
            <a:r>
              <a:rPr lang="en-US" altLang="zh-CN" kern="100" dirty="0">
                <a:latin typeface="Times New Roman"/>
              </a:rPr>
              <a:t>54</a:t>
            </a:r>
            <a:r>
              <a:rPr lang="zh-CN" altLang="zh-CN" kern="100" dirty="0">
                <a:latin typeface="Times New Roman"/>
              </a:rPr>
              <a:t>条腿，蛐蛐和蜘蛛各有几只？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螃蟹和甲鱼共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只，共有</a:t>
            </a:r>
            <a:r>
              <a:rPr lang="en-US" altLang="zh-CN" kern="100" dirty="0">
                <a:latin typeface="Times New Roman"/>
              </a:rPr>
              <a:t>64</a:t>
            </a:r>
            <a:r>
              <a:rPr lang="zh-CN" altLang="zh-CN" kern="100" dirty="0">
                <a:latin typeface="Times New Roman"/>
              </a:rPr>
              <a:t>条腿，它们各有多少只？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笼中有兔又有鸡，数数腿</a:t>
            </a:r>
            <a:r>
              <a:rPr lang="en-US" altLang="zh-CN" kern="100" dirty="0">
                <a:latin typeface="Times New Roman"/>
              </a:rPr>
              <a:t>36</a:t>
            </a:r>
            <a:r>
              <a:rPr lang="zh-CN" altLang="zh-CN" kern="100" dirty="0">
                <a:latin typeface="Times New Roman"/>
              </a:rPr>
              <a:t>条，数数脑袋</a:t>
            </a:r>
            <a:r>
              <a:rPr lang="en-US" altLang="zh-CN" kern="100" dirty="0">
                <a:latin typeface="Times New Roman"/>
              </a:rPr>
              <a:t>11</a:t>
            </a:r>
            <a:r>
              <a:rPr lang="zh-CN" altLang="zh-CN" kern="100" dirty="0">
                <a:latin typeface="Times New Roman"/>
              </a:rPr>
              <a:t>只，问有几只兔子几只鸡？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65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一辆自行车有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个轮子，一辆三轮车有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个轮子，车棚里放着自行车和三轮车共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辆，数数车轮共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个，问自行车有几辆？三轮车有几辆？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思路导航：车棚里的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辆车，如果全部是自行车，则有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12=24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（个）轮子，而题中说有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个轮子，显然多了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27-24=3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（个）轮子，而一辆三轮车比一辆自行车多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个轮子，多出的三个轮子里面有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，即三轮车有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3-2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（辆），自行车有：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12-3=9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（辆）。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27- 2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12=3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3-2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（辆）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12-3=9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（辆）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答：车棚里有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辆自行车，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辆三轮车。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107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1.</a:t>
            </a:r>
            <a:r>
              <a:rPr lang="zh-CN" altLang="zh-CN" kern="100" dirty="0">
                <a:latin typeface="Times New Roman"/>
              </a:rPr>
              <a:t>车棚里放着自行车和三轮车共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辆，数数车轮拱</a:t>
            </a:r>
            <a:r>
              <a:rPr lang="en-US" altLang="zh-CN" kern="100" dirty="0">
                <a:latin typeface="Times New Roman"/>
              </a:rPr>
              <a:t>26</a:t>
            </a:r>
            <a:r>
              <a:rPr lang="zh-CN" altLang="zh-CN" kern="100" dirty="0">
                <a:latin typeface="Times New Roman"/>
              </a:rPr>
              <a:t>个，问车棚里的自行车有几辆？三轮车有几辆？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993300"/>
                </a:solidFill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广场上停着三轮车和小汽车共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辆，数数车轮共有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个，问有几辆三轮车，几辆小汽车？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停车场停着大汽车和小汽车共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辆，大汽车有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个轮子，小汽车有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个轮子，现在两种汽车共有</a:t>
            </a:r>
            <a:r>
              <a:rPr lang="en-US" altLang="zh-CN" kern="100" dirty="0">
                <a:latin typeface="Times New Roman"/>
              </a:rPr>
              <a:t>72</a:t>
            </a:r>
            <a:r>
              <a:rPr lang="zh-CN" altLang="zh-CN" kern="100" dirty="0">
                <a:latin typeface="Times New Roman"/>
              </a:rPr>
              <a:t>个轮子，问大汽车和小汽车各有几辆？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657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小林共有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枚硬币，有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角和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角两种，它们合在一起共有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元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角。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角和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角的硬币各有几枚？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思路导航：如果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枚都是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角硬币，则小林只有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16=16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（角），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角，而事实上小林优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角，少：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-1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角。由于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角相差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5-1=4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（角），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角里有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4=7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（枚）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角，这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枚就是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角硬币，共有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枚硬币，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角的有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枚，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角的就是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16-7=9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（枚）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16=16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（角）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元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角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=44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角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44-16=28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（角）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 28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5-1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（枚）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16-7=9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（枚）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角硬币有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枚，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角硬币有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枚。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968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十元钱买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角邮票和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角邮票，共买</a:t>
            </a:r>
            <a:r>
              <a:rPr lang="en-US" altLang="zh-CN" kern="100" dirty="0">
                <a:latin typeface="Times New Roman"/>
              </a:rPr>
              <a:t>17</a:t>
            </a:r>
            <a:r>
              <a:rPr lang="zh-CN" altLang="zh-CN" kern="100" dirty="0">
                <a:latin typeface="Times New Roman"/>
              </a:rPr>
              <a:t>张，问两种邮票各多少张？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元的和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元的两种游艇票共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张，总钱数是</a:t>
            </a:r>
            <a:r>
              <a:rPr lang="en-US" altLang="zh-CN" kern="100" dirty="0">
                <a:latin typeface="Times New Roman"/>
              </a:rPr>
              <a:t>66</a:t>
            </a:r>
            <a:r>
              <a:rPr lang="zh-CN" altLang="zh-CN" kern="100" dirty="0">
                <a:latin typeface="Times New Roman"/>
              </a:rPr>
              <a:t>元，问每种游艇票各几张？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小白兔采蘑菇，晴天每天可以采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个，雨天每天可采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个。它一连采了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天，一共采了</a:t>
            </a:r>
            <a:r>
              <a:rPr lang="en-US" altLang="zh-CN" kern="100" dirty="0">
                <a:latin typeface="Times New Roman"/>
              </a:rPr>
              <a:t>112</a:t>
            </a:r>
            <a:r>
              <a:rPr lang="zh-CN" altLang="zh-CN" kern="100" dirty="0">
                <a:latin typeface="Times New Roman"/>
              </a:rPr>
              <a:t>个蘑菇。这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天中有几天是雨天？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131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13</a:t>
            </a:r>
            <a:r>
              <a:rPr lang="zh-CN" altLang="zh-CN" sz="4400" b="1" kern="100" dirty="0">
                <a:latin typeface="Times New Roman"/>
              </a:rPr>
              <a:t>讲 两步应用题（一）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我们已经会解答一步计算的应用题了，如果改变条件的说法，由直接告诉的条件变为需要计算才知道的条件，或者改变问题的问法，或者再添加一个条件，那么一步应用题就变成两步应用题了。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解答两步应用题时，先要找出条件和所求的问题，再根据已知的条件，找到隐藏的条件，最后解决题中的问题，两个量进行比较时，一定要弄清谁多谁少，是求多的数量，还是求少的数量，再确定正确的算法。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89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有两根绳子，一根长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米，另一根比它长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米，两根绳子共长多少米？</a:t>
            </a:r>
            <a:endParaRPr lang="zh-CN" altLang="zh-CN" sz="2400" kern="100" dirty="0">
              <a:latin typeface="Times New Roman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思路导航：由已知条件出发，可求出另一根绳长：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20+12=32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（米），再加上已知长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米的绳子，求出总长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20+12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=52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（米）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答：两根绳子共长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168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小明比妈妈小</a:t>
            </a:r>
            <a:r>
              <a:rPr lang="en-US" altLang="zh-CN" kern="100" dirty="0">
                <a:latin typeface="Times New Roman"/>
              </a:rPr>
              <a:t>26</a:t>
            </a:r>
            <a:r>
              <a:rPr lang="zh-CN" altLang="zh-CN" kern="100" dirty="0">
                <a:latin typeface="Times New Roman"/>
              </a:rPr>
              <a:t>岁，当妈妈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岁时，两人的年龄和是多少</a:t>
            </a:r>
            <a:r>
              <a:rPr lang="en-US" altLang="zh-CN" kern="100" dirty="0">
                <a:latin typeface="Times New Roman"/>
              </a:rPr>
              <a:t>?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果园里有梨树和苹果树，苹果树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棵，梨树比苹果树少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棵，果园里一共有多少棵树？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）班有男生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人，女生人数比男生多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人，二（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）班一共有多少人？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677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）班有</a:t>
            </a:r>
            <a:r>
              <a:rPr lang="en-US" altLang="zh-CN" kern="100" dirty="0">
                <a:latin typeface="Times New Roman"/>
              </a:rPr>
              <a:t>59</a:t>
            </a:r>
            <a:r>
              <a:rPr lang="zh-CN" altLang="zh-CN" kern="100" dirty="0">
                <a:latin typeface="Times New Roman"/>
              </a:rPr>
              <a:t>个同学，二（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）班有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个女生，</a:t>
            </a:r>
            <a:r>
              <a:rPr lang="en-US" altLang="zh-CN" kern="100" dirty="0">
                <a:latin typeface="Times New Roman"/>
              </a:rPr>
              <a:t>26</a:t>
            </a:r>
            <a:r>
              <a:rPr lang="zh-CN" altLang="zh-CN" kern="100" dirty="0">
                <a:latin typeface="Times New Roman"/>
              </a:rPr>
              <a:t>个男生，二（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）班比二（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）班多几个同学？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）班女生有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个，男生有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个，可以求出二（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）班一共有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25+26=51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（个）同学，而二（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）班 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个同学，二（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）班有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个同学，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59-51=8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（个），这就是二（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）班比二（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）班多的同学的个数。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59-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25+26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=59-51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=8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答：二（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）班比二（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）班多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个同学。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556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739140" algn="l"/>
              </a:tabLs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	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百货商店第一天卖出童鞋</a:t>
            </a:r>
            <a:r>
              <a:rPr lang="en-US" altLang="zh-CN" kern="100" dirty="0">
                <a:latin typeface="Times New Roman"/>
              </a:rPr>
              <a:t>84</a:t>
            </a:r>
            <a:r>
              <a:rPr lang="zh-CN" altLang="zh-CN" kern="100" dirty="0">
                <a:latin typeface="Times New Roman"/>
              </a:rPr>
              <a:t>双，第二天上午卖了</a:t>
            </a:r>
            <a:r>
              <a:rPr lang="en-US" altLang="zh-CN" kern="100" dirty="0">
                <a:latin typeface="Times New Roman"/>
              </a:rPr>
              <a:t>46</a:t>
            </a:r>
            <a:r>
              <a:rPr lang="zh-CN" altLang="zh-CN" kern="100" dirty="0">
                <a:latin typeface="Times New Roman"/>
              </a:rPr>
              <a:t>双，下午卖了</a:t>
            </a:r>
            <a:r>
              <a:rPr lang="en-US" altLang="zh-CN" kern="100" dirty="0">
                <a:latin typeface="Times New Roman"/>
              </a:rPr>
              <a:t>54</a:t>
            </a:r>
            <a:r>
              <a:rPr lang="zh-CN" altLang="zh-CN" kern="100" dirty="0">
                <a:latin typeface="Times New Roman"/>
              </a:rPr>
              <a:t>双，第二天比第一天多卖多少双？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玩具店第一天卖出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把枪，第二天卖出长枪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把，短枪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把，问第一天比第二天多卖几把？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某市五月份用电</a:t>
            </a:r>
            <a:r>
              <a:rPr lang="en-US" altLang="zh-CN" kern="100" dirty="0">
                <a:latin typeface="Times New Roman"/>
              </a:rPr>
              <a:t>1530</a:t>
            </a:r>
            <a:r>
              <a:rPr lang="zh-CN" altLang="zh-CN" kern="100" dirty="0">
                <a:latin typeface="Times New Roman"/>
              </a:rPr>
              <a:t>度，六月份上半月用电</a:t>
            </a:r>
            <a:r>
              <a:rPr lang="en-US" altLang="zh-CN" kern="100" dirty="0">
                <a:latin typeface="Times New Roman"/>
              </a:rPr>
              <a:t>780</a:t>
            </a:r>
            <a:r>
              <a:rPr lang="zh-CN" altLang="zh-CN" kern="100" dirty="0">
                <a:latin typeface="Times New Roman"/>
              </a:rPr>
              <a:t>度，下半月用电</a:t>
            </a:r>
            <a:r>
              <a:rPr lang="en-US" altLang="zh-CN" kern="100" dirty="0">
                <a:latin typeface="Times New Roman"/>
              </a:rPr>
              <a:t>660</a:t>
            </a:r>
            <a:r>
              <a:rPr lang="zh-CN" altLang="zh-CN" kern="100" dirty="0">
                <a:latin typeface="Times New Roman"/>
              </a:rPr>
              <a:t>度，五月份比六月份多用多少度电？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555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】学校体育室放有</a:t>
            </a:r>
            <a:r>
              <a:rPr lang="en-US" altLang="zh-CN" sz="4000" kern="100" dirty="0">
                <a:latin typeface="Times New Roman"/>
              </a:rPr>
              <a:t>40</a:t>
            </a:r>
            <a:r>
              <a:rPr lang="zh-CN" altLang="zh-CN" sz="4000" kern="100" dirty="0">
                <a:latin typeface="Times New Roman"/>
              </a:rPr>
              <a:t>个足球，二（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）班借走了</a:t>
            </a:r>
            <a:r>
              <a:rPr lang="en-US" altLang="zh-CN" sz="4000" kern="100" dirty="0">
                <a:latin typeface="Times New Roman"/>
              </a:rPr>
              <a:t>26</a:t>
            </a:r>
            <a:r>
              <a:rPr lang="zh-CN" altLang="zh-CN" sz="4000" kern="100" dirty="0">
                <a:latin typeface="Times New Roman"/>
              </a:rPr>
              <a:t>个，二（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）班又还来</a:t>
            </a:r>
            <a:r>
              <a:rPr lang="en-US" altLang="zh-CN" sz="4000" kern="100" dirty="0">
                <a:latin typeface="Times New Roman"/>
              </a:rPr>
              <a:t>30</a:t>
            </a:r>
            <a:r>
              <a:rPr lang="zh-CN" altLang="zh-CN" sz="4000" kern="100" dirty="0">
                <a:latin typeface="Times New Roman"/>
              </a:rPr>
              <a:t>个，现在有多少个足球？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思路导航：要求现在有多少个足球，可以先求出学校原来放有足球与又还来足球的总个数，再减去借走的个数；也可以先求出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个足球借走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个后还剩下的个数，再加上又还回来的个数。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解：方法一：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40+30-26=44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方法二：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40-26+30=44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答：现在有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个足球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855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李叔叔从家里的树上摘了</a:t>
            </a:r>
            <a:r>
              <a:rPr lang="en-US" altLang="zh-CN" kern="100" dirty="0">
                <a:latin typeface="Times New Roman"/>
              </a:rPr>
              <a:t>53</a:t>
            </a:r>
            <a:r>
              <a:rPr lang="zh-CN" altLang="zh-CN" kern="100" dirty="0">
                <a:latin typeface="Times New Roman"/>
              </a:rPr>
              <a:t>个橘子，吃了</a:t>
            </a:r>
            <a:r>
              <a:rPr lang="en-US" altLang="zh-CN" kern="100" dirty="0">
                <a:latin typeface="Times New Roman"/>
              </a:rPr>
              <a:t>35</a:t>
            </a:r>
            <a:r>
              <a:rPr lang="zh-CN" altLang="zh-CN" kern="100" dirty="0">
                <a:latin typeface="Times New Roman"/>
              </a:rPr>
              <a:t>个，又摘了</a:t>
            </a:r>
            <a:r>
              <a:rPr lang="en-US" altLang="zh-CN" kern="100" dirty="0">
                <a:latin typeface="Times New Roman"/>
              </a:rPr>
              <a:t>28</a:t>
            </a:r>
            <a:r>
              <a:rPr lang="zh-CN" altLang="zh-CN" kern="100" dirty="0">
                <a:latin typeface="Times New Roman"/>
              </a:rPr>
              <a:t>个，李叔叔家里现在有多少个橘子？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）班的图书角有</a:t>
            </a:r>
            <a:r>
              <a:rPr lang="en-US" altLang="zh-CN" kern="100" dirty="0">
                <a:latin typeface="Times New Roman"/>
              </a:rPr>
              <a:t>70</a:t>
            </a:r>
            <a:r>
              <a:rPr lang="zh-CN" altLang="zh-CN" kern="100" dirty="0">
                <a:latin typeface="Times New Roman"/>
              </a:rPr>
              <a:t>本书，同学们又从家里带来了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本，在学雷锋活动中送给贫困地区小朋友</a:t>
            </a:r>
            <a:r>
              <a:rPr lang="en-US" altLang="zh-CN" kern="100" dirty="0">
                <a:latin typeface="Times New Roman"/>
              </a:rPr>
              <a:t>56</a:t>
            </a:r>
            <a:r>
              <a:rPr lang="zh-CN" altLang="zh-CN" kern="100" dirty="0">
                <a:latin typeface="Times New Roman"/>
              </a:rPr>
              <a:t>本。现在图书角还有多少本书？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超市里有一批水果，卖出</a:t>
            </a:r>
            <a:r>
              <a:rPr lang="en-US" altLang="zh-CN" kern="100" dirty="0">
                <a:latin typeface="Times New Roman"/>
              </a:rPr>
              <a:t>26</a:t>
            </a:r>
            <a:r>
              <a:rPr lang="zh-CN" altLang="zh-CN" kern="100" dirty="0">
                <a:latin typeface="Times New Roman"/>
              </a:rPr>
              <a:t>箱后，又运来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箱，现在超市里有</a:t>
            </a:r>
            <a:r>
              <a:rPr lang="en-US" altLang="zh-CN" kern="100" dirty="0">
                <a:latin typeface="Times New Roman"/>
              </a:rPr>
              <a:t>85</a:t>
            </a:r>
            <a:r>
              <a:rPr lang="zh-CN" altLang="zh-CN" kern="100" dirty="0">
                <a:latin typeface="Times New Roman"/>
              </a:rPr>
              <a:t>箱水果。超市里原来有多少箱水果？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946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 </a:t>
            </a:r>
            <a:r>
              <a:rPr lang="zh-CN" altLang="zh-CN" kern="100" dirty="0">
                <a:latin typeface="Times New Roman"/>
              </a:rPr>
              <a:t>二年级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个班的同学乘坐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辆汽车去春游，每辆车坐</a:t>
            </a:r>
            <a:r>
              <a:rPr lang="en-US" altLang="zh-CN" kern="100" dirty="0">
                <a:latin typeface="Times New Roman"/>
              </a:rPr>
              <a:t>63</a:t>
            </a:r>
            <a:r>
              <a:rPr lang="zh-CN" altLang="zh-CN" kern="100" dirty="0">
                <a:latin typeface="Times New Roman"/>
              </a:rPr>
              <a:t>人，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个班的男生共有</a:t>
            </a:r>
            <a:r>
              <a:rPr lang="en-US" altLang="zh-CN" kern="100" dirty="0">
                <a:latin typeface="Times New Roman"/>
              </a:rPr>
              <a:t>96</a:t>
            </a:r>
            <a:r>
              <a:rPr lang="zh-CN" altLang="zh-CN" kern="100" dirty="0">
                <a:latin typeface="Times New Roman"/>
              </a:rPr>
              <a:t>人，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个班的女生有多少人？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思路导航：要求女生共有多少人，必须知道一共有多少人，根据“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个班的同学坐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辆汽车去春游，每辆车坐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人”，可以求出一共有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3=189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（人），用总人数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-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男生人数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女生人数。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3=189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189-96=93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个班的女生有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272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1.</a:t>
            </a:r>
            <a:r>
              <a:rPr lang="zh-CN" altLang="zh-CN" kern="100" dirty="0">
                <a:latin typeface="Times New Roman"/>
              </a:rPr>
              <a:t>果园里有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行梨树，每行</a:t>
            </a:r>
            <a:r>
              <a:rPr lang="en-US" altLang="zh-CN" kern="100" dirty="0">
                <a:latin typeface="Times New Roman"/>
              </a:rPr>
              <a:t>39</a:t>
            </a:r>
            <a:r>
              <a:rPr lang="zh-CN" altLang="zh-CN" kern="100" dirty="0">
                <a:latin typeface="Times New Roman"/>
              </a:rPr>
              <a:t>棵，杏树比梨树少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棵，杏树有多少棵？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小朋友参加植树活动，分成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组，每组植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棵，其中女生植了</a:t>
            </a:r>
            <a:r>
              <a:rPr lang="en-US" altLang="zh-CN" kern="100" dirty="0">
                <a:latin typeface="Times New Roman"/>
              </a:rPr>
              <a:t>35</a:t>
            </a:r>
            <a:r>
              <a:rPr lang="zh-CN" altLang="zh-CN" kern="100" dirty="0">
                <a:latin typeface="Times New Roman"/>
              </a:rPr>
              <a:t>棵，问男生植树多少棵？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喜羊羊带着伙伴们去植树，种了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行，每行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棵，还剩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棵，一共有多少棵树？如果种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行，每行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棵，还少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棵，一共有多少棵树？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229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一桶油连桶重</a:t>
            </a:r>
            <a:r>
              <a:rPr lang="en-US" altLang="zh-CN" sz="4000" kern="100" dirty="0">
                <a:latin typeface="Times New Roman"/>
              </a:rPr>
              <a:t>15</a:t>
            </a:r>
            <a:r>
              <a:rPr lang="zh-CN" altLang="zh-CN" sz="4000" kern="100" dirty="0">
                <a:latin typeface="Times New Roman"/>
              </a:rPr>
              <a:t>千克，吃了一半油以后，连桶重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千克。吃掉了多少千克油？满桶油重多少千克？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思路导航：油和桶共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千克，吃去一半后，油和桶共重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千克，也就是把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千克分了两部分，一部分是吃去的一半油，另一部分是剩下的油和桶共重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千克，从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千克里拿掉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千克，剩下的应该是一半的油，即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15-8=7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（千克），半桶油重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千克，满桶油就能求出来了。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15-8=7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（千克）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 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2=14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（千克）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答：吃掉了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千克油，满桶油重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千克。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一桶水连桶重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千克，用去一半后，连桶重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千克，用去多少千克水？满桶水重多少千克？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一筐苹果连筐重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千克，吃掉一半苹果后，连筐重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千克，筐重多少千克</a:t>
            </a:r>
            <a:r>
              <a:rPr lang="en-US" altLang="zh-CN" kern="100" dirty="0">
                <a:latin typeface="Times New Roman"/>
              </a:rPr>
              <a:t>?</a:t>
            </a:r>
            <a:r>
              <a:rPr lang="zh-CN" altLang="zh-CN" kern="100" dirty="0">
                <a:latin typeface="Times New Roman"/>
              </a:rPr>
              <a:t>还剩多少千克苹果？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王奶奶拿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千克的纸箱去装枣，装满一箱枣后共有</a:t>
            </a:r>
            <a:r>
              <a:rPr lang="en-US" altLang="zh-CN" kern="100" dirty="0">
                <a:latin typeface="Times New Roman"/>
              </a:rPr>
              <a:t>11</a:t>
            </a:r>
            <a:r>
              <a:rPr lang="zh-CN" altLang="zh-CN" kern="100" dirty="0">
                <a:latin typeface="Times New Roman"/>
              </a:rPr>
              <a:t>千克，现在王奶奶要把买来的枣分给李阿姨一半，王奶奶应分给李阿姨几千克枣？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97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14</a:t>
            </a:r>
            <a:r>
              <a:rPr lang="zh-CN" altLang="zh-CN" sz="4400" b="1" kern="100" dirty="0">
                <a:latin typeface="Times New Roman"/>
              </a:rPr>
              <a:t>讲 猜猜年龄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【专题简析】</a:t>
            </a:r>
            <a:endParaRPr lang="zh-CN" altLang="zh-CN" sz="2400" kern="100" dirty="0"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小朋友，今年你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岁，明年你几岁？妈妈今年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岁，比你大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岁，明年妈妈比你大多少岁呢？这一讲我们就讨论和年龄有关的数学问题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在解答年龄问题时，要记住：每过一年，每人年龄都要长大一岁。今年两人差几岁，再过几年两人还差几岁，这个差是不会变的。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356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爷爷今年</a:t>
            </a:r>
            <a:r>
              <a:rPr lang="en-US" altLang="zh-CN" sz="4000" kern="100" dirty="0">
                <a:latin typeface="Times New Roman"/>
              </a:rPr>
              <a:t>65</a:t>
            </a:r>
            <a:r>
              <a:rPr lang="zh-CN" altLang="zh-CN" sz="4000" kern="100" dirty="0">
                <a:latin typeface="Times New Roman"/>
              </a:rPr>
              <a:t>岁，小明今年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岁，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年以后，爷爷比小明大几岁？</a:t>
            </a:r>
            <a:endParaRPr lang="zh-CN" altLang="zh-CN" kern="100" dirty="0">
              <a:latin typeface="Times New Roman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思路导航：根据题意：“爷爷今年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岁，小明今年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岁”，可以得出爷爷今年比小明大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65-8=57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（岁），因为每过一年，小明和爷爷的年龄都会增长一岁，而爷爷和小明的年龄差总是不变的，所以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年以后，爷爷比小明还是大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65-8=57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（岁）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年以后，爷爷比小明大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91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妈妈今年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岁，小兵今年</a:t>
            </a:r>
            <a:r>
              <a:rPr lang="en-US" altLang="zh-CN" kern="100" dirty="0">
                <a:latin typeface="Times New Roman"/>
              </a:rPr>
              <a:t>13</a:t>
            </a:r>
            <a:r>
              <a:rPr lang="zh-CN" altLang="zh-CN" kern="100" dirty="0">
                <a:latin typeface="Times New Roman"/>
              </a:rPr>
              <a:t>岁，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年以后，小兵比妈妈小几岁</a:t>
            </a:r>
            <a:r>
              <a:rPr lang="en-US" altLang="zh-CN" kern="100" dirty="0">
                <a:latin typeface="Times New Roman"/>
              </a:rPr>
              <a:t>?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有甲、乙两个纸盒，甲盒中有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个乒乓球，乙盒中有</a:t>
            </a:r>
            <a:r>
              <a:rPr lang="en-US" altLang="zh-CN" kern="100" dirty="0">
                <a:latin typeface="Times New Roman"/>
              </a:rPr>
              <a:t>27</a:t>
            </a:r>
            <a:r>
              <a:rPr lang="zh-CN" altLang="zh-CN" kern="100" dirty="0">
                <a:latin typeface="Times New Roman"/>
              </a:rPr>
              <a:t>个乒乓球，现在从两个盒子里都拿走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个乒乓球，甲盒中剩下的乒乓球比乙盒中的多几个？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r>
              <a:rPr lang="en-US" altLang="zh-CN" kern="100" dirty="0">
                <a:latin typeface="宋体"/>
                <a:cs typeface="Times New Roman"/>
              </a:rPr>
              <a:t>3.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  <a:cs typeface="Times New Roman"/>
              </a:rPr>
              <a:t>年前，爷爷</a:t>
            </a:r>
            <a:r>
              <a:rPr lang="en-US" altLang="zh-CN" kern="100" dirty="0">
                <a:latin typeface="Times New Roman"/>
              </a:rPr>
              <a:t>62</a:t>
            </a:r>
            <a:r>
              <a:rPr lang="zh-CN" altLang="zh-CN" kern="100" dirty="0">
                <a:latin typeface="Times New Roman"/>
                <a:cs typeface="Times New Roman"/>
              </a:rPr>
              <a:t>岁，小冬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  <a:cs typeface="Times New Roman"/>
              </a:rPr>
              <a:t>岁，今年爷爷比小冬大多少岁？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112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小华今年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岁，她比爸爸小</a:t>
            </a:r>
            <a:r>
              <a:rPr lang="en-US" altLang="zh-CN" sz="4000" kern="100" dirty="0">
                <a:latin typeface="Times New Roman"/>
              </a:rPr>
              <a:t>27</a:t>
            </a:r>
            <a:r>
              <a:rPr lang="zh-CN" altLang="zh-CN" sz="4000" kern="100" dirty="0">
                <a:latin typeface="Times New Roman"/>
              </a:rPr>
              <a:t>岁，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年前爸爸多少岁？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年后爸爸多少岁？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思路导航：根据题意可以求出爸爸今年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27+8=35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（岁），那么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年前，爸爸的年龄就为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35-5=30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（岁），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年后，爸爸的年龄就为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35+5=40(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)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27+8=35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（岁）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25-5=30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（岁）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35+5=40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（岁）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年前爸爸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岁，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年后爸爸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岁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231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小宝宝今年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岁，她比妈妈小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岁，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年前妈妈多少岁？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年后妈妈多少岁？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爸爸今年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岁，小红比爸爸小</a:t>
            </a:r>
            <a:r>
              <a:rPr lang="en-US" altLang="zh-CN" kern="100" dirty="0">
                <a:latin typeface="Times New Roman"/>
              </a:rPr>
              <a:t>26</a:t>
            </a:r>
            <a:r>
              <a:rPr lang="zh-CN" altLang="zh-CN" kern="100" dirty="0">
                <a:latin typeface="Times New Roman"/>
              </a:rPr>
              <a:t>岁，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年后小红几岁？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年前小红几岁？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女儿今年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岁，比妈妈小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岁，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年前妈妈比女儿大几岁？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年后妈妈几岁？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900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】慢羊羊村长今年</a:t>
            </a:r>
            <a:r>
              <a:rPr lang="en-US" altLang="zh-CN" sz="4000" kern="100" dirty="0">
                <a:latin typeface="Times New Roman"/>
              </a:rPr>
              <a:t>60</a:t>
            </a:r>
            <a:r>
              <a:rPr lang="zh-CN" altLang="zh-CN" sz="4000" kern="100" dirty="0">
                <a:latin typeface="Times New Roman"/>
              </a:rPr>
              <a:t>岁，懒羊羊今年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岁，再过几年他们的年龄和为</a:t>
            </a:r>
            <a:r>
              <a:rPr lang="en-US" altLang="zh-CN" sz="4000" kern="100" dirty="0">
                <a:latin typeface="Times New Roman"/>
              </a:rPr>
              <a:t>88</a:t>
            </a:r>
            <a:r>
              <a:rPr lang="zh-CN" altLang="zh-CN" sz="4000" kern="100" dirty="0">
                <a:latin typeface="Times New Roman"/>
              </a:rPr>
              <a:t>岁？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思路导航：每年慢羊羊和懒羊羊都长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岁，两人的年龄和就多了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岁。我们先求出今年慢羊羊村长和懒羊羊的年龄和与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相差多少，再除以人数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，就能求出再过几年他们的年龄和为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岁。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60+6=66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（岁）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88-66=22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（岁）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22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2=11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（年） 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答：再过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年他们的年龄和为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562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小红今年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岁，妈妈今年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岁，再过几年两人的年龄和为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岁？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乐乐今年</a:t>
            </a:r>
            <a:r>
              <a:rPr lang="en-US" altLang="zh-CN" kern="100" dirty="0">
                <a:latin typeface="Times New Roman"/>
              </a:rPr>
              <a:t>11</a:t>
            </a:r>
            <a:r>
              <a:rPr lang="zh-CN" altLang="zh-CN" kern="100" dirty="0">
                <a:latin typeface="Times New Roman"/>
              </a:rPr>
              <a:t>岁，爸爸今年</a:t>
            </a:r>
            <a:r>
              <a:rPr lang="en-US" altLang="zh-CN" kern="100" dirty="0">
                <a:latin typeface="Times New Roman"/>
              </a:rPr>
              <a:t>39</a:t>
            </a:r>
            <a:r>
              <a:rPr lang="zh-CN" altLang="zh-CN" kern="100" dirty="0">
                <a:latin typeface="Times New Roman"/>
              </a:rPr>
              <a:t>岁，妈妈今年</a:t>
            </a:r>
            <a:r>
              <a:rPr lang="en-US" altLang="zh-CN" kern="100" dirty="0">
                <a:latin typeface="Times New Roman"/>
              </a:rPr>
              <a:t>38</a:t>
            </a:r>
            <a:r>
              <a:rPr lang="zh-CN" altLang="zh-CN" kern="100" dirty="0">
                <a:latin typeface="Times New Roman"/>
              </a:rPr>
              <a:t>岁，再过几年她们一家人的年龄和为</a:t>
            </a:r>
            <a:r>
              <a:rPr lang="en-US" altLang="zh-CN" kern="100" dirty="0">
                <a:latin typeface="Times New Roman"/>
              </a:rPr>
              <a:t>100</a:t>
            </a:r>
            <a:r>
              <a:rPr lang="zh-CN" altLang="zh-CN" kern="100" dirty="0">
                <a:latin typeface="Times New Roman"/>
              </a:rPr>
              <a:t>岁？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舞蹈兴趣小组有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个小朋友，年龄和是</a:t>
            </a:r>
            <a:r>
              <a:rPr lang="en-US" altLang="zh-CN" kern="100" dirty="0">
                <a:latin typeface="Times New Roman"/>
              </a:rPr>
              <a:t>80</a:t>
            </a:r>
            <a:r>
              <a:rPr lang="zh-CN" altLang="zh-CN" kern="100" dirty="0">
                <a:latin typeface="Times New Roman"/>
              </a:rPr>
              <a:t>岁，再过几年她们的年龄和为</a:t>
            </a:r>
            <a:r>
              <a:rPr lang="en-US" altLang="zh-CN" kern="100" dirty="0">
                <a:latin typeface="Times New Roman"/>
              </a:rPr>
              <a:t>110</a:t>
            </a:r>
            <a:r>
              <a:rPr lang="zh-CN" altLang="zh-CN" kern="100" dirty="0">
                <a:latin typeface="Times New Roman"/>
              </a:rPr>
              <a:t>岁？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159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 </a:t>
            </a:r>
            <a:r>
              <a:rPr lang="zh-CN" altLang="zh-CN" sz="4000" kern="100" dirty="0">
                <a:latin typeface="Times New Roman"/>
              </a:rPr>
              <a:t>伟伟今年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岁，爸爸今年</a:t>
            </a:r>
            <a:r>
              <a:rPr lang="en-US" altLang="zh-CN" sz="4000" kern="100" dirty="0">
                <a:latin typeface="Times New Roman"/>
              </a:rPr>
              <a:t>32</a:t>
            </a:r>
            <a:r>
              <a:rPr lang="zh-CN" altLang="zh-CN" sz="4000" kern="100" dirty="0">
                <a:latin typeface="Times New Roman"/>
              </a:rPr>
              <a:t>岁，几年后爸爸的岁数是伟伟的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倍？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思路导航：爸爸今年的年龄是伟伟的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倍（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8=4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），我们可以利用列表尝试的办法来推算，把伟伟和爸爸的岁数逐步增加同样的岁数，直到爸爸的岁数是伟伟的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倍为止，从而算出是几年后。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解：列表推算如下：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伟伟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     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爸爸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———————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———————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33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———————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34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———————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———————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36              36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12=3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12-8=4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36-32=4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年后爸爸的岁数是伟伟的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倍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97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1.</a:t>
            </a:r>
            <a:r>
              <a:rPr lang="zh-CN" altLang="zh-CN" kern="100" dirty="0">
                <a:latin typeface="Times New Roman"/>
              </a:rPr>
              <a:t>妈妈今年</a:t>
            </a:r>
            <a:r>
              <a:rPr lang="en-US" altLang="zh-CN" kern="100" dirty="0">
                <a:latin typeface="Times New Roman"/>
              </a:rPr>
              <a:t>38</a:t>
            </a:r>
            <a:r>
              <a:rPr lang="zh-CN" altLang="zh-CN" kern="100" dirty="0">
                <a:latin typeface="Times New Roman"/>
              </a:rPr>
              <a:t>岁，小刚今年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岁，几年前妈妈的年龄是小刚的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倍？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今年妹妹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岁，姐姐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岁，几年前姐姐的年龄是妹妹的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倍？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小华今年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岁，小冬今年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岁，小华年龄是小冬年龄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倍的那一年，他们的年龄和是多少？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59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604867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爸爸、妈妈、小敏三人的年龄总和是</a:t>
            </a:r>
            <a:r>
              <a:rPr lang="en-US" altLang="zh-CN" kern="100" dirty="0">
                <a:latin typeface="Times New Roman"/>
              </a:rPr>
              <a:t>73</a:t>
            </a:r>
            <a:r>
              <a:rPr lang="zh-CN" altLang="zh-CN" kern="100" dirty="0">
                <a:latin typeface="Times New Roman"/>
              </a:rPr>
              <a:t>岁，爸爸比妈妈大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岁，小敏比妈妈小</a:t>
            </a:r>
            <a:r>
              <a:rPr lang="en-US" altLang="zh-CN" kern="100" dirty="0">
                <a:latin typeface="Times New Roman"/>
              </a:rPr>
              <a:t>23</a:t>
            </a:r>
            <a:r>
              <a:rPr lang="zh-CN" altLang="zh-CN" kern="100" dirty="0">
                <a:latin typeface="Times New Roman"/>
              </a:rPr>
              <a:t>岁，小敏今年多少岁？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思路导航：依据题意，可先画出表示小敏年龄的线段，再画出表示爸爸、妈妈年龄的线段</a:t>
            </a:r>
            <a:r>
              <a:rPr lang="zh-CN" altLang="zh-CN" sz="2400" b="1" kern="100" dirty="0" smtClean="0">
                <a:solidFill>
                  <a:srgbClr val="FFC000"/>
                </a:solidFill>
                <a:latin typeface="Times New Roman"/>
              </a:rPr>
              <a:t>。</a:t>
            </a:r>
            <a:endParaRPr lang="en-US" altLang="zh-CN" sz="2400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由图可知，爸爸比小明大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岁，用三人的年龄总和减去妈妈比小敏大的岁数和爸爸比小敏大的岁数，就能算出小敏年龄的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倍是多少，再除以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，就能求出小敏今年的岁数了。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23+3=26(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)      73-23-26=24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（岁）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3=8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（岁）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答：小敏今年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岁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420888"/>
            <a:ext cx="400050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814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小象今年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岁，它的妈妈</a:t>
            </a:r>
            <a:r>
              <a:rPr lang="en-US" altLang="zh-CN" kern="100" dirty="0">
                <a:latin typeface="Times New Roman"/>
              </a:rPr>
              <a:t>28</a:t>
            </a:r>
            <a:r>
              <a:rPr lang="zh-CN" altLang="zh-CN" kern="100" dirty="0">
                <a:latin typeface="Times New Roman"/>
              </a:rPr>
              <a:t>岁，小象问妈妈什么时候我能长到你那么大个子？妈妈告诉它，等你和我的年龄之和是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岁时，你的个子就长大了。小象还要等几年才能长大？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小乐、小佳和小云的年龄之和是</a:t>
            </a:r>
            <a:r>
              <a:rPr lang="en-US" altLang="zh-CN" kern="100" dirty="0">
                <a:latin typeface="Times New Roman"/>
              </a:rPr>
              <a:t>37</a:t>
            </a:r>
            <a:r>
              <a:rPr lang="zh-CN" altLang="zh-CN" kern="100" dirty="0">
                <a:latin typeface="Times New Roman"/>
              </a:rPr>
              <a:t>岁，小佳比小乐大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岁，小云比小佳大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岁，小乐、小佳和小云各是多少岁？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明明、小龙、大龙三人的年龄之和是</a:t>
            </a:r>
            <a:r>
              <a:rPr lang="en-US" altLang="zh-CN" kern="100" dirty="0">
                <a:latin typeface="Times New Roman"/>
              </a:rPr>
              <a:t>32</a:t>
            </a:r>
            <a:r>
              <a:rPr lang="zh-CN" altLang="zh-CN" kern="100" dirty="0">
                <a:latin typeface="Times New Roman"/>
              </a:rPr>
              <a:t>岁，明明比大龙大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岁，明明的年龄是小龙的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倍，问三人的年龄各是几岁？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40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15</a:t>
            </a:r>
            <a:r>
              <a:rPr lang="zh-CN" altLang="zh-CN" sz="4400" b="1" kern="100" dirty="0">
                <a:latin typeface="Times New Roman"/>
              </a:rPr>
              <a:t>讲 植树问题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植树的学问真不少，这里面有许多有趣的问题，做这类题目要多动脑筋，弄清题意，理解树的棵数与间隔数的关系，掌握植树的解题方法，问题就迎刃而解了。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植树的问题，应该注意如果起点和终点都植树，树的棵数比间隔数多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，如果起点和终点不植树，树的棵数比间隔数少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，在解答这类应用题时，应该看清楚题目要求，然后根据棵数与间隔数的关系，结合已知条件，就能找到解决问题的方法了。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428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一条路长</a:t>
            </a:r>
            <a:r>
              <a:rPr lang="en-US" altLang="zh-CN" b="1" kern="100" dirty="0">
                <a:latin typeface="Times New Roman"/>
              </a:rPr>
              <a:t>72</a:t>
            </a:r>
            <a:r>
              <a:rPr lang="zh-CN" altLang="zh-CN" b="1" kern="100" dirty="0">
                <a:latin typeface="Times New Roman"/>
              </a:rPr>
              <a:t>米，在路的一边每隔</a:t>
            </a:r>
            <a:r>
              <a:rPr lang="en-US" altLang="zh-CN" b="1" kern="100" dirty="0">
                <a:latin typeface="Times New Roman"/>
              </a:rPr>
              <a:t>8</a:t>
            </a:r>
            <a:r>
              <a:rPr lang="zh-CN" altLang="zh-CN" b="1" kern="100" dirty="0">
                <a:latin typeface="Times New Roman"/>
              </a:rPr>
              <a:t>米栽</a:t>
            </a:r>
            <a:r>
              <a:rPr lang="en-US" altLang="zh-CN" b="1" kern="100" dirty="0">
                <a:latin typeface="Times New Roman"/>
              </a:rPr>
              <a:t>1</a:t>
            </a:r>
            <a:r>
              <a:rPr lang="zh-CN" altLang="zh-CN" b="1" kern="100" dirty="0">
                <a:latin typeface="Times New Roman"/>
              </a:rPr>
              <a:t>棵松树，从头到尾一共可以栽多少棵松树？</a:t>
            </a:r>
            <a:endParaRPr lang="zh-CN" altLang="zh-CN" sz="2400" b="1" kern="100" dirty="0">
              <a:latin typeface="Times New Roman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思路导航：每隔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米栽一棵树，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里面有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，这个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其实就是把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米平均分成了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个间隔，因为从头到尾都要栽树，所以树的棵数比间隔数多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9+1=10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（棵），也就是棵数比间隔数多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8+1=10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（棵）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答：一共可以栽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棵松树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592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学校门前的一条路长</a:t>
            </a:r>
            <a:r>
              <a:rPr lang="en-US" altLang="zh-CN" kern="100" dirty="0">
                <a:latin typeface="Times New Roman"/>
              </a:rPr>
              <a:t>42</a:t>
            </a:r>
            <a:r>
              <a:rPr lang="zh-CN" altLang="zh-CN" kern="100" dirty="0">
                <a:latin typeface="Times New Roman"/>
              </a:rPr>
              <a:t>米，在路的一边从头到尾栽树，每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米栽一棵，一共能栽多少棵？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教室前面到教室后面长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米，从头到尾每隔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米摆一盆花，一共摆了多少盆花？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学校门前的一条路长</a:t>
            </a:r>
            <a:r>
              <a:rPr lang="en-US" altLang="zh-CN" kern="100" dirty="0">
                <a:latin typeface="Times New Roman"/>
              </a:rPr>
              <a:t>56</a:t>
            </a:r>
            <a:r>
              <a:rPr lang="zh-CN" altLang="zh-CN" kern="100" dirty="0">
                <a:latin typeface="Times New Roman"/>
              </a:rPr>
              <a:t>米，为迎接国庆节，在路的一边从头到尾都插上彩旗，每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米插一面，一共要插多少面彩旗？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365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同学们在一条公路的两边从头到尾每隔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米栽一棵树，共栽了</a:t>
            </a:r>
            <a:r>
              <a:rPr lang="en-US" altLang="zh-CN" sz="4000" kern="100" dirty="0">
                <a:latin typeface="Times New Roman"/>
              </a:rPr>
              <a:t>22</a:t>
            </a:r>
            <a:r>
              <a:rPr lang="zh-CN" altLang="zh-CN" sz="4000" kern="100" dirty="0">
                <a:latin typeface="Times New Roman"/>
              </a:rPr>
              <a:t>棵，这条公路长多少米？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思路导航：在路的两旁栽树，共栽了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棵，那么每边栽了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2=11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棵，由此可知，就是把这条路的每边分成了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11-1=10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（段），又因为每段是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6=60</a:t>
            </a: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米，这就是这条公路的长了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2=11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（棵） 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11-1=10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（段）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10=60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（米）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答：这条公路长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米。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09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少先队员在路的两旁每隔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米栽一棵树，起点和终点都栽了，一共栽了</a:t>
            </a:r>
            <a:r>
              <a:rPr lang="en-US" altLang="zh-CN" kern="100" dirty="0">
                <a:latin typeface="Times New Roman"/>
              </a:rPr>
              <a:t>72</a:t>
            </a:r>
            <a:r>
              <a:rPr lang="zh-CN" altLang="zh-CN" kern="100" dirty="0">
                <a:latin typeface="Times New Roman"/>
              </a:rPr>
              <a:t>棵树，这条路长多少米？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绿化小组在学校的过道两边摆放月季花，每隔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米摆一盆，起点和终点都摆了，一共摆了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盆，这条过道长多少米？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两根同样长的绳子上，每隔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米挂一个灯笼，起点和终点都挂，共挂了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个，每根绳子长多少米？ 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618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】两栋楼之间每隔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米种一棵树，共种了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棵树，这两栋楼之间相距多少米？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棵树，两栋楼之间应有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个间隔。也就是说如果在两栋楼之间种树，树的棵树比间隔数少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，每隔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米种一棵树，两栋楼之间相距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米，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6=12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（米）。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5+1=6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（个）间隔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6=12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（米） 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答：这两栋楼之间相距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米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235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两栋楼之间每隔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米种一棵树，一共种了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棵树，这两栋楼之间相距多少米？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两根栏杆之间，每隔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米放一辆自行车，一共放了</a:t>
            </a:r>
            <a:r>
              <a:rPr lang="en-US" altLang="zh-CN" kern="100" dirty="0">
                <a:latin typeface="Times New Roman"/>
              </a:rPr>
              <a:t>19</a:t>
            </a:r>
            <a:r>
              <a:rPr lang="zh-CN" altLang="zh-CN" kern="100" dirty="0">
                <a:latin typeface="Times New Roman"/>
              </a:rPr>
              <a:t>辆，这两根栏杆之间相距多少米？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两棵树之间相距</a:t>
            </a:r>
            <a:r>
              <a:rPr lang="en-US" altLang="zh-CN" kern="100" dirty="0">
                <a:latin typeface="Times New Roman"/>
              </a:rPr>
              <a:t>220</a:t>
            </a:r>
            <a:r>
              <a:rPr lang="zh-CN" altLang="zh-CN" kern="100" dirty="0">
                <a:latin typeface="Times New Roman"/>
              </a:rPr>
              <a:t>米，园艺工人在这两棵树之间等距离补栽</a:t>
            </a:r>
            <a:r>
              <a:rPr lang="en-US" altLang="zh-CN" kern="100" dirty="0">
                <a:latin typeface="Times New Roman"/>
              </a:rPr>
              <a:t>21</a:t>
            </a:r>
            <a:r>
              <a:rPr lang="zh-CN" altLang="zh-CN" kern="100" dirty="0">
                <a:latin typeface="Times New Roman"/>
              </a:rPr>
              <a:t>棵树，从第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棵到第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棵树之间的距离是多少米？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841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 </a:t>
            </a:r>
            <a:r>
              <a:rPr lang="zh-CN" altLang="zh-CN" sz="4000" kern="100" dirty="0">
                <a:latin typeface="Times New Roman"/>
              </a:rPr>
              <a:t>长江江滩上有一个周长为</a:t>
            </a:r>
            <a:r>
              <a:rPr lang="en-US" altLang="zh-CN" sz="4000" kern="100" dirty="0">
                <a:latin typeface="Times New Roman"/>
              </a:rPr>
              <a:t>27</a:t>
            </a:r>
            <a:r>
              <a:rPr lang="zh-CN" altLang="zh-CN" sz="4000" kern="100" dirty="0">
                <a:latin typeface="Times New Roman"/>
              </a:rPr>
              <a:t>米的圆形喷水池，在水池周围每隔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米有一盏彩灯，一共有多少盏灯？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思路导航：水池是圆形的，如果用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3=9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9+1=10.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就会与第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盏灯位置重合，由此可知，圆形水池周围灯的盏数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与间隔数相等。如右图：（⊙表示灯，数字表示间隔数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）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3=9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（盏）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答：一共有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盏灯。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63" y="3645023"/>
            <a:ext cx="2363489" cy="229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776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1.</a:t>
            </a:r>
            <a:r>
              <a:rPr lang="zh-CN" altLang="zh-CN" kern="100" dirty="0">
                <a:latin typeface="Times New Roman"/>
              </a:rPr>
              <a:t>一个圆形花坛的周长是</a:t>
            </a:r>
            <a:r>
              <a:rPr lang="en-US" altLang="zh-CN" kern="100" dirty="0">
                <a:latin typeface="Times New Roman"/>
              </a:rPr>
              <a:t>32</a:t>
            </a:r>
            <a:r>
              <a:rPr lang="zh-CN" altLang="zh-CN" kern="100" dirty="0">
                <a:latin typeface="Times New Roman"/>
              </a:rPr>
              <a:t>米，每隔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米放一盆菊花，一共要放多少盆菊花</a:t>
            </a:r>
            <a:r>
              <a:rPr lang="en-US" altLang="zh-CN" kern="100" dirty="0">
                <a:latin typeface="Times New Roman"/>
              </a:rPr>
              <a:t>?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有一个圆形水池周长是</a:t>
            </a:r>
            <a:r>
              <a:rPr lang="en-US" altLang="zh-CN" kern="100" dirty="0">
                <a:latin typeface="Times New Roman"/>
              </a:rPr>
              <a:t>45</a:t>
            </a:r>
            <a:r>
              <a:rPr lang="zh-CN" altLang="zh-CN" kern="100" dirty="0">
                <a:latin typeface="Times New Roman"/>
              </a:rPr>
              <a:t>米，在水池周围每隔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米栽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棵柳树，一共要栽多少棵？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中心小学有个圆形花坛，走一圈正好是</a:t>
            </a:r>
            <a:r>
              <a:rPr lang="en-US" altLang="zh-CN" kern="100" dirty="0">
                <a:latin typeface="Times New Roman"/>
              </a:rPr>
              <a:t>48</a:t>
            </a:r>
            <a:r>
              <a:rPr lang="zh-CN" altLang="zh-CN" kern="100" dirty="0">
                <a:latin typeface="Times New Roman"/>
              </a:rPr>
              <a:t>米，如果沿着一圈每隔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米栽一株丁香花，一共要栽几株？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28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在一块正方形地的四周栽树，要使每边栽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棵，至少需要多少棵树苗？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思路导航：要节约树苗，就要在正方形地的四个角都栽树，使每个角上的树既可以是横行的又可以是竖行的。如</a:t>
            </a:r>
            <a:r>
              <a:rPr lang="zh-CN" altLang="zh-CN" sz="2400" b="1" kern="100" dirty="0" smtClean="0">
                <a:solidFill>
                  <a:srgbClr val="FFC000"/>
                </a:solidFill>
                <a:latin typeface="Times New Roman"/>
              </a:rPr>
              <a:t>图</a:t>
            </a:r>
            <a:endParaRPr lang="en-US" altLang="zh-CN" sz="2400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解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：（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6-1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4=20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（棵）或（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6-2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2+6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2=20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（棵）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答：至少需要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棵树苗。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420888"/>
            <a:ext cx="1656184" cy="1679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77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在正方形的四边上栽树，每边栽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棵，最少要栽多少棵树？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有一个正方形的花园，要在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个角都栽一棵树，如果每边栽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棵，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边一共栽多少棵树？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正方形养鱼池的四边一共长</a:t>
            </a:r>
            <a:r>
              <a:rPr lang="en-US" altLang="zh-CN" kern="100" dirty="0">
                <a:latin typeface="Times New Roman"/>
              </a:rPr>
              <a:t>32</a:t>
            </a:r>
            <a:r>
              <a:rPr lang="zh-CN" altLang="zh-CN" kern="100" dirty="0">
                <a:latin typeface="Times New Roman"/>
              </a:rPr>
              <a:t>米，在它的四边每隔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米插一根柱子，一共要插多少根？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96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16</a:t>
            </a:r>
            <a:r>
              <a:rPr lang="zh-CN" altLang="zh-CN" sz="4400" b="1" kern="100" dirty="0">
                <a:latin typeface="Times New Roman"/>
              </a:rPr>
              <a:t>讲 以图代数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一道数学算式题都是用运算符号和数组成的，如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3+6=9,2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3=6,15-6=9,18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3=6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，可有一种图形算式，就是在算式中用图形来代表不同的数，要我们通过计算把图形所代表的数求出来。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解答图形算式题，要根据加、减、乘、除的意义和各种图形之间的关系来解答，通常要用分析法、代入法、推算法等等，最后得到结论。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704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=6</a:t>
            </a:r>
            <a:r>
              <a:rPr lang="zh-CN" altLang="zh-CN" kern="100" dirty="0">
                <a:latin typeface="Times New Roman"/>
              </a:rPr>
              <a:t>，△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=12</a:t>
            </a:r>
            <a:r>
              <a:rPr lang="zh-CN" altLang="zh-CN" kern="100" dirty="0">
                <a:latin typeface="Times New Roman"/>
              </a:rPr>
              <a:t>，求：○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？</a:t>
            </a:r>
            <a:endParaRPr lang="zh-CN" altLang="zh-CN" sz="2400" kern="100" dirty="0">
              <a:latin typeface="Times New Roman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？就要求出○表示几？由题目已知条件○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，那么○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3=2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，同理△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4=3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，因此，○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=2+3=5.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44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已知△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=15    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=20</a:t>
            </a:r>
            <a:r>
              <a:rPr lang="zh-CN" altLang="zh-CN" kern="100" dirty="0">
                <a:latin typeface="Times New Roman"/>
              </a:rPr>
              <a:t>，求：□</a:t>
            </a:r>
            <a:r>
              <a:rPr lang="en-US" altLang="zh-CN" kern="100" dirty="0">
                <a:latin typeface="Times New Roman"/>
              </a:rPr>
              <a:t>-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已知：☆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=21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=15</a:t>
            </a:r>
            <a:r>
              <a:rPr lang="zh-CN" altLang="zh-CN" kern="100" dirty="0">
                <a:latin typeface="Times New Roman"/>
              </a:rPr>
              <a:t>， 求：☆</a:t>
            </a:r>
            <a:r>
              <a:rPr lang="en-US" altLang="zh-CN" kern="100" dirty="0">
                <a:latin typeface="宋体"/>
              </a:rPr>
              <a:t>-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en-US" altLang="zh-CN" kern="100" dirty="0">
                <a:latin typeface="Times New Roman"/>
              </a:rPr>
              <a:t> </a:t>
            </a:r>
            <a:r>
              <a:rPr lang="zh-CN" altLang="zh-CN" kern="100" dirty="0">
                <a:latin typeface="Times New Roman"/>
              </a:rPr>
              <a:t>○、△、☆各代表什么数？</a:t>
            </a:r>
            <a:endParaRPr lang="zh-CN" altLang="zh-CN" sz="2400" kern="100" dirty="0"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=18  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=14 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=20</a:t>
            </a:r>
            <a:endParaRPr lang="zh-CN" altLang="zh-CN" sz="2400" kern="100" dirty="0"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570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已知：△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=12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☆，求：△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？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,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因为△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，而△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☆，所以☆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=12,4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个☆等于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，所以☆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4=3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，因为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，所以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=12-3=9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（或△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=3+3+3=9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 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=9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=3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819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=24 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  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en-US" altLang="zh-CN" u="sng" kern="100" dirty="0">
                <a:latin typeface="Times New Roman"/>
              </a:rPr>
              <a:t>         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en-US" altLang="zh-CN" u="sng" kern="100" dirty="0">
                <a:latin typeface="Times New Roman"/>
              </a:rPr>
              <a:t>        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en-US" altLang="zh-CN" kern="100" dirty="0">
                <a:latin typeface="Times New Roman"/>
              </a:rPr>
              <a:t> </a:t>
            </a:r>
            <a:r>
              <a:rPr lang="zh-CN" altLang="zh-CN" kern="100" dirty="0">
                <a:latin typeface="Times New Roman"/>
              </a:rPr>
              <a:t>○、△、☆各代表什么数字？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=18 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=16</a:t>
            </a:r>
            <a:endParaRPr lang="zh-CN" altLang="zh-CN" sz="2400" kern="100" dirty="0"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en-US" altLang="zh-CN" kern="100" dirty="0">
                <a:latin typeface="Times New Roman"/>
              </a:rPr>
              <a:t>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=30  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endParaRPr lang="zh-CN" altLang="zh-CN" sz="2400" kern="100" dirty="0"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845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找出下列算式中△和□代表的数。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=9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=25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思路导航：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个△加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个□等于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，那么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个△加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个□等于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，因为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个△加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个□等于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，所以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18+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=25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，从而推出□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=25-18=7</a:t>
            </a:r>
            <a:r>
              <a:rPr lang="zh-CN" altLang="zh-CN" sz="2400" kern="100" dirty="0">
                <a:solidFill>
                  <a:srgbClr val="FFC000"/>
                </a:solidFill>
                <a:latin typeface="Times New Roman"/>
              </a:rPr>
              <a:t>，那么△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/>
              </a:rPr>
              <a:t>=9-7=2.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解：△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=2  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=7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625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下列算式中，△、☆各代表什么数？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=10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=28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宋体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 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=18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=24</a:t>
            </a:r>
            <a:endParaRPr lang="zh-CN" altLang="zh-CN" sz="2400" kern="100" dirty="0"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=10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=8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666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=22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=32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求：○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-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思路导航：比较条件中的两道图形算式，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个□的和是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32-22=10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，□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代入到第一道算式中，可求出○表示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=3+5=8 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-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=5-3=2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8   2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438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1.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=21</a:t>
            </a:r>
            <a:r>
              <a:rPr lang="zh-CN" altLang="zh-CN" kern="100" dirty="0">
                <a:latin typeface="Times New Roman"/>
              </a:rPr>
              <a:t>，☆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=27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求：☆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宋体"/>
              </a:rPr>
              <a:t>-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已知：□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=16   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=24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求：□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-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 </a:t>
            </a:r>
            <a:r>
              <a:rPr lang="zh-CN" altLang="zh-CN" kern="100" dirty="0">
                <a:latin typeface="Times New Roman"/>
              </a:rPr>
              <a:t>○、☆各代表什么数？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=10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=8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088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△、○、☆都不等于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，○代表的数是几？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△×○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宋体"/>
              </a:rPr>
              <a:t>-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-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 △、○、☆都不等于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，根据△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-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-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△可知：☆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，因为△×○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☆</a:t>
            </a: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,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也就是说△×○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△×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，所以○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=5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798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 </a:t>
            </a:r>
            <a:r>
              <a:rPr lang="zh-CN" altLang="zh-CN" kern="100" dirty="0">
                <a:latin typeface="Times New Roman"/>
              </a:rPr>
              <a:t>△、○、□都不等于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，求出△代表的数是几？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○×△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-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 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</a:t>
            </a:r>
            <a:r>
              <a:rPr lang="zh-CN" altLang="zh-CN" kern="100" dirty="0">
                <a:latin typeface="Times New Roman"/>
              </a:rPr>
              <a:t>已知：☆×△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○，☆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☆，☆、△、○都不等于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，△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☆、△、○都不等于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，求出○代表的数是几？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△×○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+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☆</a:t>
            </a:r>
            <a:r>
              <a:rPr lang="en-US" altLang="zh-CN" kern="100" dirty="0">
                <a:latin typeface="Times New Roman"/>
              </a:rPr>
              <a:t>-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-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-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○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182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17</a:t>
            </a:r>
            <a:r>
              <a:rPr lang="zh-CN" altLang="zh-CN" sz="4400" b="1" kern="100" dirty="0">
                <a:latin typeface="Times New Roman"/>
              </a:rPr>
              <a:t>讲 凑整速算（二）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掌握一些常见的简便计算方法，可以使计算的过程化繁为简，节省时间，提高计算速度。在进行简便计算时，一定要仔细观察数字的特征和题目的具体情况，灵活地选择适当的方法进行计算。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在加、减混合运算中，根据先加后减和先减后加，结果不变的性质，把计算后能得到整百、整十的先算较为简便。求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个连续数的和，可以取一个数为基准进行计算较简便。记住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4=100,125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8=1000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，能使连乘运算简便。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503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计算：</a:t>
            </a:r>
            <a:r>
              <a:rPr lang="en-US" altLang="zh-CN" sz="4000" kern="100" dirty="0">
                <a:latin typeface="Times New Roman"/>
              </a:rPr>
              <a:t>167-58+33</a:t>
            </a:r>
            <a:endParaRPr lang="zh-CN" altLang="zh-CN" kern="100" dirty="0">
              <a:latin typeface="Times New Roman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加、减混合运算，一般是从左到右依次计算。因为加法和减法是同一级运算，所以，在计算加、减混合运算时，先加后减或先减后加，结果是不变得。根据这一性质，有些加、减混合运算，可以进行简便计算。因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167+33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是整百数，所以先算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167+33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，再减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较简便。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167-58+33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=167+33-58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=200-58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=142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594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 </a:t>
            </a:r>
            <a:r>
              <a:rPr lang="en-US" altLang="zh-CN" kern="100" dirty="0">
                <a:latin typeface="Times New Roman"/>
              </a:rPr>
              <a:t>156+74-56                            145+67-45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  143+28-53                            134+29-34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  125-86+75                            173-87+27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948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138+</a:t>
            </a:r>
            <a:r>
              <a:rPr lang="zh-CN" altLang="zh-CN" sz="4000" kern="100" dirty="0">
                <a:latin typeface="Times New Roman"/>
              </a:rPr>
              <a:t>（</a:t>
            </a:r>
            <a:r>
              <a:rPr lang="en-US" altLang="zh-CN" sz="4000" kern="100" dirty="0">
                <a:latin typeface="Times New Roman"/>
              </a:rPr>
              <a:t>62-49</a:t>
            </a:r>
            <a:r>
              <a:rPr lang="zh-CN" altLang="zh-CN" sz="4000" kern="100" dirty="0">
                <a:latin typeface="Times New Roman"/>
              </a:rPr>
              <a:t>）与</a:t>
            </a:r>
            <a:r>
              <a:rPr lang="en-US" altLang="zh-CN" sz="4000" kern="100" dirty="0">
                <a:latin typeface="Times New Roman"/>
              </a:rPr>
              <a:t>138+62-49</a:t>
            </a:r>
            <a:r>
              <a:rPr lang="zh-CN" altLang="zh-CN" sz="4000" kern="100" dirty="0">
                <a:latin typeface="Times New Roman"/>
              </a:rPr>
              <a:t>的结果相等吗？哪一种计算比较简便？不简便的计算可怎么改成简便计算？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138+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62-49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            138+62-49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 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           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=138+13                       =200-49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                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=151                          =151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从上面的两道算式中可以看出，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138+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62-49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=138+62-49=151.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比较这两个式子，显然第二种比较简便。因此，如果括号前是加号，去掉括号，计算结果是不会变的。</a:t>
            </a: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解：两种计算结果相等，第二道算式计算简便，为了使第一道算式也能快速算出结果，可去掉式子中的括号，即：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138+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62-49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=138+62-49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=200-49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=151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454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用简便方法计算下列各题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en-US" altLang="zh-CN" kern="100" dirty="0">
                <a:latin typeface="Times New Roman"/>
              </a:rPr>
              <a:t>  153+(47-29)</a:t>
            </a:r>
            <a:r>
              <a:rPr lang="en-US" altLang="zh-CN" kern="100" dirty="0">
                <a:latin typeface="宋体"/>
              </a:rPr>
              <a:t>                         984-(84+67)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  261-(61+35)                        153-(53+19)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  268+(132-88)                        976-(76+85)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913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】计算：</a:t>
            </a:r>
            <a:r>
              <a:rPr lang="en-US" altLang="zh-CN" sz="4000" kern="100" dirty="0">
                <a:latin typeface="Times New Roman"/>
              </a:rPr>
              <a:t>197+198+196+199+195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思路导航：这道题是求连续几个自然数之和，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197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198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196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199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195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它们都接近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，在计算时取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为基数，然后去掉多加的数进行计算比较简便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197+198+196+199+195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=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-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-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-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-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-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=200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-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3+2+4+1+5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=1000</a:t>
            </a: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-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=985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12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用简便方法计算下列各题。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  98+99+100+101+102                        99+98+97+96+95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  198+199+201+202                          51+48+52+49+50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  28+29+30+31+32+33                        41+52+53+42+43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218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计算：</a:t>
            </a:r>
            <a:r>
              <a:rPr lang="en-US" altLang="zh-CN" sz="4000" kern="100" dirty="0">
                <a:latin typeface="Times New Roman"/>
              </a:rPr>
              <a:t>95+995+995+15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思路导航：题中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是接近整百、整千的数，分别添上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就可以得到整百整千。可以先把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拆成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，分别算出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995+5.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95+995+995+15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=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95+5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995+5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995+5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=100+1000+1000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=2100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935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用简便方法计算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1.  995+98+7                                 698+595+497+10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2.  993+996+999+15                           198+197+196+10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993300"/>
                </a:solidFill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993300"/>
                </a:solidFill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993300"/>
                </a:solidFill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 </a:t>
            </a:r>
            <a:r>
              <a:rPr lang="en-US" altLang="zh-CN" kern="100" dirty="0">
                <a:latin typeface="Times New Roman"/>
              </a:rPr>
              <a:t>998+995+97+15                             1998+997+98+7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740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】计算下面各题：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298+367                       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436+389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 题（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）：因为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298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较接近整百数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，可以先把它当作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367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相加，然后再减去多加的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2.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题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(2):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因为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389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较接近整百数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400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，可以先把它当作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400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436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相加，然后再减去多加的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11.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298+367                      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436+389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 =300+367-2                          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=436+400-11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 =667-2                               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  =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836-11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 =665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                                      = 825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617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用简便方法计算。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 682+325                              573+198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  897+234                             788+143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  694+367                             595+698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929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18</a:t>
            </a:r>
            <a:r>
              <a:rPr lang="zh-CN" altLang="zh-CN" sz="4400" b="1" kern="100" dirty="0">
                <a:latin typeface="Times New Roman"/>
              </a:rPr>
              <a:t>讲 图文算式（一）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算式谜是常见的猜谜游戏，通常在这些式子中含有一些用汉字、字母表示的特定的数字，要求我们根据一定的法则和逻辑推理方法，找到要填的数字。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解答这类题目，要分析算式的特点，运用加、减的运算法则来安排每一个数。一个算式中填几个数时，要选好先填什么，再填什么，选准“突破口”，其他就好填了。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25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在下面竖式中的空白处填入适当的数，使算式成立</a:t>
            </a:r>
            <a:r>
              <a:rPr lang="zh-CN" altLang="zh-CN" sz="4000" kern="100" dirty="0" smtClean="0">
                <a:latin typeface="Times New Roman"/>
              </a:rPr>
              <a:t>。</a:t>
            </a:r>
            <a:endParaRPr lang="en-US" altLang="zh-CN" sz="4000" kern="100" dirty="0" smtClean="0"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Times New Roman"/>
            </a:endParaRP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indent="2000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两个两位数的和是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191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，两个加数十位上数字都必须是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，个位上两个数字的和要进位才能使十位数字是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，这样个位上两个数字和应该是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，和是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的两个数有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11=6+5=7+4=8+3=9+2,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所以这个算式有多种填法。</a:t>
            </a: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925" y="1412776"/>
            <a:ext cx="13620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509120"/>
            <a:ext cx="12858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925" y="4492393"/>
            <a:ext cx="12858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513746"/>
            <a:ext cx="12858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542574"/>
            <a:ext cx="12858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266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4664"/>
            <a:ext cx="7053515" cy="6165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608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在下面竖式中的空格里填数，使竖式成立</a:t>
            </a:r>
            <a:r>
              <a:rPr lang="zh-CN" altLang="zh-CN" sz="4000" kern="100" dirty="0" smtClean="0">
                <a:latin typeface="Times New Roman"/>
              </a:rPr>
              <a:t>。</a:t>
            </a:r>
            <a:endParaRPr lang="en-US" altLang="zh-CN" sz="40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思路导航：这题要填的方格比较多，我们可以看十位上没有缺数，十位上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8+5=13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，可和的个位是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，说明个位满十向十位进了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，显然个位是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1+9=10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；再看百位：由于十位向百位进一，所以百位出现了□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+1=19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，不难看出：百位的两个数字都是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556792"/>
            <a:ext cx="132397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723" y="4581128"/>
            <a:ext cx="1877309" cy="1634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340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1274" y="2939670"/>
            <a:ext cx="6121452" cy="1847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114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在方框里填上适当的数，使算式成立</a:t>
            </a:r>
            <a:r>
              <a:rPr lang="zh-CN" altLang="zh-CN" sz="4000" kern="100" dirty="0" smtClean="0">
                <a:latin typeface="Times New Roman"/>
              </a:rPr>
              <a:t>。</a:t>
            </a:r>
            <a:endParaRPr lang="en-US" altLang="zh-CN" sz="4000" kern="100" dirty="0" smtClean="0"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endParaRPr lang="en-US" altLang="zh-CN" sz="40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 我们从个位看起，个位和是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，向十位进一；再看十位，一个加数是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再加进上来的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，总共为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，与□加起来末位是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，肯定也是进位加法，□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+7+1=13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，□里应填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，向百位进一；再看百位，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+1=12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，□里应填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，向千位进一。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628800"/>
            <a:ext cx="1829850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1" y="4509120"/>
            <a:ext cx="2643117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923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34" y="1700809"/>
            <a:ext cx="7335292" cy="3710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846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】在方框里填上适当的数，使算式成立。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思路导航：三个加数，知道其中两个加数的个位分别是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，而和的个位却是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8.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7+5+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？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，可以判断另一个加数的个位必为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，且向十位上进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。十位上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？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+7+1=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，可以判断？初的数为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，且向百位进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1.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百位上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？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+1=6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，可判断？处的数为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6667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124744"/>
            <a:ext cx="16002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365104"/>
            <a:ext cx="2304256" cy="20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178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699942"/>
            <a:ext cx="6264696" cy="598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042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在下面算式的空格中，填上合适的数字，使算式成立</a:t>
            </a:r>
            <a:r>
              <a:rPr lang="zh-CN" altLang="zh-CN" sz="4000" kern="100" dirty="0" smtClean="0">
                <a:latin typeface="Times New Roman"/>
              </a:rPr>
              <a:t>。</a:t>
            </a:r>
            <a:endParaRPr lang="en-US" altLang="zh-CN" sz="40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导航： 先看个位数，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不够减，向十位退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，和个位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合起来是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16,16-7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，个位□里填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，再看十位数□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-9=3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，□应为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，被个位退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，□的值为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，因此十位□应填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，并且向百位退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，再看百位上的数，差是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，被减数百位上的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被十位上退掉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，还剩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，肯定要向千位退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，合成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才够减，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11-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，□为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，被减数千位上的数退掉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还有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，□应为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13398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340768"/>
            <a:ext cx="16002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446" y="4221088"/>
            <a:ext cx="2655515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25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20" y="1124743"/>
            <a:ext cx="8141496" cy="507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655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19</a:t>
            </a:r>
            <a:r>
              <a:rPr lang="zh-CN" altLang="zh-CN" sz="4400" b="1" kern="100" dirty="0">
                <a:latin typeface="Times New Roman"/>
              </a:rPr>
              <a:t>讲 巧填符号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【专题简析】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在数字之间填上适当的运算符号，可以改变运算结果，填符号时，一定要根据数之间的关系，通过口算来确定，要把几个数和运算结果结合起来考虑，有时还可用括号来改变运算顺序。根据题中给的条件和要求添运算符号和括号，没有固定的法则，解决这个问题，一般有试验法、凑数法等。选择哪种解决问题的方法，要根据题目的特点，有时需要几种方法综合应用，这样，更有助于解决问题。另外需要注意的是添加的方法可能不是唯一的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04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在下面的式子中的地方添上括号使等式成立。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36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34        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7×5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，等号左边都是减号，而且等号左边最大是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，如果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就正好等于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添上括号，恰好是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7×5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，等号右边是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，等号左边是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，如果能找到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7×2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就正好。通过观察，左边有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而且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中间是减号，这样就把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添上括号就可以了。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34   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7×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7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在适当的地方添上括号使等式成立。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1.45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33           8×6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16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2.15+36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4÷4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23         17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7+5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3.20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5÷5+8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11          23×5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3+4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50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1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在合适的地方添上</a:t>
            </a:r>
            <a:r>
              <a:rPr lang="en-US" altLang="zh-CN" kern="100" dirty="0">
                <a:latin typeface="Times New Roman"/>
              </a:rPr>
              <a:t>“+”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“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，使下面的等式成立。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5    4    3    2    1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的总和是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，把它分成差是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的两组，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5+3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4+2+1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，这样在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前填写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“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号，其它地方填上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“+”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，等式就成立了。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4+3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576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在下面的数字与数字之间填上</a:t>
            </a:r>
            <a:r>
              <a:rPr lang="en-US" altLang="zh-CN" kern="100" dirty="0">
                <a:latin typeface="Times New Roman"/>
              </a:rPr>
              <a:t>“+”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“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号，使算式成立。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1.9   8   7   6   5   4   3   2   1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2.6   5   4   3   2   1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5   4   3   2   1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3.7   6   5   4   3   2   1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5   4   3   2   1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745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“+”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“×”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“÷”</a:t>
            </a:r>
            <a:r>
              <a:rPr lang="zh-CN" altLang="zh-CN" kern="100" dirty="0">
                <a:latin typeface="Times New Roman"/>
              </a:rPr>
              <a:t>分别填入下面等式的</a:t>
            </a:r>
            <a:r>
              <a:rPr lang="en-US" altLang="zh-CN" kern="100" dirty="0">
                <a:latin typeface="Times New Roman"/>
              </a:rPr>
              <a:t>“○”</a:t>
            </a:r>
            <a:r>
              <a:rPr lang="zh-CN" altLang="zh-CN" kern="100" dirty="0">
                <a:latin typeface="Times New Roman"/>
              </a:rPr>
              <a:t>中，使等式成立。</a:t>
            </a:r>
            <a:endParaRPr lang="zh-CN" altLang="zh-CN" sz="2400" kern="100" dirty="0">
              <a:latin typeface="Times New Roman"/>
            </a:endParaRPr>
          </a:p>
          <a:p>
            <a:pPr marL="0" lvl="0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altLang="zh-CN" kern="100" dirty="0" smtClean="0">
                <a:latin typeface="宋体"/>
              </a:rPr>
              <a:t>7  </a:t>
            </a:r>
            <a:r>
              <a:rPr lang="en-US" altLang="zh-CN" kern="100" dirty="0">
                <a:latin typeface="宋体"/>
              </a:rPr>
              <a:t>○  2  ○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10  ○  2  ○  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 O 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 O 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入手，这两个圆圈可能填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“×”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“÷”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经过试算：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7×2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10÷2=5,5+5=10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，左边等于右边。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7×2 - 4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+ 5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18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“+”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“×”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“÷”</a:t>
            </a:r>
            <a:r>
              <a:rPr lang="zh-CN" altLang="zh-CN" kern="100" dirty="0">
                <a:latin typeface="Times New Roman"/>
              </a:rPr>
              <a:t>分别填入下列等式的</a:t>
            </a:r>
            <a:r>
              <a:rPr lang="en-US" altLang="zh-CN" kern="100" dirty="0">
                <a:latin typeface="Times New Roman"/>
              </a:rPr>
              <a:t>“○”</a:t>
            </a:r>
            <a:r>
              <a:rPr lang="zh-CN" altLang="zh-CN" kern="100" dirty="0">
                <a:latin typeface="Times New Roman"/>
              </a:rPr>
              <a:t>中，使等式成立。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1.2 ○ 8 ○ 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12 ○ 4 ○ 9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2.12 ○ 6 ○ 2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4 ○ 2 ○ 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3.16 ○ 8 ○ 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15 ○ 3 ○ 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804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在下面的数字之间，填上</a:t>
            </a:r>
            <a:r>
              <a:rPr lang="en-US" altLang="zh-CN" kern="100" dirty="0">
                <a:latin typeface="Times New Roman"/>
              </a:rPr>
              <a:t>“+”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“×”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“÷”</a:t>
            </a:r>
            <a:r>
              <a:rPr lang="zh-CN" altLang="zh-CN" kern="100" dirty="0">
                <a:latin typeface="Times New Roman"/>
              </a:rPr>
              <a:t>或括号，使等式成立。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     7    7    7    7    7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7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要求在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中间填 运算符号使它成为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，我们可以这样想，把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扩大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倍，再缩小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倍，再增加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，再减少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，正好等于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，这很有趣，只要把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“+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、－、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×÷”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依次填上就可以了。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7×7÷7+7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656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在下面的数字之间填上</a:t>
            </a:r>
            <a:r>
              <a:rPr lang="en-US" altLang="zh-CN" kern="100" dirty="0">
                <a:latin typeface="Times New Roman"/>
              </a:rPr>
              <a:t>“+”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“×”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“÷”</a:t>
            </a:r>
            <a:r>
              <a:rPr lang="zh-CN" altLang="zh-CN" kern="100" dirty="0">
                <a:latin typeface="Times New Roman"/>
              </a:rPr>
              <a:t>或括号，使等式成立。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1.7   7   7   7   7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2       7   7   7   7   7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8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2.2   2   2   2   2   2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1      2   2   2   2   2   2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3.9   9   9   9   9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17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024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669360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从</a:t>
            </a:r>
            <a:r>
              <a:rPr lang="en-US" altLang="zh-CN" kern="100" dirty="0">
                <a:latin typeface="Times New Roman"/>
              </a:rPr>
              <a:t>“+”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“×”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“÷”“</a:t>
            </a:r>
            <a:r>
              <a:rPr lang="zh-CN" altLang="zh-CN" kern="100" dirty="0">
                <a:latin typeface="Times New Roman"/>
              </a:rPr>
              <a:t>（）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中挑选合适的符号，填入适当的地方，使下面的等式成立。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5   5   5   5   5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5   5   5   5   5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5   5   5   5   5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5   5   5   5   5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在加减乘除运算中，要考虑到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“1”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“0”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在运算中的特点，如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5÷5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÷5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×5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解：每个式子有多种解答，如：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5÷5+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×5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    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÷5+5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1               5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</a:t>
            </a: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5÷5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5÷5+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      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5+5+5+5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  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5÷5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3                 5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5÷5+5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494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从从</a:t>
            </a:r>
            <a:r>
              <a:rPr lang="en-US" altLang="zh-CN" kern="100" dirty="0">
                <a:latin typeface="Times New Roman"/>
              </a:rPr>
              <a:t>“+”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</a:t>
            </a:r>
            <a:r>
              <a:rPr lang="zh-CN" altLang="zh-CN" kern="100" dirty="0">
                <a:latin typeface="Times New Roman"/>
              </a:rPr>
              <a:t>－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“×”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“÷”“</a:t>
            </a:r>
            <a:r>
              <a:rPr lang="zh-CN" altLang="zh-CN" kern="100" dirty="0">
                <a:latin typeface="Times New Roman"/>
              </a:rPr>
              <a:t>（）</a:t>
            </a:r>
            <a:r>
              <a:rPr lang="en-US" altLang="zh-CN" kern="100" dirty="0">
                <a:latin typeface="Times New Roman"/>
              </a:rPr>
              <a:t>”</a:t>
            </a:r>
            <a:r>
              <a:rPr lang="zh-CN" altLang="zh-CN" kern="100" dirty="0">
                <a:latin typeface="Times New Roman"/>
              </a:rPr>
              <a:t>中挑选合适的符号，填入适当的地方，使下面的等式成立。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1.4   4   4   4   4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2.4   4   4   4   4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3.4   4   4   4   4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4.4   4   4   4   4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5.4   4   4   4   4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19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20</a:t>
            </a:r>
            <a:r>
              <a:rPr lang="zh-CN" altLang="zh-CN" sz="4400" b="1" kern="100" dirty="0">
                <a:latin typeface="Times New Roman"/>
              </a:rPr>
              <a:t>讲 图文算式（二）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我们经常看到一些残缺不全的算式，要求我们在方格内填上合适的数字，使算式成立，下面就请小朋友来做这样的填算式练习。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填算式时，要认真分析算式的特点，充分运用加、减法之间的关系，巧妙地安排每一个数，很快就能求出方格里应填的数字，填空后还要按填好的数算一下，看算式成立不成立。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716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根据给出的算式，请推算出每个图形代表一个什么数字。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     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                                    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</a:t>
            </a:r>
            <a:r>
              <a:rPr lang="zh-CN" altLang="zh-CN" kern="100" dirty="0">
                <a:latin typeface="Times New Roman"/>
              </a:rPr>
              <a:t>△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                           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根据加、减之间的关系，先看个位，两数相加的和是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，其中一个加数是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，要求另一个数，就用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8-4=4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，因此□代表的数是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，再看十位，两个数的和为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，一个加数是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，要求另一个加数，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7-5=2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，因此△代表的数是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2.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708919"/>
            <a:ext cx="1656184" cy="1478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057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10" y="334405"/>
            <a:ext cx="8510378" cy="5510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546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猜一猜，每个汉字代表什么数字？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从十位上看，“学”不是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，就是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，如果是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，那么就是不退位减法，但从十位看，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减去几不可能得到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，所以这肯定是退位减法，这样就可以推算出“学”表示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；个位上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减几得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，这样就知道“生”表示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，完整的算式为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55-47=8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解：学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=5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生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=7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708920"/>
            <a:ext cx="4117289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02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14" y="846434"/>
            <a:ext cx="8111918" cy="484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415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6632"/>
            <a:ext cx="8229600" cy="5827749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8000" kern="100" dirty="0">
                <a:latin typeface="Times New Roman"/>
              </a:rPr>
              <a:t>【例题</a:t>
            </a:r>
            <a:r>
              <a:rPr lang="en-US" altLang="zh-CN" sz="8000" kern="100" dirty="0">
                <a:latin typeface="Times New Roman"/>
              </a:rPr>
              <a:t>3</a:t>
            </a:r>
            <a:r>
              <a:rPr lang="zh-CN" altLang="zh-CN" sz="8000" kern="100" dirty="0">
                <a:latin typeface="Times New Roman"/>
              </a:rPr>
              <a:t>】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8000" kern="100" dirty="0">
                <a:latin typeface="Times New Roman"/>
              </a:rPr>
              <a:t>下面竖式中的字母各代表什么数？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7200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72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7200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先看千位数，两个相同数相加，不可能是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，那一定是百位向千位进了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，所以千位上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a=3,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由于百位向千位进了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，因此</a:t>
            </a:r>
            <a:r>
              <a:rPr lang="en-US" altLang="zh-CN" sz="7200" b="1" kern="100" dirty="0" err="1">
                <a:solidFill>
                  <a:srgbClr val="FFC000"/>
                </a:solidFill>
                <a:latin typeface="Times New Roman"/>
              </a:rPr>
              <a:t>b+b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=14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，则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b=7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，十位没有向百位进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1.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再看十位数，和是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，肯定个位进上来了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，所以十位上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c=2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，个位上的数</a:t>
            </a:r>
            <a:r>
              <a:rPr lang="en-US" altLang="zh-CN" sz="7200" b="1" kern="100" dirty="0" err="1">
                <a:solidFill>
                  <a:srgbClr val="FFC000"/>
                </a:solidFill>
                <a:latin typeface="Times New Roman"/>
              </a:rPr>
              <a:t>d+d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=18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，所以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d=9</a:t>
            </a: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，即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3729+3729=7548.</a:t>
            </a:r>
            <a:endParaRPr lang="zh-CN" altLang="zh-CN" sz="72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72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7200" b="1" kern="100" dirty="0">
                <a:solidFill>
                  <a:srgbClr val="FFC000"/>
                </a:solidFill>
                <a:latin typeface="Times New Roman"/>
              </a:rPr>
              <a:t>a=3   b=7   c=2   d=9</a:t>
            </a:r>
            <a:endParaRPr lang="zh-CN" altLang="zh-CN" sz="72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412776"/>
            <a:ext cx="3949292" cy="1469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806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92696"/>
            <a:ext cx="8353888" cy="5003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214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下面竖式中的“灰”、“太”、“狼”各代表一个数字，你能求出来吗？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先看个位数字，三个相同的数相加末位是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这个数只能为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，并向十位进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；那么十位上三个相同的数相加，末位数字应该是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，并向百位进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，这个数字是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；最后看百位，这三个相同数字相加，末位数字就为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，这个数是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解：灰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=2 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太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=5  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狼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=9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8" y="2636912"/>
            <a:ext cx="2001564" cy="1730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417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56792"/>
            <a:ext cx="9245998" cy="2909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92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请你猜一猜，每个算式中的汉字各表示几</a:t>
            </a:r>
            <a:r>
              <a:rPr lang="zh-CN" altLang="zh-CN" sz="4000" kern="100" dirty="0" smtClean="0">
                <a:latin typeface="Times New Roman"/>
              </a:rPr>
              <a:t>？</a:t>
            </a:r>
            <a:endParaRPr lang="en-US" altLang="zh-CN" sz="40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40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这个算式从减法算式想起比较容易，因为差的最高位不可能是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，所以“爱”不能是“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”，而被减数个位上是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，减数个位上“爱”不是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，这是退位减法题，只有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才能得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，所以“爱”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，然后就可推算出“我”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。最后看加法竖式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55+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数学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=89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，个位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加“学”等于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，“学”应是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，十位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加“数”等于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，“数”应为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解：我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=9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爱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=5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数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=3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学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=4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483758"/>
            <a:ext cx="3456384" cy="192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338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10" y="1283528"/>
            <a:ext cx="7723506" cy="3917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95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21</a:t>
            </a:r>
            <a:r>
              <a:rPr lang="zh-CN" altLang="zh-CN" sz="4400" b="1" kern="100" dirty="0">
                <a:latin typeface="Times New Roman"/>
              </a:rPr>
              <a:t>讲 合理安排（一）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填数是一种既有趣，又能发展智力的趣味活动，它不仅可以提高你的运算能力，而且能促使你积极地去思考问题，解决问题。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填数这类题目的题型较多，解答时，除了口算要熟练外，更重要的是要学会分析、推理，有的题目答案不止一种，要尽量运用发散思维、求异思维，把各种可能的答案想出来。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208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3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300" kern="100" dirty="0">
                <a:latin typeface="Times New Roman"/>
              </a:rPr>
              <a:t>【例题</a:t>
            </a:r>
            <a:r>
              <a:rPr lang="en-US" altLang="zh-CN" sz="4300" kern="100" dirty="0">
                <a:latin typeface="Times New Roman"/>
              </a:rPr>
              <a:t>1</a:t>
            </a:r>
            <a:r>
              <a:rPr lang="zh-CN" altLang="zh-CN" sz="4300" kern="100" dirty="0">
                <a:latin typeface="Times New Roman"/>
              </a:rPr>
              <a:t>】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6200" kern="100" dirty="0">
                <a:latin typeface="Times New Roman"/>
              </a:rPr>
              <a:t>把</a:t>
            </a:r>
            <a:r>
              <a:rPr lang="en-US" altLang="zh-CN" sz="6200" kern="100" dirty="0">
                <a:latin typeface="Times New Roman"/>
              </a:rPr>
              <a:t>1</a:t>
            </a:r>
            <a:r>
              <a:rPr lang="zh-CN" altLang="zh-CN" sz="6200" kern="100" dirty="0">
                <a:latin typeface="Times New Roman"/>
              </a:rPr>
              <a:t>、</a:t>
            </a:r>
            <a:r>
              <a:rPr lang="en-US" altLang="zh-CN" sz="6200" kern="100" dirty="0">
                <a:latin typeface="Times New Roman"/>
              </a:rPr>
              <a:t>3</a:t>
            </a:r>
            <a:r>
              <a:rPr lang="zh-CN" altLang="zh-CN" sz="6200" kern="100" dirty="0">
                <a:latin typeface="Times New Roman"/>
              </a:rPr>
              <a:t>、</a:t>
            </a:r>
            <a:r>
              <a:rPr lang="en-US" altLang="zh-CN" sz="6200" kern="100" dirty="0">
                <a:latin typeface="Times New Roman"/>
              </a:rPr>
              <a:t>5</a:t>
            </a:r>
            <a:r>
              <a:rPr lang="zh-CN" altLang="zh-CN" sz="6200" kern="100" dirty="0">
                <a:latin typeface="Times New Roman"/>
              </a:rPr>
              <a:t>、</a:t>
            </a:r>
            <a:r>
              <a:rPr lang="en-US" altLang="zh-CN" sz="6200" kern="100" dirty="0">
                <a:latin typeface="Times New Roman"/>
              </a:rPr>
              <a:t>7</a:t>
            </a:r>
            <a:r>
              <a:rPr lang="zh-CN" altLang="zh-CN" sz="6200" kern="100" dirty="0">
                <a:latin typeface="Times New Roman"/>
              </a:rPr>
              <a:t>、</a:t>
            </a:r>
            <a:r>
              <a:rPr lang="en-US" altLang="zh-CN" sz="6200" kern="100" dirty="0">
                <a:latin typeface="Times New Roman"/>
              </a:rPr>
              <a:t>9</a:t>
            </a:r>
            <a:r>
              <a:rPr lang="zh-CN" altLang="zh-CN" sz="6200" kern="100" dirty="0">
                <a:latin typeface="Times New Roman"/>
              </a:rPr>
              <a:t>、</a:t>
            </a:r>
            <a:r>
              <a:rPr lang="en-US" altLang="zh-CN" sz="6200" kern="100" dirty="0">
                <a:latin typeface="Times New Roman"/>
              </a:rPr>
              <a:t>11</a:t>
            </a:r>
            <a:r>
              <a:rPr lang="zh-CN" altLang="zh-CN" sz="6200" kern="100" dirty="0">
                <a:latin typeface="Times New Roman"/>
              </a:rPr>
              <a:t>、</a:t>
            </a:r>
            <a:r>
              <a:rPr lang="en-US" altLang="zh-CN" sz="6200" kern="100" dirty="0">
                <a:latin typeface="Times New Roman"/>
              </a:rPr>
              <a:t>13</a:t>
            </a:r>
            <a:r>
              <a:rPr lang="zh-CN" altLang="zh-CN" sz="6200" kern="100" dirty="0">
                <a:latin typeface="Times New Roman"/>
              </a:rPr>
              <a:t>七个数填入右图中的七个圆圈内，使每条直线上三个数的和都等于</a:t>
            </a:r>
            <a:r>
              <a:rPr lang="en-US" altLang="zh-CN" sz="6200" kern="100" dirty="0">
                <a:latin typeface="Times New Roman"/>
              </a:rPr>
              <a:t>21</a:t>
            </a:r>
            <a:r>
              <a:rPr lang="en-US" altLang="zh-CN" sz="6200" kern="100" dirty="0" smtClean="0">
                <a:latin typeface="Times New Roman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500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导航：</a:t>
            </a:r>
          </a:p>
          <a:p>
            <a:pPr indent="13335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这道题可以这样想：</a:t>
            </a:r>
            <a:r>
              <a:rPr lang="en-US" altLang="zh-CN" sz="4500" b="1" kern="100" dirty="0">
                <a:solidFill>
                  <a:srgbClr val="FFC000"/>
                </a:solidFill>
                <a:latin typeface="Times New Roman"/>
              </a:rPr>
              <a:t>1+3+5+7+9+11+13=49,21+21+21=63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，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500" b="1" kern="100" dirty="0">
                <a:solidFill>
                  <a:srgbClr val="FFC000"/>
                </a:solidFill>
                <a:latin typeface="宋体"/>
              </a:rPr>
              <a:t>63-49=14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，由于计算三条直线上三个数时，中间圆圈里的数多算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了两次，就多出了</a:t>
            </a:r>
            <a:r>
              <a:rPr lang="en-US" altLang="zh-CN" sz="45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，正好</a:t>
            </a:r>
            <a:r>
              <a:rPr lang="en-US" altLang="zh-CN" sz="4500" b="1" kern="100" dirty="0">
                <a:solidFill>
                  <a:srgbClr val="FFC000"/>
                </a:solidFill>
                <a:latin typeface="Times New Roman"/>
              </a:rPr>
              <a:t>7+7=14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，说明中间圆圈里应该填“</a:t>
            </a:r>
            <a:r>
              <a:rPr lang="en-US" altLang="zh-CN" sz="45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”，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500" b="1" kern="100" dirty="0">
                <a:solidFill>
                  <a:srgbClr val="FFC000"/>
                </a:solidFill>
                <a:latin typeface="宋体"/>
              </a:rPr>
              <a:t>21-7=14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，把另外六个数两个两个分组，使每组两个数的和都等于</a:t>
            </a:r>
            <a:r>
              <a:rPr lang="en-US" altLang="zh-CN" sz="45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500" b="1" kern="100" dirty="0">
                <a:solidFill>
                  <a:srgbClr val="FFC000"/>
                </a:solidFill>
                <a:latin typeface="宋体"/>
              </a:rPr>
              <a:t>1+13=3+11=5+9=14</a:t>
            </a: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，也就是首尾配对。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500" b="1" kern="100" dirty="0">
                <a:solidFill>
                  <a:srgbClr val="FFC000"/>
                </a:solidFill>
                <a:latin typeface="Times New Roman"/>
              </a:rPr>
              <a:t>解：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500" kern="100" dirty="0">
                <a:latin typeface="宋体"/>
              </a:rPr>
              <a:t> </a:t>
            </a:r>
            <a:endParaRPr lang="zh-CN" altLang="zh-CN" sz="45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052736"/>
            <a:ext cx="2160240" cy="1958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557343"/>
            <a:ext cx="2808312" cy="2560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388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3472"/>
            <a:ext cx="7632848" cy="6142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995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如图：在空格中填入不同的数，使每一横行、竖行</a:t>
            </a:r>
            <a:r>
              <a:rPr lang="zh-CN" altLang="zh-CN" sz="4000" kern="100" dirty="0" smtClean="0">
                <a:latin typeface="Times New Roman"/>
              </a:rPr>
              <a:t>、斜</a:t>
            </a:r>
            <a:r>
              <a:rPr lang="zh-CN" altLang="zh-CN" sz="4000" kern="100" dirty="0">
                <a:latin typeface="Times New Roman"/>
              </a:rPr>
              <a:t>行的三个数的和等于</a:t>
            </a:r>
            <a:r>
              <a:rPr lang="en-US" altLang="zh-CN" sz="4000" kern="100" dirty="0">
                <a:latin typeface="Times New Roman"/>
              </a:rPr>
              <a:t>15</a:t>
            </a:r>
            <a:r>
              <a:rPr lang="en-US" altLang="zh-CN" sz="4000" kern="100" dirty="0" smtClean="0">
                <a:latin typeface="Times New Roman"/>
              </a:rPr>
              <a:t>.</a:t>
            </a: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导航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因为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每一横行、竖行、斜行三个数的和都等于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，我们可以</a:t>
            </a:r>
          </a:p>
          <a:p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先填一行中只有一个空格的数，如：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4+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+2=15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，竖行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6+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+2=15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，斜行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6+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cs typeface="Times New Roman"/>
              </a:rPr>
              <a:t>+4=15</a:t>
            </a:r>
            <a:r>
              <a:rPr lang="zh-CN" altLang="zh-CN" b="1" kern="100" dirty="0">
                <a:solidFill>
                  <a:srgbClr val="FFC000"/>
                </a:solidFill>
                <a:cs typeface="Times New Roman"/>
              </a:rPr>
              <a:t>，根据填出的数再填只有一个空格的数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520615"/>
              </p:ext>
            </p:extLst>
          </p:nvPr>
        </p:nvGraphicFramePr>
        <p:xfrm>
          <a:off x="6084168" y="1772816"/>
          <a:ext cx="1800200" cy="136815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599374"/>
                <a:gridCol w="600413"/>
                <a:gridCol w="600413"/>
              </a:tblGrid>
              <a:tr h="4416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6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0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4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4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2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43794"/>
              </p:ext>
            </p:extLst>
          </p:nvPr>
        </p:nvGraphicFramePr>
        <p:xfrm>
          <a:off x="4139952" y="5085184"/>
          <a:ext cx="1944216" cy="151216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647324"/>
                <a:gridCol w="648446"/>
                <a:gridCol w="648446"/>
              </a:tblGrid>
              <a:tr h="4881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8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1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6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3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5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7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4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9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2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85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574146"/>
              </p:ext>
            </p:extLst>
          </p:nvPr>
        </p:nvGraphicFramePr>
        <p:xfrm>
          <a:off x="899592" y="1916832"/>
          <a:ext cx="1100455" cy="108394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66395"/>
                <a:gridCol w="367030"/>
                <a:gridCol w="367030"/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4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7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3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7544" y="119675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练习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</a:t>
            </a:r>
            <a:endParaRPr kumimoji="0" lang="en-US" altLang="zh-CN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1. 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在空格里填数，使每一横行、竖行和对角线上的三个数的和等于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21</a:t>
            </a:r>
            <a:endParaRPr kumimoji="0" lang="en-US" altLang="zh-CN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           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7544" y="2996952"/>
            <a:ext cx="71278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 </a:t>
            </a:r>
            <a:r>
              <a:rPr lang="zh-CN" altLang="zh-CN" kern="100" dirty="0">
                <a:latin typeface="Times New Roman"/>
              </a:rPr>
              <a:t>讲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分别填入图中空格，使每一横行、竖行、斜行的三个数的和都等于</a:t>
            </a:r>
            <a:r>
              <a:rPr lang="en-US" altLang="zh-CN" kern="100" dirty="0">
                <a:latin typeface="Times New Roman"/>
              </a:rPr>
              <a:t>18.</a:t>
            </a:r>
            <a:endParaRPr lang="zh-CN" altLang="zh-CN" sz="1400" kern="100" dirty="0">
              <a:latin typeface="Times New Roman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142847"/>
              </p:ext>
            </p:extLst>
          </p:nvPr>
        </p:nvGraphicFramePr>
        <p:xfrm>
          <a:off x="3635896" y="3458617"/>
          <a:ext cx="1100455" cy="108394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66395"/>
                <a:gridCol w="367030"/>
                <a:gridCol w="367030"/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9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5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3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323528" y="4695527"/>
            <a:ext cx="72728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 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分别填入下面的空格中，使每一横行、竖行、斜行上三个数的和等于</a:t>
            </a:r>
            <a:r>
              <a:rPr lang="en-US" altLang="zh-CN" kern="100" dirty="0">
                <a:latin typeface="Times New Roman"/>
              </a:rPr>
              <a:t>15.</a:t>
            </a:r>
            <a:endParaRPr lang="zh-CN" altLang="zh-CN" sz="1400" kern="100" dirty="0">
              <a:latin typeface="Times New Roman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521034"/>
              </p:ext>
            </p:extLst>
          </p:nvPr>
        </p:nvGraphicFramePr>
        <p:xfrm>
          <a:off x="3939089" y="5445224"/>
          <a:ext cx="1100455" cy="108394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66395"/>
                <a:gridCol w="367030"/>
                <a:gridCol w="367030"/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8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6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4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12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把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这六个数填入右图的圆内，使每个大圆的四个数的和都等于</a:t>
            </a:r>
            <a:r>
              <a:rPr lang="en-US" altLang="zh-CN" sz="4000" kern="100" dirty="0">
                <a:latin typeface="Times New Roman"/>
              </a:rPr>
              <a:t>13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思路导航：先确定图形中央的两个数分别填几，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可以这样想，先求六个数的和与两个大圆上八个数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的和：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1+2+3+4+5+6=21,13+13=26,26-21=5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就是中央两个圆的数的和，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1+4=5,2+3=5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，就是说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中央两个小圆里可以填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，也可以填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中央填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4,13-5=8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，左边填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，右边填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，中央填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行不行呢？剩下的数有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任意两个数的和都不是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，所以无法填出，因此，中央只能填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094" y="1484784"/>
            <a:ext cx="2426290" cy="1532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293096"/>
            <a:ext cx="3307638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985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38" y="764704"/>
            <a:ext cx="7763177" cy="5985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398058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由图中三个圆圈两两相交形成七个部分，分别填上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～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七个自然数，在一些部分中，自然数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三个数已填好，请填上其余各数，使每个圆圈中四个数的和都是</a:t>
            </a:r>
            <a:r>
              <a:rPr lang="en-US" altLang="zh-CN" kern="100" dirty="0">
                <a:latin typeface="Times New Roman"/>
              </a:rPr>
              <a:t>15.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Times New Roman"/>
              </a:rPr>
              <a:t>思路导航：</a:t>
            </a:r>
          </a:p>
          <a:p>
            <a:pPr indent="13335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Times New Roman"/>
              </a:rPr>
              <a:t>图中空着四个部分要填入四个数：</a:t>
            </a:r>
            <a:r>
              <a:rPr lang="en-US" altLang="zh-CN" sz="2400" kern="100" dirty="0">
                <a:latin typeface="Times New Roman"/>
              </a:rPr>
              <a:t>1</a:t>
            </a:r>
            <a:r>
              <a:rPr lang="zh-CN" altLang="zh-CN" sz="2400" kern="100" dirty="0">
                <a:latin typeface="Times New Roman"/>
              </a:rPr>
              <a:t>、</a:t>
            </a:r>
            <a:r>
              <a:rPr lang="en-US" altLang="zh-CN" sz="2400" kern="100" dirty="0">
                <a:latin typeface="Times New Roman"/>
              </a:rPr>
              <a:t>2</a:t>
            </a:r>
            <a:r>
              <a:rPr lang="zh-CN" altLang="zh-CN" sz="2400" kern="100" dirty="0">
                <a:latin typeface="Times New Roman"/>
              </a:rPr>
              <a:t>、</a:t>
            </a:r>
            <a:r>
              <a:rPr lang="en-US" altLang="zh-CN" sz="2400" kern="100" dirty="0">
                <a:latin typeface="Times New Roman"/>
              </a:rPr>
              <a:t>4</a:t>
            </a:r>
            <a:r>
              <a:rPr lang="zh-CN" altLang="zh-CN" sz="2400" kern="100" dirty="0">
                <a:latin typeface="Times New Roman"/>
              </a:rPr>
              <a:t>、</a:t>
            </a:r>
            <a:r>
              <a:rPr lang="en-US" altLang="zh-CN" sz="2400" kern="100" dirty="0">
                <a:latin typeface="Times New Roman"/>
              </a:rPr>
              <a:t>6</a:t>
            </a:r>
            <a:r>
              <a:rPr lang="zh-CN" altLang="zh-CN" sz="2400" kern="100" dirty="0">
                <a:latin typeface="Times New Roman"/>
              </a:rPr>
              <a:t>，可以看出中心部分属三个圆圈公共部分，关键要确定中心填哪个数，我们用拆数的方法来确定。看图上圆中已有数</a:t>
            </a:r>
            <a:r>
              <a:rPr lang="en-US" altLang="zh-CN" sz="2400" kern="100" dirty="0">
                <a:latin typeface="Times New Roman"/>
              </a:rPr>
              <a:t>5</a:t>
            </a:r>
            <a:r>
              <a:rPr lang="zh-CN" altLang="zh-CN" sz="2400" kern="100" dirty="0">
                <a:latin typeface="Times New Roman"/>
              </a:rPr>
              <a:t>、</a:t>
            </a:r>
            <a:r>
              <a:rPr lang="en-US" altLang="zh-CN" sz="2400" kern="100" dirty="0">
                <a:latin typeface="Times New Roman"/>
              </a:rPr>
              <a:t>7</a:t>
            </a:r>
            <a:r>
              <a:rPr lang="zh-CN" altLang="zh-CN" sz="2400" kern="100" dirty="0">
                <a:latin typeface="Times New Roman"/>
              </a:rPr>
              <a:t>，所以空的部分两数之和为</a:t>
            </a:r>
            <a:r>
              <a:rPr lang="en-US" altLang="zh-CN" sz="2400" kern="100" dirty="0">
                <a:latin typeface="Times New Roman"/>
              </a:rPr>
              <a:t>15-5-7=3</a:t>
            </a:r>
            <a:r>
              <a:rPr lang="zh-CN" altLang="zh-CN" sz="2400" kern="100" dirty="0">
                <a:latin typeface="Times New Roman"/>
              </a:rPr>
              <a:t>，将</a:t>
            </a:r>
            <a:r>
              <a:rPr lang="en-US" altLang="zh-CN" sz="2400" kern="100" dirty="0">
                <a:latin typeface="Times New Roman"/>
              </a:rPr>
              <a:t>3</a:t>
            </a:r>
            <a:r>
              <a:rPr lang="zh-CN" altLang="zh-CN" sz="2400" kern="100" dirty="0">
                <a:latin typeface="Times New Roman"/>
              </a:rPr>
              <a:t>拆成</a:t>
            </a:r>
            <a:r>
              <a:rPr lang="en-US" altLang="zh-CN" sz="2400" kern="100" dirty="0">
                <a:latin typeface="Times New Roman"/>
              </a:rPr>
              <a:t>1+2</a:t>
            </a:r>
            <a:r>
              <a:rPr lang="zh-CN" altLang="zh-CN" sz="2400" kern="100" dirty="0">
                <a:latin typeface="Times New Roman"/>
              </a:rPr>
              <a:t>，谁填中心，不能确定。再看左圆：</a:t>
            </a:r>
            <a:r>
              <a:rPr lang="en-US" altLang="zh-CN" sz="2400" kern="100" dirty="0">
                <a:latin typeface="Times New Roman"/>
              </a:rPr>
              <a:t>15-5-3=7,7=1+6</a:t>
            </a:r>
            <a:r>
              <a:rPr lang="zh-CN" altLang="zh-CN" sz="2400" kern="100" dirty="0">
                <a:latin typeface="Times New Roman"/>
              </a:rPr>
              <a:t>；最后看右圆：</a:t>
            </a:r>
            <a:r>
              <a:rPr lang="en-US" altLang="zh-CN" sz="2400" kern="100" dirty="0">
                <a:latin typeface="Times New Roman"/>
              </a:rPr>
              <a:t>15-3-7=5,5=1+4</a:t>
            </a:r>
            <a:r>
              <a:rPr lang="zh-CN" altLang="zh-CN" sz="2400" kern="100" dirty="0">
                <a:latin typeface="Times New Roman"/>
              </a:rPr>
              <a:t>；由此可以确定，把“</a:t>
            </a:r>
            <a:r>
              <a:rPr lang="en-US" altLang="zh-CN" sz="2400" kern="100" dirty="0">
                <a:latin typeface="Times New Roman"/>
              </a:rPr>
              <a:t>1</a:t>
            </a:r>
            <a:r>
              <a:rPr lang="zh-CN" altLang="zh-CN" sz="2400" kern="100" dirty="0">
                <a:latin typeface="Times New Roman"/>
              </a:rPr>
              <a:t>”填在中心部分。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解：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143125"/>
            <a:ext cx="1728192" cy="162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500" y="5157192"/>
            <a:ext cx="1704588" cy="1598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921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8164"/>
            <a:ext cx="7344816" cy="6388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28123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在圆圈内填上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～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这八个数字，使长方形每条边上三个数的和为</a:t>
            </a:r>
            <a:r>
              <a:rPr lang="en-US" altLang="zh-CN" sz="4000" kern="100" dirty="0">
                <a:latin typeface="Times New Roman"/>
              </a:rPr>
              <a:t>12.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en-US" altLang="zh-CN" kern="100" dirty="0" smtClean="0">
              <a:latin typeface="宋体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宋体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思路导航：图形中四个角上的数各重复计算了一次，八个数的和是：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1+2+3+4+5+6+7+8=36,12+12+12+12=48,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48-36=12,12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就是四个角的四个数的和，在这八个数中：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1+2+3+6=12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，因此把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这四个数分别填入四角的圈内，再来试算可得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1+8+3=12,1+5+6=12,6+4+2=12,3+7+2=12.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 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980728"/>
            <a:ext cx="2370027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293096"/>
            <a:ext cx="2962534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7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7832"/>
            <a:ext cx="6984775" cy="700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0417034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22</a:t>
            </a:r>
            <a:r>
              <a:rPr lang="zh-CN" altLang="zh-CN" sz="4400" b="1" kern="100" dirty="0">
                <a:latin typeface="Times New Roman"/>
              </a:rPr>
              <a:t>讲 钟表的奥秘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【专题简析】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</a:t>
            </a:r>
            <a:r>
              <a:rPr lang="zh-CN" altLang="zh-CN" kern="100" dirty="0">
                <a:latin typeface="Times New Roman"/>
              </a:rPr>
              <a:t>小朋友们已经学习了“时、分、秒”，认识了时钟，知道了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小时</a:t>
            </a:r>
            <a:r>
              <a:rPr lang="en-US" altLang="zh-CN" kern="100" dirty="0">
                <a:latin typeface="Times New Roman"/>
              </a:rPr>
              <a:t>=60</a:t>
            </a:r>
            <a:r>
              <a:rPr lang="zh-CN" altLang="zh-CN" kern="100" dirty="0">
                <a:latin typeface="Times New Roman"/>
              </a:rPr>
              <a:t>分钟，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分钟</a:t>
            </a:r>
            <a:r>
              <a:rPr lang="en-US" altLang="zh-CN" kern="100" dirty="0">
                <a:latin typeface="Times New Roman"/>
              </a:rPr>
              <a:t>=60</a:t>
            </a:r>
            <a:r>
              <a:rPr lang="zh-CN" altLang="zh-CN" kern="100" dirty="0">
                <a:latin typeface="Times New Roman"/>
              </a:rPr>
              <a:t>秒，这一讲我们就来研究钟面和时间的计算问题。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</a:t>
            </a:r>
            <a:r>
              <a:rPr lang="zh-CN" altLang="zh-CN" kern="100" dirty="0">
                <a:latin typeface="Times New Roman"/>
              </a:rPr>
              <a:t>研究钟面和时间的计算问题，要知道钟面上的时针、分针所在的某一特定位置时的那一瞬间是什么时刻，“时刻”是从钟面上看出来的。从一个时刻到另一个时刻之间经过的间隔是时间，时间可以用计算得来，计算时间的单位有时、分、秒。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096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下面的图（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）是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点整，经过一段时间看到图上的时针走了半格，分针应走到什么位置？这时指的是几点几分？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            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经过一段时间，图（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）时针走半格，分针走了半小时，也就是半圈到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的位置（从图（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）看出分针的运行），这时指的是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分。时针指向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点整，分针应指向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，经过半小时，时针走了半格，分针应从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走到了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，这时指的时间应是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分。</a:t>
            </a: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解：分针走到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，这时是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点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分。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691733"/>
            <a:ext cx="1571625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048250"/>
            <a:ext cx="16002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722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5310"/>
            <a:ext cx="7848872" cy="6590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1846481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学校举行了</a:t>
            </a:r>
            <a:r>
              <a:rPr lang="en-US" altLang="zh-CN" sz="4000" kern="100" dirty="0">
                <a:latin typeface="Times New Roman"/>
              </a:rPr>
              <a:t>50</a:t>
            </a:r>
            <a:r>
              <a:rPr lang="zh-CN" altLang="zh-CN" sz="4000" kern="100" dirty="0">
                <a:latin typeface="Times New Roman"/>
              </a:rPr>
              <a:t>米跑比赛，贝贝比玲玲少用了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秒，贝贝用了</a:t>
            </a:r>
            <a:r>
              <a:rPr lang="en-US" altLang="zh-CN" sz="4000" kern="100" dirty="0">
                <a:latin typeface="Times New Roman"/>
              </a:rPr>
              <a:t>11</a:t>
            </a:r>
            <a:r>
              <a:rPr lang="zh-CN" altLang="zh-CN" sz="4000" kern="100" dirty="0">
                <a:latin typeface="Times New Roman"/>
              </a:rPr>
              <a:t>秒，勇勇比玲玲多用了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秒，谁跑得快？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  <a:r>
              <a:rPr lang="zh-CN" altLang="zh-CN" sz="800" b="1" kern="100" dirty="0">
                <a:solidFill>
                  <a:srgbClr val="FFC000"/>
                </a:solidFill>
                <a:latin typeface="Times New Roman"/>
              </a:rPr>
              <a:t>期望数学岛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根据“贝贝比玲玲少用了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秒，贝贝用了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秒”求出玲玲用了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11+1=12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（秒），又知“勇勇比玲玲多用了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秒”求出勇勇用了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12+1=13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（秒），而时间用得最少的人应该是跑得最快的。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 贝贝用了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秒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810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玲玲用了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11+1=12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（秒）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  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勇勇用了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12+1=13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（秒）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答：贝贝用的时间最少，跑得最快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928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 </a:t>
            </a:r>
            <a:r>
              <a:rPr lang="zh-CN" altLang="zh-CN" kern="100" dirty="0">
                <a:latin typeface="Times New Roman"/>
              </a:rPr>
              <a:t>同学们进行了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米赛跑，军军用了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秒，比平平多用了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秒，明明比平平少用了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秒。三人中，谁跑得最快，谁跑得最慢？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果宝城进行了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米往返跑比赛，他们的成绩是：苹果宝贝用了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秒，菠萝吹雪比苹果宝贝多用了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秒，雪梨大哥比菠萝吹雪少用了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秒，谁跑得最快？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三（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）班有五位同学参加</a:t>
            </a:r>
            <a:r>
              <a:rPr lang="en-US" altLang="zh-CN" kern="100" dirty="0">
                <a:latin typeface="Times New Roman"/>
              </a:rPr>
              <a:t>100</a:t>
            </a:r>
            <a:r>
              <a:rPr lang="zh-CN" altLang="zh-CN" kern="100" dirty="0">
                <a:latin typeface="Times New Roman"/>
              </a:rPr>
              <a:t>米跑得成绩分别为：</a:t>
            </a:r>
            <a:r>
              <a:rPr lang="en-US" altLang="zh-CN" kern="100" dirty="0">
                <a:latin typeface="Times New Roman"/>
              </a:rPr>
              <a:t>23</a:t>
            </a:r>
            <a:r>
              <a:rPr lang="zh-CN" altLang="zh-CN" kern="100" dirty="0">
                <a:latin typeface="Times New Roman"/>
              </a:rPr>
              <a:t>秒、</a:t>
            </a:r>
            <a:r>
              <a:rPr lang="en-US" altLang="zh-CN" kern="100" dirty="0">
                <a:latin typeface="Times New Roman"/>
              </a:rPr>
              <a:t>22</a:t>
            </a:r>
            <a:r>
              <a:rPr lang="zh-CN" altLang="zh-CN" kern="100" dirty="0">
                <a:latin typeface="Times New Roman"/>
              </a:rPr>
              <a:t>秒、</a:t>
            </a:r>
            <a:r>
              <a:rPr lang="en-US" altLang="zh-CN" kern="100" dirty="0">
                <a:latin typeface="Times New Roman"/>
              </a:rPr>
              <a:t>21</a:t>
            </a:r>
            <a:r>
              <a:rPr lang="zh-CN" altLang="zh-CN" kern="100" dirty="0">
                <a:latin typeface="Times New Roman"/>
              </a:rPr>
              <a:t>秒、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秒、</a:t>
            </a:r>
            <a:r>
              <a:rPr lang="en-US" altLang="zh-CN" kern="100" dirty="0">
                <a:latin typeface="Times New Roman"/>
              </a:rPr>
              <a:t>26</a:t>
            </a:r>
            <a:r>
              <a:rPr lang="zh-CN" altLang="zh-CN" kern="100" dirty="0">
                <a:latin typeface="Times New Roman"/>
              </a:rPr>
              <a:t>秒，请问最快的用了多少秒？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3675447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indent="3810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u="sng" kern="100" dirty="0">
                <a:latin typeface="宋体"/>
              </a:rPr>
              <a:t>      </a:t>
            </a:r>
            <a:r>
              <a:rPr lang="zh-CN" altLang="zh-CN" kern="100" dirty="0">
                <a:latin typeface="Times New Roman"/>
              </a:rPr>
              <a:t>时</a:t>
            </a:r>
            <a:r>
              <a:rPr lang="en-US" altLang="zh-CN" u="sng" kern="100" dirty="0">
                <a:latin typeface="Times New Roman"/>
              </a:rPr>
              <a:t>      </a:t>
            </a:r>
            <a:r>
              <a:rPr lang="zh-CN" altLang="zh-CN" kern="100" dirty="0">
                <a:latin typeface="Times New Roman"/>
              </a:rPr>
              <a:t>分开始写作业</a:t>
            </a:r>
            <a:r>
              <a:rPr lang="en-US" altLang="zh-CN" kern="100" dirty="0">
                <a:latin typeface="Times New Roman"/>
              </a:rPr>
              <a:t>          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时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分做完</a:t>
            </a:r>
            <a:r>
              <a:rPr lang="zh-CN" altLang="zh-CN" kern="100" dirty="0" smtClean="0">
                <a:latin typeface="Times New Roman"/>
              </a:rPr>
              <a:t>作业</a:t>
            </a:r>
            <a:endParaRPr lang="en-US" altLang="zh-CN" kern="100" dirty="0" smtClean="0">
              <a:latin typeface="Times New Roman"/>
            </a:endParaRPr>
          </a:p>
          <a:p>
            <a:pPr indent="381000"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导航：从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点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分开始写作业，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分写完作业，从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时共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分钟，再加上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分钟，一共经过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分钟。</a:t>
            </a:r>
          </a:p>
          <a:p>
            <a:pPr indent="46672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解：</a:t>
            </a:r>
            <a:endParaRPr lang="zh-CN" altLang="zh-CN" sz="2400" kern="100" dirty="0">
              <a:latin typeface="Times New Roman"/>
            </a:endParaRPr>
          </a:p>
          <a:p>
            <a:pPr indent="533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indent="533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 </a:t>
            </a:r>
            <a:endParaRPr lang="zh-CN" altLang="zh-CN" sz="2400" kern="100" dirty="0">
              <a:latin typeface="Times New Roman"/>
            </a:endParaRPr>
          </a:p>
          <a:p>
            <a:pPr indent="3810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u="sng" kern="100" dirty="0" smtClean="0">
                <a:solidFill>
                  <a:srgbClr val="FFC000"/>
                </a:solidFill>
                <a:latin typeface="宋体"/>
              </a:rPr>
              <a:t>  </a:t>
            </a:r>
            <a:r>
              <a:rPr lang="en-US" altLang="zh-CN" u="sng" kern="100" dirty="0">
                <a:solidFill>
                  <a:srgbClr val="FFC000"/>
                </a:solidFill>
                <a:latin typeface="宋体"/>
              </a:rPr>
              <a:t>5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u="sng" kern="100" dirty="0">
                <a:solidFill>
                  <a:srgbClr val="FFC000"/>
                </a:solidFill>
                <a:latin typeface="Times New Roman"/>
              </a:rPr>
              <a:t>  45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分开始写作业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            </a:t>
            </a:r>
            <a:r>
              <a:rPr lang="en-US" altLang="zh-CN" u="sng" kern="100" dirty="0">
                <a:solidFill>
                  <a:srgbClr val="FFC000"/>
                </a:solidFill>
                <a:latin typeface="Times New Roman"/>
              </a:rPr>
              <a:t>   6 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u="sng" kern="100" dirty="0">
                <a:solidFill>
                  <a:srgbClr val="FFC000"/>
                </a:solidFill>
                <a:latin typeface="Times New Roman"/>
              </a:rPr>
              <a:t>  10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分做完作业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290215"/>
            <a:ext cx="4274197" cy="1562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805" y="3717032"/>
            <a:ext cx="401002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07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42926"/>
            <a:ext cx="7922227" cy="6626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2916185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王老师上午</a:t>
            </a:r>
            <a:r>
              <a:rPr lang="en-US" altLang="zh-CN" kern="100" dirty="0">
                <a:latin typeface="Times New Roman"/>
              </a:rPr>
              <a:t>7:30</a:t>
            </a:r>
            <a:r>
              <a:rPr lang="zh-CN" altLang="zh-CN" kern="100" dirty="0">
                <a:latin typeface="Times New Roman"/>
              </a:rPr>
              <a:t>到校上班，</a:t>
            </a:r>
            <a:r>
              <a:rPr lang="en-US" altLang="zh-CN" kern="100" dirty="0">
                <a:latin typeface="Times New Roman"/>
              </a:rPr>
              <a:t>11:30</a:t>
            </a:r>
            <a:r>
              <a:rPr lang="zh-CN" altLang="zh-CN" kern="100" dirty="0">
                <a:latin typeface="Times New Roman"/>
              </a:rPr>
              <a:t>下班，下午</a:t>
            </a:r>
            <a:r>
              <a:rPr lang="en-US" altLang="zh-CN" kern="100" dirty="0">
                <a:latin typeface="Times New Roman"/>
              </a:rPr>
              <a:t>1:00</a:t>
            </a:r>
            <a:r>
              <a:rPr lang="zh-CN" altLang="zh-CN" kern="100" dirty="0">
                <a:latin typeface="Times New Roman"/>
              </a:rPr>
              <a:t>上班，</a:t>
            </a:r>
            <a:r>
              <a:rPr lang="en-US" altLang="zh-CN" kern="100" dirty="0">
                <a:latin typeface="Times New Roman"/>
              </a:rPr>
              <a:t>5:00</a:t>
            </a:r>
            <a:r>
              <a:rPr lang="zh-CN" altLang="zh-CN" kern="100" dirty="0">
                <a:latin typeface="Times New Roman"/>
              </a:rPr>
              <a:t>下班，王老师上午在学校里多少时间？下午在学校里多少时间？一共在校几小时？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indent="13335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7:30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～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11:30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经过了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-7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小时），所以王老师上午在校时间是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小时。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1:00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～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5:00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经过了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-1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小时）所以王老师下午在校时间也是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小时。王老师一共在校时间为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4+4=8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（小时）。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解：上午在校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小时，下午在校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小时，一共在校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04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小红放学回到家，正好是</a:t>
            </a:r>
            <a:r>
              <a:rPr lang="en-US" altLang="zh-CN" kern="100" dirty="0">
                <a:latin typeface="Times New Roman"/>
              </a:rPr>
              <a:t>4:30</a:t>
            </a:r>
            <a:r>
              <a:rPr lang="zh-CN" altLang="zh-CN" kern="100" dirty="0">
                <a:latin typeface="Times New Roman"/>
              </a:rPr>
              <a:t>，她先做语文作业，用了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分钟；接着做数学作业，用了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分钟；最后她写了一篇作文，用了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分钟。当她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的作业全部做完时，应是几时几分？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红光小学上午</a:t>
            </a:r>
            <a:r>
              <a:rPr lang="en-US" altLang="zh-CN" kern="100" dirty="0">
                <a:latin typeface="Times New Roman"/>
              </a:rPr>
              <a:t>8:00</a:t>
            </a:r>
            <a:r>
              <a:rPr lang="zh-CN" altLang="zh-CN" kern="100" dirty="0">
                <a:latin typeface="Times New Roman"/>
              </a:rPr>
              <a:t>开始上第一节课，上午上四节课，每节课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分钟，课间休息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分钟，第四节课下课就排队放学，学生上午在校几小时几分？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indent="12192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同学们看电影《红军·长征》，看完这部电影要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小时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分，如果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点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分开映，放映结束时应该是什么时间？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2087635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填空。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小时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）分</a:t>
            </a:r>
            <a:r>
              <a:rPr lang="en-US" altLang="zh-CN" kern="100" dirty="0">
                <a:latin typeface="Times New Roman"/>
              </a:rPr>
              <a:t>     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小时</a:t>
            </a:r>
            <a:r>
              <a:rPr lang="en-US" altLang="zh-CN" kern="100" dirty="0">
                <a:latin typeface="Times New Roman"/>
              </a:rPr>
              <a:t>45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）分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120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）小时</a:t>
            </a:r>
            <a:r>
              <a:rPr lang="en-US" altLang="zh-CN" kern="100" dirty="0">
                <a:latin typeface="Times New Roman"/>
              </a:rPr>
              <a:t>   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75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）小时（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）分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思路导航：题（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）：因为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=60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3=180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分；题（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）：先计算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=60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2=120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分钟，再加上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分钟，就是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120+45=165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分钟；题（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）：因为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=60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=120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60=2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题（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=60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-60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=15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分，也就是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）分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）小时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=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）小时（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）分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73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1</a:t>
            </a:r>
            <a:r>
              <a:rPr lang="en-US" altLang="zh-CN" kern="100" dirty="0">
                <a:latin typeface="宋体"/>
              </a:rPr>
              <a:t>.5</a:t>
            </a:r>
            <a:r>
              <a:rPr lang="zh-CN" altLang="zh-CN" kern="100" dirty="0">
                <a:latin typeface="Times New Roman"/>
              </a:rPr>
              <a:t>小时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）分</a:t>
            </a:r>
            <a:r>
              <a:rPr lang="en-US" altLang="zh-CN" kern="100" dirty="0">
                <a:latin typeface="Times New Roman"/>
              </a:rPr>
              <a:t>                 4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=(   )</a:t>
            </a:r>
            <a:r>
              <a:rPr lang="zh-CN" altLang="zh-CN" kern="100" dirty="0">
                <a:latin typeface="Times New Roman"/>
              </a:rPr>
              <a:t>秒</a:t>
            </a:r>
            <a:endParaRPr lang="zh-CN" altLang="zh-CN" sz="2400" kern="100" dirty="0"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小时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=(   )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              360</a:t>
            </a:r>
            <a:r>
              <a:rPr lang="zh-CN" altLang="zh-CN" kern="100" dirty="0">
                <a:latin typeface="Times New Roman"/>
              </a:rPr>
              <a:t>秒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）分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</a:t>
            </a:r>
            <a:r>
              <a:rPr lang="en-US" altLang="zh-CN" kern="100" dirty="0">
                <a:latin typeface="宋体"/>
              </a:rPr>
              <a:t>.</a:t>
            </a:r>
            <a:r>
              <a:rPr lang="en-US" altLang="zh-CN" kern="100" dirty="0">
                <a:latin typeface="Times New Roman"/>
              </a:rPr>
              <a:t>80</a:t>
            </a:r>
            <a:r>
              <a:rPr lang="zh-CN" altLang="zh-CN" kern="100" dirty="0">
                <a:latin typeface="Times New Roman"/>
              </a:rPr>
              <a:t>秒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）分（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）秒</a:t>
            </a:r>
            <a:r>
              <a:rPr lang="en-US" altLang="zh-CN" kern="100" dirty="0">
                <a:latin typeface="Times New Roman"/>
              </a:rPr>
              <a:t>         75</a:t>
            </a:r>
            <a:r>
              <a:rPr lang="zh-CN" altLang="zh-CN" kern="100" dirty="0">
                <a:latin typeface="Times New Roman"/>
              </a:rPr>
              <a:t>秒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）分（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）秒</a:t>
            </a:r>
            <a:endParaRPr lang="zh-CN" altLang="zh-CN" sz="2400" kern="100" dirty="0"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240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）小时</a:t>
            </a:r>
            <a:r>
              <a:rPr lang="en-US" altLang="zh-CN" kern="100" dirty="0">
                <a:latin typeface="Times New Roman"/>
              </a:rPr>
              <a:t>               3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秒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）秒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</a:t>
            </a:r>
            <a:r>
              <a:rPr lang="en-US" altLang="zh-CN" kern="100" dirty="0">
                <a:latin typeface="宋体"/>
              </a:rPr>
              <a:t>.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小时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）分</a:t>
            </a:r>
            <a:r>
              <a:rPr lang="en-US" altLang="zh-CN" kern="100" dirty="0">
                <a:latin typeface="Times New Roman"/>
              </a:rPr>
              <a:t>           250</a:t>
            </a:r>
            <a:r>
              <a:rPr lang="zh-CN" altLang="zh-CN" kern="100" dirty="0">
                <a:latin typeface="Times New Roman"/>
              </a:rPr>
              <a:t>分</a:t>
            </a:r>
            <a:r>
              <a:rPr lang="en-US" altLang="zh-CN" kern="100" dirty="0">
                <a:latin typeface="Times New Roman"/>
              </a:rPr>
              <a:t>=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）小时（</a:t>
            </a:r>
            <a:r>
              <a:rPr lang="en-US" altLang="zh-CN" kern="100" dirty="0">
                <a:latin typeface="Times New Roman"/>
              </a:rPr>
              <a:t>    </a:t>
            </a:r>
            <a:r>
              <a:rPr lang="zh-CN" altLang="zh-CN" kern="100" dirty="0">
                <a:latin typeface="Times New Roman"/>
              </a:rPr>
              <a:t>）分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750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23</a:t>
            </a:r>
            <a:r>
              <a:rPr lang="zh-CN" altLang="zh-CN" sz="4400" b="1" kern="100" dirty="0">
                <a:latin typeface="Times New Roman"/>
              </a:rPr>
              <a:t>讲 不会输的游戏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小朋友都很喜欢做游戏，数学中也有很多游戏。通过数学游戏，不仅能培养我们把实际问题数学化的能力，而且还能培养我们学习数学的兴趣。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在这些游戏中，想要使拿到最后一个者获胜，首先要决定谁先拿，如果把物品总数除以每次取物品个数的和，没有余数，就让对方先拿，自己拿的个数必须和对方拿的个数合起来是两人每次的和。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50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桌上有</a:t>
            </a:r>
            <a:r>
              <a:rPr lang="en-US" altLang="zh-CN" sz="4000" kern="100" dirty="0">
                <a:latin typeface="Times New Roman"/>
              </a:rPr>
              <a:t>21</a:t>
            </a:r>
            <a:r>
              <a:rPr lang="zh-CN" altLang="zh-CN" sz="4000" kern="100" dirty="0">
                <a:latin typeface="Times New Roman"/>
              </a:rPr>
              <a:t>根火柴，小邱和小红轮流取，每人每次取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根或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根，谁取到最后一根谁就获胜。小红该怎样取才能保证获胜？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因为每人每次只能拿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根，所以只要小邱先拿，小红就一定能拿到第三根，即小邱拿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根，小红就拿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根，小邱拿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根，小红就拿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根，如此拿下去小红就能把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这些“制高点”掌握在手，从而获胜。因此只要把火柴总数除以二人每次取火柴的和，如果没有余数，就让双方先拿。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解：小红让小邱先拿，并且每次自己拿的个数和小邱拿的根数合起来是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，则小红保证能获胜。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037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小明和小刚一起做游戏，他们把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粒棋子放在桌上，然后轮流拿，每人每次只能拿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粒或者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粒，谁拿到最后一粒谁就获胜，你能让小明保证获胜吗？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桌上放着一堆火柴，共</a:t>
            </a:r>
            <a:r>
              <a:rPr lang="en-US" altLang="zh-CN" kern="100" dirty="0">
                <a:latin typeface="Times New Roman"/>
              </a:rPr>
              <a:t>56</a:t>
            </a:r>
            <a:r>
              <a:rPr lang="zh-CN" altLang="zh-CN" kern="100" dirty="0">
                <a:latin typeface="Times New Roman"/>
              </a:rPr>
              <a:t>根。由甲乙两人轮流拿，每人每次拿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至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根，拿到最后一根的人获胜，问该怎样拿才能保证获胜？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桌上有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颗彩珠，小丽和小兰轮流拿，每人每次只能拿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颗或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颗，谁拿到最后五颗，谁就获胜，小兰该怎样拿才能保证获胜呢？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079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】甲、乙两名同学从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到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轮流连续报数，谁先报到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这个数，谁就获胜，规定：每人每次最多报三个数，最少一个数。如甲报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，乙可报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或报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；接着甲可报乙报的数后面的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个数或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个数或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个数。问：有没有必胜的报数策略？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要想必胜，就要抢到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。要抢到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，只要捡到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，这时如果对方报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，你就报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；如果对方报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，你就报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；对方报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，你就报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。同理，要抢到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，只要抢到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。要抢到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，只要抢到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。同理只要抢以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即可。也就是从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继续减去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……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，余数是几，就必须先抢到几）。策略是自己先报，且先报到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，这样就能确保抢到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解：你先报到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，对方报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，你就报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；对方报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，你就报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；对方报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，你就报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；同理可以确保抢到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38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小东和小华做游戏，他们把</a:t>
            </a:r>
            <a:r>
              <a:rPr lang="en-US" altLang="zh-CN" kern="100" dirty="0">
                <a:latin typeface="Times New Roman"/>
              </a:rPr>
              <a:t>19</a:t>
            </a:r>
            <a:r>
              <a:rPr lang="zh-CN" altLang="zh-CN" kern="100" dirty="0">
                <a:latin typeface="Times New Roman"/>
              </a:rPr>
              <a:t>粒棋子放在桌上，然后轮流拿，每人每次能拿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粒或者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粒，谁拿到最后一粒，谁就获胜。这次小东该怎样拿才能保证获胜呢？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桌上有</a:t>
            </a:r>
            <a:r>
              <a:rPr lang="en-US" altLang="zh-CN" kern="100" dirty="0">
                <a:latin typeface="Times New Roman"/>
              </a:rPr>
              <a:t>22</a:t>
            </a:r>
            <a:r>
              <a:rPr lang="zh-CN" altLang="zh-CN" kern="100" dirty="0">
                <a:latin typeface="Times New Roman"/>
              </a:rPr>
              <a:t>根火柴，小明和小红轮流取，每人每次只能取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根或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根，谁取到最后一根谁获胜。这次小红该怎样取才能保证获胜？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报</a:t>
            </a:r>
            <a:r>
              <a:rPr lang="en-US" altLang="zh-CN" kern="100" dirty="0">
                <a:latin typeface="Times New Roman"/>
              </a:rPr>
              <a:t>80</a:t>
            </a:r>
            <a:r>
              <a:rPr lang="zh-CN" altLang="zh-CN" kern="100" dirty="0">
                <a:latin typeface="Times New Roman"/>
              </a:rPr>
              <a:t>，两人轮流报，从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开始，每人每次报</a:t>
            </a:r>
            <a:r>
              <a:rPr lang="en-US" altLang="zh-CN" kern="100" dirty="0">
                <a:latin typeface="Times New Roman"/>
              </a:rPr>
              <a:t>1~</a:t>
            </a:r>
            <a:r>
              <a:rPr lang="en-US" altLang="zh-CN" kern="100" dirty="0">
                <a:latin typeface="宋体"/>
              </a:rPr>
              <a:t>5</a:t>
            </a:r>
            <a:r>
              <a:rPr lang="zh-CN" altLang="zh-CN" kern="100" dirty="0">
                <a:latin typeface="Times New Roman"/>
              </a:rPr>
              <a:t>个连续数，如果一人报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，另一个人可报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 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；如果一人报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、另一人可报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 5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或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，谁先报到</a:t>
            </a:r>
            <a:r>
              <a:rPr lang="en-US" altLang="zh-CN" kern="100" dirty="0">
                <a:latin typeface="Times New Roman"/>
              </a:rPr>
              <a:t>80</a:t>
            </a:r>
            <a:r>
              <a:rPr lang="zh-CN" altLang="zh-CN" kern="100" dirty="0">
                <a:latin typeface="Times New Roman"/>
              </a:rPr>
              <a:t>谁就获胜。问怎样报才能取胜？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32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92688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有两堆枚数相等的棋子，甲、乙两人轮流在其中任意一堆里取，多取不限，但不有不取。谁取到了最后一枚棋子为胜，如果甲后取，他一定能取胜吗？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由于两堆棋子的枚数相等，例如都有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枚，如图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 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如果乙先在左边取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枚，甲在右边取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枚，这时两边都还有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枚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    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乙先在哪一边取几枚，甲就在另一边取几枚，甲一定取走最后一枚棋子。甲后取，一定能获胜，不论乙先在其中哪一堆里取多少枚棋子，甲总可以在另一堆里取相同枚数的棋子，因此甲一定能获胜，如果两堆棋子数不相等，只要甲先取出较多一堆里比另一堆多的枚数，使得两堆棋子枚数相等，就可以转化为例题中的情形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解：见思路导航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05298"/>
            <a:ext cx="1357314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738775"/>
            <a:ext cx="1152128" cy="37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861048"/>
            <a:ext cx="1170711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7" y="3850751"/>
            <a:ext cx="1191637" cy="58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511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0648"/>
            <a:ext cx="8010477" cy="609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451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小东和小华玩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根小棒轮流取的游戏，每人每次可取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根或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根，谁取到最后一根谁就获胜。小东先取了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根，小华怎样取才能获胜？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根小棒小东先取走了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根，还有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（根），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……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，小华也跟着取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根，然后不管小东取几根，只要小华每次取的和小东每次取的根数合起来是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，小华就一定能获胜。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解：见思路导航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8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小华和小东做游戏，桌上有</a:t>
            </a:r>
            <a:r>
              <a:rPr lang="en-US" altLang="zh-CN" kern="100" dirty="0">
                <a:latin typeface="Times New Roman"/>
              </a:rPr>
              <a:t>45</a:t>
            </a:r>
            <a:r>
              <a:rPr lang="zh-CN" altLang="zh-CN" kern="100" dirty="0">
                <a:latin typeface="Times New Roman"/>
              </a:rPr>
              <a:t>粒棋子，每人每次可取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粒或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粒，谁取到最后一粒谁获胜，小华先拿走了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粒，问小东怎样取才能获胜？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小军和小明在做游戏，他们在桌上放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根火柴棒，规定每人每次可取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根至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根，谁拿到最后一根，谁获胜，小军先拿了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根，问小明怎样取才能获胜？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两堆糖，两人轮流拿，一次只能在其中一堆拿，拿几根不限，最后一个把糖拿走的人算输，怎样拿会输？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708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363272" cy="6336704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12</a:t>
            </a:r>
            <a:r>
              <a:rPr lang="zh-CN" altLang="zh-CN" sz="4000" kern="100" dirty="0">
                <a:latin typeface="Times New Roman"/>
              </a:rPr>
              <a:t>枚棋子摆成一圈，小华和小东轮流从中取走一枚或两枚，如果取走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枚，这两枚必须相邻。谁取走最后一枚谁就获胜，小华应采取什么样的策略才能获胜？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小华可以这样做：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）让小东先取走一枚或两枚之后，圆圈的某一位置将出现单独的空当。于是小华从圆圈中与这个空当相对的一侧取走一枚或两枚，使得余下的棋子被两个空当分成数目相等的两部分。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）从这以后，小东从哪一部分中取走一枚或两枚，小华就从另一部分中取走相同数量的棋子，这样小华就能取走最后一枚而获胜。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解：如右图：（数字是图中棋子的编号）小东在一侧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取一枚或几枚棋子，小华就在空当相对的另一侧取走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相同数量的棋子，小华获胜。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3" y="5013175"/>
            <a:ext cx="1763688" cy="17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55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92688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桌子上摆成一圈放着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枚棋子，甲、乙两人轮流从中取，每次取一枚或取相邻的两枚，如果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枚棋子之间已有棋子被取走，它们不算相邻的，谁取到最后一枚就算胜利，你看是先取有利还是后取有利？有没有必胜的方法？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桌上摆成一圈放着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根小棒，每次只能取一根或相邻的两根（如果两根小棒之间有小棒被取走，就不算相邻），小芳先取，乐乐后取，谁能取到最后一根就算胜利，乐乐要想取胜应怎样取？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有</a:t>
            </a:r>
            <a:r>
              <a:rPr lang="en-US" altLang="zh-CN" kern="100" dirty="0">
                <a:latin typeface="Times New Roman"/>
              </a:rPr>
              <a:t>11</a:t>
            </a:r>
            <a:r>
              <a:rPr lang="zh-CN" altLang="zh-CN" kern="100" dirty="0">
                <a:latin typeface="Times New Roman"/>
              </a:rPr>
              <a:t>根火柴，</a:t>
            </a:r>
            <a:r>
              <a:rPr lang="en-US" altLang="zh-CN" kern="100" dirty="0">
                <a:latin typeface="Times New Roman"/>
              </a:rPr>
              <a:t>A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B</a:t>
            </a:r>
            <a:r>
              <a:rPr lang="zh-CN" altLang="zh-CN" kern="100" dirty="0">
                <a:latin typeface="Times New Roman"/>
              </a:rPr>
              <a:t>两个比赛，规定每个人每次可以拿</a:t>
            </a:r>
            <a:r>
              <a:rPr lang="en-US" altLang="zh-CN" kern="100" dirty="0">
                <a:latin typeface="Times New Roman"/>
              </a:rPr>
              <a:t>1~3</a:t>
            </a:r>
            <a:r>
              <a:rPr lang="zh-CN" altLang="zh-CN" kern="100" dirty="0">
                <a:latin typeface="Times New Roman"/>
              </a:rPr>
              <a:t>根火柴，但不能连续再次拿去相同数目的火柴，谁拿到最后一根火柴，谁就得胜，如果</a:t>
            </a:r>
            <a:r>
              <a:rPr lang="en-US" altLang="zh-CN" kern="100" dirty="0">
                <a:latin typeface="Times New Roman"/>
              </a:rPr>
              <a:t>A</a:t>
            </a:r>
            <a:r>
              <a:rPr lang="zh-CN" altLang="zh-CN" kern="100" dirty="0">
                <a:latin typeface="Times New Roman"/>
              </a:rPr>
              <a:t>先开始拿，是否有必胜的方法？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853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24</a:t>
            </a:r>
            <a:r>
              <a:rPr lang="zh-CN" altLang="zh-CN" sz="4400" b="1" kern="100" dirty="0">
                <a:latin typeface="Times New Roman"/>
              </a:rPr>
              <a:t>讲 位置趣谈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同学们排队，以某一个人为标准来数人数，知道他左边、右边人数或从左、从右数他排第几，这类问题就是排队问题，排队问题的关键是要找出重复部分再解答。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在排队问题中，中间这一个人既不能漏掉，也不能重复，如：小玲从队伍的右边数起是第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个，从左边数起是第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个，这里小玲重复数了两次，所以在计算总人数时一定要把重复的人数去掉。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147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小明排队唱歌，他站的这一排，从左向右数，他是第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个，从右向左数，他是第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个，问这一排共有多少人？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如图</a:t>
            </a:r>
            <a:r>
              <a:rPr lang="zh-CN" altLang="zh-CN" sz="2400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sz="2400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en-US" altLang="zh-CN" b="1" kern="100" dirty="0" smtClean="0">
              <a:solidFill>
                <a:srgbClr val="FFC000"/>
              </a:solidFill>
              <a:latin typeface="宋体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从左边数起，小明是第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个，他被数了一遍；从右边数起，小明是第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个，他又被数了一次，这样小明共被数了两次，多数了一次，所以算一共有多少人时，应从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5+6=11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（人）中去掉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人。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5+6=11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   11-1=10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答：这一排共有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人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204864"/>
            <a:ext cx="3600400" cy="1254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283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小朋友排队照相，小力坐在第一排。从左往右数，他坐第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个，从右往左数，他坐第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个。第一排一共坐了多少个小朋友</a:t>
            </a:r>
            <a:r>
              <a:rPr lang="en-US" altLang="zh-CN" kern="100" dirty="0">
                <a:latin typeface="Times New Roman"/>
              </a:rPr>
              <a:t>?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有一排不同颜色的彩灯，无论从左往右数，还是从右往左数，第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盏都是同一盏红灯，这一排共有多少盏彩灯？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一群小动物排一排，从左往右数，第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只是兔子，从右往左数第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只是小鹿，小鹿在兔子前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个，这群小动物共有几只？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45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2068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光明小学二（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）班参加课外活动，要求每人至少报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项，最多报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项，有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人报合唱组，有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人报数学兴趣小组，其中有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人报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项，二（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）班一共有多少学生？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zh-CN" altLang="zh-CN" sz="2400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图中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A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圈表示参加合唱组的人数，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圈表示参加数学兴趣组的人数。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两圈重叠的部分（即阴影部分），表示两项都参加的人数，从图中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可以看出，两项都参加的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人被算了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次，重复了。所以要从两组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共有的人数中减去重复的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20+25-5=40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（名）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答：二（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）班一共有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名学生。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365104"/>
            <a:ext cx="2390408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138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）班同学人人都订阅报纸，订《数学报》的有</a:t>
            </a:r>
            <a:r>
              <a:rPr lang="en-US" altLang="zh-CN" kern="100" dirty="0">
                <a:latin typeface="Times New Roman"/>
              </a:rPr>
              <a:t>38</a:t>
            </a:r>
            <a:r>
              <a:rPr lang="zh-CN" altLang="zh-CN" kern="100" dirty="0">
                <a:latin typeface="Times New Roman"/>
              </a:rPr>
              <a:t>人，订《中国儿童报》的有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人，其中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人这两种都订，问二（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）班共有多少人？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张老师出了两道思考题给二（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）班同学做，做对第一题的有</a:t>
            </a:r>
            <a:r>
              <a:rPr lang="en-US" altLang="zh-CN" kern="100" dirty="0">
                <a:latin typeface="Times New Roman"/>
              </a:rPr>
              <a:t>38</a:t>
            </a:r>
            <a:r>
              <a:rPr lang="zh-CN" altLang="zh-CN" kern="100" dirty="0">
                <a:latin typeface="Times New Roman"/>
              </a:rPr>
              <a:t>人，做对第二题的有</a:t>
            </a:r>
            <a:r>
              <a:rPr lang="en-US" altLang="zh-CN" kern="100" dirty="0">
                <a:latin typeface="Times New Roman"/>
              </a:rPr>
              <a:t>22</a:t>
            </a:r>
            <a:r>
              <a:rPr lang="zh-CN" altLang="zh-CN" kern="100" dirty="0">
                <a:latin typeface="Times New Roman"/>
              </a:rPr>
              <a:t>人，两题都做对的有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人，没有全做错的同学，求二（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）班共有学生多少人？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有两块木板，一块长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分米，另一块长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分米，把两块木板重叠一部分后钉成一块长</a:t>
            </a:r>
            <a:r>
              <a:rPr lang="en-US" altLang="zh-CN" kern="100" dirty="0">
                <a:latin typeface="Times New Roman"/>
              </a:rPr>
              <a:t>36</a:t>
            </a:r>
            <a:r>
              <a:rPr lang="zh-CN" altLang="zh-CN" kern="100" dirty="0">
                <a:latin typeface="Times New Roman"/>
              </a:rPr>
              <a:t>分米的木板，重叠部分长多少分米？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09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）班同学排成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列做操，每列人数同样多，小明站在第一列，从前面数，从后面数他都是第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个。二（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）班一共有多少人在做操？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从前边或右边数，小明都排在第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个，说明竖着数每列有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5+5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（人），由于每列人数相同，竖着每列有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人，一共有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列，要求一共有多少同学在做操，就是求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是多少。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答：二（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）班一共有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人在做操。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258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）班同学排成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列做操，每列人数同样多，小红站在第二列，从前面数，从后面数她都是第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个。二（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）班一共有多少个同学在做操？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小朋友排成方队做操，不管从前边还是从后边数，也不管是从左边还是从右边数，双双都排在第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个，这个方队里一共有多少个小朋友？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舞蹈队的同学表演节目，每队人数同样多。小兵从左往右数排第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，从右边往左数排第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，从前面数排第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，从后面数排第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，你知道舞蹈队一共有多少人？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54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25</a:t>
            </a:r>
            <a:r>
              <a:rPr lang="zh-CN" altLang="zh-CN" sz="4000" kern="100" dirty="0">
                <a:latin typeface="Times New Roman"/>
              </a:rPr>
              <a:t>个小朋友排成一行，从左边数起小林是第</a:t>
            </a:r>
            <a:r>
              <a:rPr lang="en-US" altLang="zh-CN" sz="4000" kern="100" dirty="0">
                <a:latin typeface="Times New Roman"/>
              </a:rPr>
              <a:t>12</a:t>
            </a:r>
            <a:r>
              <a:rPr lang="zh-CN" altLang="zh-CN" sz="4000" kern="100" dirty="0">
                <a:latin typeface="Times New Roman"/>
              </a:rPr>
              <a:t>个，从右边数起小明是第</a:t>
            </a:r>
            <a:r>
              <a:rPr lang="en-US" altLang="zh-CN" sz="4000" kern="100" dirty="0">
                <a:latin typeface="Times New Roman"/>
              </a:rPr>
              <a:t>9</a:t>
            </a:r>
            <a:r>
              <a:rPr lang="zh-CN" altLang="zh-CN" sz="4000" kern="100" dirty="0">
                <a:latin typeface="Times New Roman"/>
              </a:rPr>
              <a:t>个，小林和小明之间隔着几个小朋友？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我们可以这样想：先从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个中减去小林和他左边的人数，再减去小明和他右边的人数，剩下的就是他俩之间的人数。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   13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答：小林和小明之间隔着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个小朋友。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874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有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个小朋友排成一列做操，从前面数起青青是第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个，从后面数起华华是第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个，青青和华华中间有几个小朋友？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2.10</a:t>
            </a:r>
            <a:r>
              <a:rPr lang="zh-CN" altLang="zh-CN" kern="100" dirty="0">
                <a:latin typeface="Times New Roman"/>
              </a:rPr>
              <a:t>个小朋友排成一队，从前面数小红排在第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个，小华排在小红后面第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个，那么小华从后往前数排第几个？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两位老师带着</a:t>
            </a:r>
            <a:r>
              <a:rPr lang="en-US" altLang="zh-CN" kern="100" dirty="0">
                <a:latin typeface="Times New Roman"/>
              </a:rPr>
              <a:t>32</a:t>
            </a:r>
            <a:r>
              <a:rPr lang="zh-CN" altLang="zh-CN" kern="100" dirty="0">
                <a:latin typeface="Times New Roman"/>
              </a:rPr>
              <a:t>个学生去看电影，他们正好坐在同一排，从左边数起第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个是王老师，从右边数起第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个是李老师，求：两位老师中间坐着同个同学？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703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小东、小红、小佳排成一行，小佳必须站中间，有几种排法？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小佳站中间，则小明站小佳左边，小红站小佳右边为一种排法。小明站小佳右边，小红站小佳左边为第二种排法。一共有两种排法。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解：有两种排法。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09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>
                <a:latin typeface="Times New Roman"/>
              </a:rPr>
              <a:t>练习</a:t>
            </a:r>
            <a:r>
              <a:rPr lang="en-US" altLang="zh-CN" kern="100">
                <a:latin typeface="Times New Roman"/>
              </a:rPr>
              <a:t>5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宋体"/>
              </a:rPr>
              <a:t>1.</a:t>
            </a:r>
            <a:r>
              <a:rPr lang="zh-CN" altLang="zh-CN" kern="100">
                <a:latin typeface="Times New Roman"/>
              </a:rPr>
              <a:t>一次晚会，只有</a:t>
            </a:r>
            <a:r>
              <a:rPr lang="en-US" altLang="zh-CN" kern="100">
                <a:latin typeface="Times New Roman"/>
              </a:rPr>
              <a:t>3</a:t>
            </a:r>
            <a:r>
              <a:rPr lang="zh-CN" altLang="zh-CN" kern="100">
                <a:latin typeface="Times New Roman"/>
              </a:rPr>
              <a:t>个文艺节目，主持人安排这</a:t>
            </a:r>
            <a:r>
              <a:rPr lang="en-US" altLang="zh-CN" kern="100">
                <a:latin typeface="Times New Roman"/>
              </a:rPr>
              <a:t>3</a:t>
            </a:r>
            <a:r>
              <a:rPr lang="zh-CN" altLang="zh-CN" kern="100">
                <a:latin typeface="Times New Roman"/>
              </a:rPr>
              <a:t>个节目演出的先后，</a:t>
            </a:r>
            <a:r>
              <a:rPr lang="en-US" altLang="zh-CN" kern="100">
                <a:latin typeface="Times New Roman"/>
              </a:rPr>
              <a:t>3</a:t>
            </a:r>
            <a:r>
              <a:rPr lang="zh-CN" altLang="zh-CN" kern="100">
                <a:latin typeface="Times New Roman"/>
              </a:rPr>
              <a:t>个节目的演出次序有多少种？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宋体"/>
              </a:rPr>
              <a:t> 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 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 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宋体"/>
              </a:rPr>
              <a:t>2.</a:t>
            </a:r>
            <a:r>
              <a:rPr lang="zh-CN" altLang="zh-CN" kern="100">
                <a:latin typeface="Times New Roman"/>
              </a:rPr>
              <a:t>一路长途汽车，从起点到终点共有</a:t>
            </a:r>
            <a:r>
              <a:rPr lang="en-US" altLang="zh-CN" kern="100">
                <a:latin typeface="Times New Roman"/>
              </a:rPr>
              <a:t>4</a:t>
            </a:r>
            <a:r>
              <a:rPr lang="zh-CN" altLang="zh-CN" kern="100">
                <a:latin typeface="Times New Roman"/>
              </a:rPr>
              <a:t>个车站，有几种不同的票价？（即多少种不同的车票）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 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 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 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3.</a:t>
            </a:r>
            <a:r>
              <a:rPr lang="zh-CN" altLang="zh-CN" kern="100">
                <a:latin typeface="Times New Roman"/>
              </a:rPr>
              <a:t>小龙、小虎、小狮三个人一起来到一家理发店理发，三个人都争着要先理，可是店里只有一位理发师，只能一个一个顺次理发，请问三人理发的次序有几种？请你把不同的次序写出来。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 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 </a:t>
            </a:r>
            <a:endParaRPr lang="zh-CN" altLang="zh-CN" sz="2400" kern="10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>
                <a:latin typeface="Times New Roman"/>
              </a:rPr>
              <a:t> </a:t>
            </a:r>
            <a:endParaRPr lang="zh-CN" altLang="zh-CN" sz="2400" kern="10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407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25</a:t>
            </a:r>
            <a:r>
              <a:rPr lang="zh-CN" altLang="zh-CN" sz="4400" b="1" kern="100" dirty="0">
                <a:latin typeface="Times New Roman"/>
              </a:rPr>
              <a:t>讲 拆数游戏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【专题简析】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按要求把一些数分解成几个数相加的形式，这不仅可以提高运算能力，更能促进你积极地去思考问题，分析问题，使你的头脑更聪明。怎样才能找到全部答案，不出现差错呢？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析数的时候，一定要弄懂题中要求，使分析的过程按一定的顺序进行，如果要拆成规定的个数，可以按从大到小的顺序拆；如果没有规定个数，可以按从少到多的顺序拆。只有这样，才能的找到符合题意的所有分拆方式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1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像</a:t>
            </a:r>
            <a:r>
              <a:rPr lang="en-US" altLang="zh-CN" kern="100" dirty="0">
                <a:latin typeface="Times New Roman"/>
              </a:rPr>
              <a:t>15+51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66</a:t>
            </a:r>
            <a:r>
              <a:rPr lang="zh-CN" altLang="zh-CN" kern="100" dirty="0">
                <a:latin typeface="Times New Roman"/>
              </a:rPr>
              <a:t>这样十位数字和个位数字顺序颠倒的一对两位数相加，而和是</a:t>
            </a:r>
            <a:r>
              <a:rPr lang="en-US" altLang="zh-CN" kern="100" dirty="0">
                <a:latin typeface="Times New Roman"/>
              </a:rPr>
              <a:t>66</a:t>
            </a:r>
            <a:r>
              <a:rPr lang="zh-CN" altLang="zh-CN" kern="100" dirty="0">
                <a:latin typeface="Times New Roman"/>
              </a:rPr>
              <a:t>的两位数一共有多少对？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个位与十位两个数相加是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，即（）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（）＝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，不难得出这样的情况：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1+5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2+4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，如果是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3+3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，则个位数与十位数相同，不合要求。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解：这样的两位数有两对：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15+51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24+42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148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十位数字与个位数字顺序颠倒的一对两位数相加，各是</a:t>
            </a:r>
            <a:r>
              <a:rPr lang="en-US" altLang="zh-CN" kern="100" dirty="0">
                <a:latin typeface="Times New Roman"/>
              </a:rPr>
              <a:t>55</a:t>
            </a:r>
            <a:r>
              <a:rPr lang="zh-CN" altLang="zh-CN" kern="100" dirty="0">
                <a:latin typeface="Times New Roman"/>
              </a:rPr>
              <a:t>，问这样的两位数有多少对？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十位数字与个位数字顺序颠倒的一对两位数叫做倒序数，像这样的和是</a:t>
            </a:r>
            <a:r>
              <a:rPr lang="en-US" altLang="zh-CN" kern="100" dirty="0">
                <a:latin typeface="Times New Roman"/>
              </a:rPr>
              <a:t>88</a:t>
            </a:r>
            <a:r>
              <a:rPr lang="zh-CN" altLang="zh-CN" kern="100" dirty="0">
                <a:latin typeface="Times New Roman"/>
              </a:rPr>
              <a:t>的倒序数共有多少对？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有这样一道算式，</a:t>
            </a:r>
            <a:r>
              <a:rPr lang="en-US" altLang="zh-CN" kern="100" dirty="0">
                <a:latin typeface="Times New Roman"/>
              </a:rPr>
              <a:t>16+61</a:t>
            </a:r>
            <a:r>
              <a:rPr lang="zh-CN" altLang="zh-CN" kern="100" dirty="0">
                <a:latin typeface="Times New Roman"/>
              </a:rPr>
              <a:t>＝</a:t>
            </a:r>
            <a:r>
              <a:rPr lang="en-US" altLang="zh-CN" kern="100" dirty="0">
                <a:latin typeface="Times New Roman"/>
              </a:rPr>
              <a:t>77</a:t>
            </a:r>
            <a:r>
              <a:rPr lang="zh-CN" altLang="zh-CN" kern="100" dirty="0">
                <a:latin typeface="Times New Roman"/>
              </a:rPr>
              <a:t>，把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和</a:t>
            </a:r>
            <a:r>
              <a:rPr lang="en-US" altLang="zh-CN" kern="100" dirty="0">
                <a:latin typeface="Times New Roman"/>
              </a:rPr>
              <a:t>61</a:t>
            </a:r>
            <a:r>
              <a:rPr lang="zh-CN" altLang="zh-CN" kern="100" dirty="0">
                <a:latin typeface="Times New Roman"/>
              </a:rPr>
              <a:t>这样的两个数叫做倒序数，像这样的和在</a:t>
            </a:r>
            <a:r>
              <a:rPr lang="en-US" altLang="zh-CN" kern="100" dirty="0">
                <a:latin typeface="Times New Roman"/>
              </a:rPr>
              <a:t>100</a:t>
            </a:r>
            <a:r>
              <a:rPr lang="zh-CN" altLang="zh-CN" kern="100" dirty="0">
                <a:latin typeface="Times New Roman"/>
              </a:rPr>
              <a:t>以内的倒序数有多少对？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193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五个连续自然数的和是</a:t>
            </a:r>
            <a:r>
              <a:rPr lang="en-US" altLang="zh-CN" sz="4000" kern="100" dirty="0">
                <a:latin typeface="Times New Roman"/>
              </a:rPr>
              <a:t>40</a:t>
            </a:r>
            <a:r>
              <a:rPr lang="zh-CN" altLang="zh-CN" sz="4000" kern="100" dirty="0">
                <a:latin typeface="Times New Roman"/>
              </a:rPr>
              <a:t>，这五个数按从小到大排列的顺序是怎样的？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五个连续自然数的和是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，应该先找到五个数中间的一个数，用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是中间数，比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小的两个数是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大的两个数是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解：这五个连续自然数按从小到大的顺序排列是：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069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四个连续自然数的和是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，这四个数按从小到大排列的顺序是怎样的？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小明用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天时间做了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道数学题，他每天都比前一天多做一道，这五天里，小明每天各做几道题？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3.15</a:t>
            </a:r>
            <a:r>
              <a:rPr lang="zh-CN" altLang="zh-CN" kern="100" dirty="0">
                <a:latin typeface="Times New Roman"/>
              </a:rPr>
              <a:t>个网球分成数量不同的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堆，数量最多的一堆至少有多少个球？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611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把</a:t>
            </a:r>
            <a:r>
              <a:rPr lang="en-US" altLang="zh-CN" sz="4000" kern="100" dirty="0">
                <a:latin typeface="Times New Roman"/>
              </a:rPr>
              <a:t>10</a:t>
            </a:r>
            <a:r>
              <a:rPr lang="zh-CN" altLang="zh-CN" sz="4000" kern="100" dirty="0">
                <a:latin typeface="Times New Roman"/>
              </a:rPr>
              <a:t>分拆成三个不同的数相加的形式（</a:t>
            </a:r>
            <a:r>
              <a:rPr lang="en-US" altLang="zh-CN" sz="4000" kern="100" dirty="0">
                <a:latin typeface="Times New Roman"/>
              </a:rPr>
              <a:t>0</a:t>
            </a:r>
            <a:r>
              <a:rPr lang="zh-CN" altLang="zh-CN" sz="4000" kern="100" dirty="0">
                <a:latin typeface="Times New Roman"/>
              </a:rPr>
              <a:t>除外），共有多少种不同的分拆方法？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分拆时，可以按从大到小顺序排列，由题意可知，所拆的三个数必须不同，因此最大数为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，最小数为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最大数为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7+2+1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最大数为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6+3+1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最大数为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5+3+2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5+4+1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解：把数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分拆成三个不同的数相加的形式，共有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种形式：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7+2+1     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6+3+1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5+4+1     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5+3+2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355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分拆成三个不同的数相加的形式（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除外），共有多少种不同的分拆方法？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19</a:t>
            </a:r>
            <a:r>
              <a:rPr lang="zh-CN" altLang="zh-CN" kern="100" dirty="0">
                <a:latin typeface="Times New Roman"/>
              </a:rPr>
              <a:t>分拆成不大于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的三个不同的数（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除外）之和，有多少种不同的分拆方式？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分拆成三个不完全相同的数相乘的形式，问由这样的三个数组成的数组有多少种？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821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把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分拆成几个数相加的形式（</a:t>
            </a:r>
            <a:r>
              <a:rPr lang="en-US" altLang="zh-CN" sz="4000" kern="100" dirty="0">
                <a:latin typeface="Times New Roman"/>
              </a:rPr>
              <a:t>0</a:t>
            </a:r>
            <a:r>
              <a:rPr lang="zh-CN" altLang="zh-CN" sz="4000" kern="100" dirty="0">
                <a:latin typeface="Times New Roman"/>
              </a:rPr>
              <a:t>不考虑作为加数），有多少种不同的分拆方式？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把“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”分拆时，可以是两个相加，三个数相加，四个数相加，五个数相加，我们可以按顺序依次找一找答案。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两个数相加：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2+3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三个数相加：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1+1+3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1+2+2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四个数相加：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1+1+1+2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五个数相加：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1+1+1+1+1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解：把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分拆成几个数相加的形式有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种：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1+4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2+3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1+1+3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1+2+2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1+1+1+2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1+1+1+1+1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78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分拆成几个数相加的形式，有多少种不同的分拆方式？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分拆成几个数相加的形式，有多少种不同的分拆方式？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分拆成几个数相加的形式，有多少种不同的分拆方式？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458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将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～</a:t>
            </a:r>
            <a:r>
              <a:rPr lang="en-US" altLang="zh-CN" sz="4000" kern="100" dirty="0">
                <a:latin typeface="Times New Roman"/>
              </a:rPr>
              <a:t>9</a:t>
            </a:r>
            <a:r>
              <a:rPr lang="zh-CN" altLang="zh-CN" sz="4000" kern="100" dirty="0">
                <a:latin typeface="Times New Roman"/>
              </a:rPr>
              <a:t>九个数字平均分成三组</a:t>
            </a:r>
            <a:r>
              <a:rPr lang="en-US" altLang="zh-CN" sz="4000" kern="100" dirty="0">
                <a:latin typeface="Times New Roman"/>
              </a:rPr>
              <a:t>,</a:t>
            </a:r>
            <a:r>
              <a:rPr lang="zh-CN" altLang="zh-CN" sz="4000" kern="100" dirty="0">
                <a:latin typeface="Times New Roman"/>
              </a:rPr>
              <a:t>使每组的三个数相加的和相等</a:t>
            </a:r>
            <a:r>
              <a:rPr lang="en-US" altLang="zh-CN" sz="4000" kern="100" dirty="0">
                <a:latin typeface="Times New Roman"/>
              </a:rPr>
              <a:t>,</a:t>
            </a:r>
            <a:r>
              <a:rPr lang="zh-CN" altLang="zh-CN" sz="4000" kern="100" dirty="0">
                <a:latin typeface="Times New Roman"/>
              </a:rPr>
              <a:t>这样的分法有几种</a:t>
            </a:r>
            <a:r>
              <a:rPr lang="en-US" altLang="zh-CN" sz="4000" kern="100" dirty="0">
                <a:latin typeface="Times New Roman"/>
              </a:rPr>
              <a:t>?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这九个数的总和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1+2+3+4+5+6+7+8+9=45,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平均分成三组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,45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3=15,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每组的和应是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1+5+9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  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1+6+8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        2+6+7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          2+4+9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        3+4+8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          3+5+7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所以，有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种分法。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85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从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～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这九个数字中选取两个数，将</a:t>
            </a:r>
            <a:r>
              <a:rPr lang="en-US" altLang="zh-CN" kern="100" dirty="0">
                <a:latin typeface="Times New Roman"/>
              </a:rPr>
              <a:t>11</a:t>
            </a:r>
            <a:r>
              <a:rPr lang="zh-CN" altLang="zh-CN" kern="100" dirty="0">
                <a:latin typeface="Times New Roman"/>
              </a:rPr>
              <a:t>分拆成这两个不同的数相加的形式，有多少种不同的分法？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从</a:t>
            </a: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～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这九个数字中选取三个数，将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分拆成这三个不同的数相加的形式，有多少种不同的分法？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en-US" altLang="zh-CN" kern="100" dirty="0">
                <a:latin typeface="宋体"/>
              </a:rPr>
              <a:t> 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～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这八个数平均分成两组，使每组的四个数相加的和相等，这样的分法有几种？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611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26</a:t>
            </a:r>
            <a:r>
              <a:rPr lang="zh-CN" altLang="zh-CN" sz="4400" b="1" kern="100" dirty="0">
                <a:latin typeface="Times New Roman"/>
              </a:rPr>
              <a:t>讲 巧用余数（二）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我们已经学习了有余数的除法，都知道，在有余数的除法里，余数要比除数小。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利用余数，可以解决许多有趣的实际问题，就看你会不会巧妙地应用余数了。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答习题时，首先要把重复出现的部分作为一组，再想总数里有几个这样的一组，如果除后有余数，那么余数是几，某个物体（或数字）就是一组中的第几个，从而解出所求问题，如果除后没有余数，说明某个（或数字）是一组中的最后一个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359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一串珠子，按下图排列，第</a:t>
            </a:r>
            <a:r>
              <a:rPr lang="en-US" altLang="zh-CN" sz="4000" kern="100" dirty="0">
                <a:latin typeface="Times New Roman"/>
              </a:rPr>
              <a:t>25</a:t>
            </a:r>
            <a:r>
              <a:rPr lang="zh-CN" altLang="zh-CN" sz="4000" kern="100" dirty="0">
                <a:latin typeface="Times New Roman"/>
              </a:rPr>
              <a:t>颗是什么珠子？第</a:t>
            </a:r>
            <a:r>
              <a:rPr lang="en-US" altLang="zh-CN" sz="4000" kern="100" dirty="0">
                <a:latin typeface="Times New Roman"/>
              </a:rPr>
              <a:t>36</a:t>
            </a:r>
            <a:r>
              <a:rPr lang="zh-CN" altLang="zh-CN" sz="4000" kern="100" dirty="0">
                <a:latin typeface="Times New Roman"/>
              </a:rPr>
              <a:t>颗是什么珠子？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这串珠子的排列是有规律的，即按“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             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”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不断的重复出现，每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颗珠子为一组，先算出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颗珠子形成几组：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……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，商是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，表明有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组，余数是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，表明第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颗是第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组的第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颗珠子，即“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”，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，表明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颗珠子正好排完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组，第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颗珠子就是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“</a:t>
            </a:r>
            <a:r>
              <a:rPr lang="en-US" altLang="zh-CN" b="1" kern="100" dirty="0" smtClean="0">
                <a:solidFill>
                  <a:srgbClr val="FFC000"/>
                </a:solidFill>
                <a:latin typeface="Times New Roman"/>
              </a:rPr>
              <a:t>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”。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（组）……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（颗）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36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（组）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答：第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颗珠子是</a:t>
            </a: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，第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颗珠子是</a:t>
            </a: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4" y="1429982"/>
            <a:ext cx="4751455" cy="372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205" y="2511943"/>
            <a:ext cx="1133475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074" y="3300412"/>
            <a:ext cx="2571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518" y="3619615"/>
            <a:ext cx="2571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721" y="5332115"/>
            <a:ext cx="2571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30" y="5333813"/>
            <a:ext cx="2571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703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有一张纸上很整齐地写着一排字：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喜羊羊与灰太狼喜羊羊与灰太狼……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问第</a:t>
            </a:r>
            <a:r>
              <a:rPr lang="en-US" altLang="zh-CN" kern="100" dirty="0">
                <a:latin typeface="Times New Roman"/>
              </a:rPr>
              <a:t>38</a:t>
            </a:r>
            <a:r>
              <a:rPr lang="zh-CN" altLang="zh-CN" kern="100" dirty="0">
                <a:latin typeface="Times New Roman"/>
              </a:rPr>
              <a:t>个字是什么字？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有一列数：</a:t>
            </a:r>
            <a:r>
              <a:rPr lang="en-US" altLang="zh-CN" kern="100" dirty="0">
                <a:latin typeface="Times New Roman"/>
              </a:rPr>
              <a:t>4  3  2  4  3  2  4  3  2  4</a:t>
            </a:r>
            <a:r>
              <a:rPr lang="zh-CN" altLang="zh-CN" kern="100" dirty="0">
                <a:latin typeface="Times New Roman"/>
              </a:rPr>
              <a:t>……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）这列数的第</a:t>
            </a:r>
            <a:r>
              <a:rPr lang="en-US" altLang="zh-CN" kern="100" dirty="0">
                <a:latin typeface="Times New Roman"/>
              </a:rPr>
              <a:t>29</a:t>
            </a:r>
            <a:r>
              <a:rPr lang="zh-CN" altLang="zh-CN" kern="100" dirty="0">
                <a:latin typeface="Times New Roman"/>
              </a:rPr>
              <a:t>个数是几？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）这列数的第</a:t>
            </a:r>
            <a:r>
              <a:rPr lang="en-US" altLang="zh-CN" kern="100" dirty="0">
                <a:latin typeface="Times New Roman"/>
              </a:rPr>
              <a:t>31</a:t>
            </a:r>
            <a:r>
              <a:rPr lang="zh-CN" altLang="zh-CN" kern="100" dirty="0">
                <a:latin typeface="Times New Roman"/>
              </a:rPr>
              <a:t>个数是几？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请推算出第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个图形是什么？第</a:t>
            </a:r>
            <a:r>
              <a:rPr lang="en-US" altLang="zh-CN" kern="100" dirty="0">
                <a:latin typeface="Times New Roman"/>
              </a:rPr>
              <a:t>42</a:t>
            </a:r>
            <a:r>
              <a:rPr lang="zh-CN" altLang="zh-CN" kern="100" dirty="0">
                <a:latin typeface="Times New Roman"/>
              </a:rPr>
              <a:t>个图形又是什么？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☆△△□□○☆△△□□○……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445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节日里街上挂起彩灯，从第一盏灯开始，按照红、黄、蓝、绿各一盏的顺序依次重复排下去，（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）第</a:t>
            </a:r>
            <a:r>
              <a:rPr lang="en-US" altLang="zh-CN" sz="4000" kern="100" dirty="0">
                <a:latin typeface="Times New Roman"/>
              </a:rPr>
              <a:t>50</a:t>
            </a:r>
            <a:r>
              <a:rPr lang="zh-CN" altLang="zh-CN" sz="4000" kern="100" dirty="0">
                <a:latin typeface="Times New Roman"/>
              </a:rPr>
              <a:t>盏灯是什么颜色？（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）这</a:t>
            </a:r>
            <a:r>
              <a:rPr lang="en-US" altLang="zh-CN" sz="4000" kern="100" dirty="0">
                <a:latin typeface="Times New Roman"/>
              </a:rPr>
              <a:t>50</a:t>
            </a:r>
            <a:r>
              <a:rPr lang="zh-CN" altLang="zh-CN" sz="4000" kern="100" dirty="0">
                <a:latin typeface="Times New Roman"/>
              </a:rPr>
              <a:t>盏灯里红灯有几盏？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因为彩灯的排列顺序为红、黄、蓝、绿各一盏依次重复排下去，也就是说把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盏灯作为一个周期，所以根据这一规律能先算出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盏灯里有几个周期：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                         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……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）以上算式表示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个周期，余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表示多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盏灯，即从下一个周期起，从红灯开始数起的第二盏灯为黄灯，所以第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盏灯的颜色是黄颜色。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）因为每个周期里有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盏红灯，这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盏灯里有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个周期，就有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盏红灯，再加上多出来的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盏灯里有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盏是红灯，所以这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盏灯时的红灯一共有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盏，即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12+1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（盏）。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（组）……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（盏）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    12+1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（盏）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答：第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盏灯是黄色，这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盏灯里的红灯有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盏。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189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 </a:t>
            </a:r>
            <a:r>
              <a:rPr lang="zh-CN" altLang="zh-CN" kern="100" dirty="0">
                <a:latin typeface="Times New Roman"/>
              </a:rPr>
              <a:t>○○○△△□○○○△△□○○○△△□……问：</a:t>
            </a:r>
            <a:r>
              <a:rPr lang="en-US" altLang="zh-CN" kern="100" dirty="0">
                <a:latin typeface="Times New Roman"/>
              </a:rPr>
              <a:t>100</a:t>
            </a:r>
            <a:r>
              <a:rPr lang="zh-CN" altLang="zh-CN" kern="100" dirty="0">
                <a:latin typeface="Times New Roman"/>
              </a:rPr>
              <a:t>个图形中有○（</a:t>
            </a:r>
            <a:r>
              <a:rPr lang="en-US" altLang="zh-CN" kern="100" dirty="0">
                <a:latin typeface="Times New Roman"/>
              </a:rPr>
              <a:t>  </a:t>
            </a:r>
            <a:r>
              <a:rPr lang="zh-CN" altLang="zh-CN" kern="100" dirty="0">
                <a:latin typeface="Times New Roman"/>
              </a:rPr>
              <a:t>）个，△（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）个，□（</a:t>
            </a:r>
            <a:r>
              <a:rPr lang="en-US" altLang="zh-CN" kern="100" dirty="0">
                <a:latin typeface="Times New Roman"/>
              </a:rPr>
              <a:t>   </a:t>
            </a:r>
            <a:r>
              <a:rPr lang="zh-CN" altLang="zh-CN" kern="100" dirty="0">
                <a:latin typeface="Times New Roman"/>
              </a:rPr>
              <a:t>）个。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有同样大小的红、白、黑三种珠子共</a:t>
            </a:r>
            <a:r>
              <a:rPr lang="en-US" altLang="zh-CN" kern="100" dirty="0">
                <a:latin typeface="Times New Roman"/>
              </a:rPr>
              <a:t>100</a:t>
            </a:r>
            <a:r>
              <a:rPr lang="zh-CN" altLang="zh-CN" kern="100" dirty="0">
                <a:latin typeface="Times New Roman"/>
              </a:rPr>
              <a:t>个，按照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个红的，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个白的，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个黑的要求不断地排下去，如下图</a:t>
            </a:r>
            <a:r>
              <a:rPr lang="zh-CN" altLang="zh-CN" kern="100" dirty="0" smtClean="0">
                <a:latin typeface="Times New Roman"/>
              </a:rPr>
              <a:t>：</a:t>
            </a: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 smtClean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）第</a:t>
            </a:r>
            <a:r>
              <a:rPr lang="en-US" altLang="zh-CN" kern="100" dirty="0">
                <a:latin typeface="Times New Roman"/>
              </a:rPr>
              <a:t>68</a:t>
            </a:r>
            <a:r>
              <a:rPr lang="zh-CN" altLang="zh-CN" kern="100" dirty="0">
                <a:latin typeface="Times New Roman"/>
              </a:rPr>
              <a:t>个是什么颜色的珠子？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）在这</a:t>
            </a:r>
            <a:r>
              <a:rPr lang="en-US" altLang="zh-CN" kern="100" dirty="0">
                <a:latin typeface="Times New Roman"/>
              </a:rPr>
              <a:t>100</a:t>
            </a:r>
            <a:r>
              <a:rPr lang="zh-CN" altLang="zh-CN" kern="100" dirty="0">
                <a:latin typeface="Times New Roman"/>
              </a:rPr>
              <a:t>颗珠子中白珠子共有多少个？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学校门前插了一排彩旗，按照“一红二蓝三黄一绿”排列，第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面是什么颜色的旗？第</a:t>
            </a:r>
            <a:r>
              <a:rPr lang="en-US" altLang="zh-CN" kern="100" dirty="0">
                <a:latin typeface="Times New Roman"/>
              </a:rPr>
              <a:t>56</a:t>
            </a:r>
            <a:r>
              <a:rPr lang="zh-CN" altLang="zh-CN" kern="100" dirty="0">
                <a:latin typeface="Times New Roman"/>
              </a:rPr>
              <a:t>面呢？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420888"/>
            <a:ext cx="2304256" cy="419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51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有一列数：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……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）第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个数是几？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）这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个数的和是多少？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这列数是有规律排列的，是按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这样的顺序重复写下去的，一组有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个数，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里面有几个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，就是几组，即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……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，余数是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，最后一个数是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。要求这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个数的和，可以先求一组中三个数的和，再求所有组数的和，还要加余下的一个数。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……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2+3+1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8+2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2286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答：这列数中第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个数的和是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147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有一列数字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…问第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个数是多少？这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个数的和是多少？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有一列数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…问第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个数是多少？这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个数的和是多少？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有一字母串共</a:t>
            </a:r>
            <a:r>
              <a:rPr lang="en-US" altLang="zh-CN" kern="100" dirty="0">
                <a:latin typeface="Times New Roman"/>
              </a:rPr>
              <a:t>43</a:t>
            </a:r>
            <a:r>
              <a:rPr lang="zh-CN" altLang="zh-CN" kern="100" dirty="0">
                <a:latin typeface="Times New Roman"/>
              </a:rPr>
              <a:t>个，按</a:t>
            </a:r>
            <a:r>
              <a:rPr lang="en-US" altLang="zh-CN" kern="100" dirty="0">
                <a:latin typeface="Times New Roman"/>
              </a:rPr>
              <a:t>A B C D E A B C D E…</a:t>
            </a:r>
            <a:r>
              <a:rPr lang="zh-CN" altLang="zh-CN" kern="100" dirty="0">
                <a:latin typeface="Times New Roman"/>
              </a:rPr>
              <a:t>排列，最后一个是什么字母？这串字母有几个</a:t>
            </a:r>
            <a:r>
              <a:rPr lang="en-US" altLang="zh-CN" kern="100" dirty="0">
                <a:latin typeface="Times New Roman"/>
              </a:rPr>
              <a:t>A</a:t>
            </a:r>
            <a:r>
              <a:rPr lang="zh-CN" altLang="zh-CN" kern="100" dirty="0">
                <a:latin typeface="Times New Roman"/>
              </a:rPr>
              <a:t>？几个</a:t>
            </a:r>
            <a:r>
              <a:rPr lang="en-US" altLang="zh-CN" kern="100" dirty="0">
                <a:latin typeface="Times New Roman"/>
              </a:rPr>
              <a:t>C</a:t>
            </a:r>
            <a:r>
              <a:rPr lang="zh-CN" altLang="zh-CN" kern="100" dirty="0">
                <a:latin typeface="Times New Roman"/>
              </a:rPr>
              <a:t>？几个</a:t>
            </a:r>
            <a:r>
              <a:rPr lang="en-US" altLang="zh-CN" kern="100" dirty="0">
                <a:latin typeface="Times New Roman"/>
              </a:rPr>
              <a:t>E</a:t>
            </a:r>
            <a:r>
              <a:rPr lang="zh-CN" altLang="zh-CN" kern="100" dirty="0">
                <a:latin typeface="Times New Roman"/>
              </a:rPr>
              <a:t>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088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昨天是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日，星期一，到</a:t>
            </a:r>
            <a:r>
              <a:rPr lang="en-US" altLang="zh-CN" sz="4000" kern="100" dirty="0">
                <a:latin typeface="Times New Roman"/>
              </a:rPr>
              <a:t>31</a:t>
            </a:r>
            <a:r>
              <a:rPr lang="zh-CN" altLang="zh-CN" sz="4000" kern="100" dirty="0">
                <a:latin typeface="Times New Roman"/>
              </a:rPr>
              <a:t>日是星期几？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日星期一，再过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个星期，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个星期……都是星期一。从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日再过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天就是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日，所以要看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天中有几个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天还余几天，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……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答：到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日是星期三。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61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1.2012年7月1日是星期日，7月27日伦敦奥运会开幕，这一天是星期几？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今天是星期日，再过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天是星期几？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3.2012年5月1日是星期二，“六﹒一”儿童节是星期几？（五月有31</a:t>
            </a:r>
            <a:r>
              <a:rPr lang="zh-CN" altLang="zh-CN" kern="100" dirty="0">
                <a:latin typeface="Times New Roman"/>
              </a:rPr>
              <a:t>天）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508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6192688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8</a:t>
            </a:r>
            <a:r>
              <a:rPr lang="zh-CN" altLang="zh-CN" kern="100" dirty="0">
                <a:latin typeface="Times New Roman"/>
              </a:rPr>
              <a:t>个队员围成一个圈做游戏，从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号开始，按顺时针的方向往下一个人传球。在传球时按顺序报数，当报到</a:t>
            </a:r>
            <a:r>
              <a:rPr lang="en-US" altLang="zh-CN" kern="100" dirty="0">
                <a:latin typeface="Times New Roman"/>
              </a:rPr>
              <a:t>75</a:t>
            </a:r>
            <a:r>
              <a:rPr lang="zh-CN" altLang="zh-CN" kern="100" dirty="0">
                <a:latin typeface="Times New Roman"/>
              </a:rPr>
              <a:t>时，球在几号队员手上？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个队员依次传球，不能重复，把他们看成一组，每组报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个数，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个数分成这样几组，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（组）……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（个），有余数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时，球在第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组的第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个队员手中，即在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号手上。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（组）……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答：报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时，球在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号队员手上。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207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喜羊羊、沸羊羊、美羊羊和懒羊羊围坐在圆桌旁，班长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～</a:t>
            </a:r>
            <a:r>
              <a:rPr lang="en-US" altLang="zh-CN" kern="100" dirty="0">
                <a:latin typeface="Times New Roman"/>
              </a:rPr>
              <a:t>64</a:t>
            </a:r>
            <a:r>
              <a:rPr lang="zh-CN" altLang="zh-CN" kern="100" dirty="0">
                <a:latin typeface="Times New Roman"/>
              </a:rPr>
              <a:t>号拼音卡片依次发给他们，问第</a:t>
            </a:r>
            <a:r>
              <a:rPr lang="en-US" altLang="zh-CN" kern="100" dirty="0">
                <a:latin typeface="Times New Roman"/>
              </a:rPr>
              <a:t>59</a:t>
            </a:r>
            <a:r>
              <a:rPr lang="zh-CN" altLang="zh-CN" kern="100" dirty="0">
                <a:latin typeface="Times New Roman"/>
              </a:rPr>
              <a:t>号卡片发给谁？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数字兴趣组的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名同学围成一圈做游戏。首先是报数，小荣报“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”，小青报“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”，小东报“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”，小烽报“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”，小林报“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”，小军报“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”，每人报的数都比前一个多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。问“</a:t>
            </a:r>
            <a:r>
              <a:rPr lang="en-US" altLang="zh-CN" kern="100" dirty="0">
                <a:latin typeface="Times New Roman"/>
              </a:rPr>
              <a:t>29</a:t>
            </a:r>
            <a:r>
              <a:rPr lang="zh-CN" altLang="zh-CN" kern="100" dirty="0">
                <a:latin typeface="Times New Roman"/>
              </a:rPr>
              <a:t>”是谁报的？“</a:t>
            </a:r>
            <a:r>
              <a:rPr lang="en-US" altLang="zh-CN" kern="100" dirty="0">
                <a:latin typeface="Times New Roman"/>
              </a:rPr>
              <a:t>55</a:t>
            </a:r>
            <a:r>
              <a:rPr lang="zh-CN" altLang="zh-CN" kern="100" dirty="0">
                <a:latin typeface="Times New Roman"/>
              </a:rPr>
              <a:t>”是谁报的？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en-US" altLang="zh-CN" kern="100" dirty="0">
                <a:latin typeface="宋体"/>
              </a:rPr>
              <a:t> </a:t>
            </a:r>
            <a:r>
              <a:rPr lang="zh-CN" altLang="zh-CN" kern="100" dirty="0">
                <a:latin typeface="Times New Roman"/>
              </a:rPr>
              <a:t>六个小朋友围在一起做“传花”的游戏，从开始，按顺时针方向往下一个人传花并按顺序报数，当报到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时，花在谁的手上？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97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94945" indent="-194945"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27</a:t>
            </a:r>
            <a:r>
              <a:rPr lang="zh-CN" altLang="zh-CN" sz="4400" b="1" kern="100" dirty="0">
                <a:latin typeface="Times New Roman"/>
              </a:rPr>
              <a:t>讲 应用题（二）</a:t>
            </a:r>
            <a:endParaRPr lang="zh-CN" altLang="zh-CN" sz="2400" kern="100" dirty="0">
              <a:latin typeface="Times New Roman"/>
            </a:endParaRPr>
          </a:p>
          <a:p>
            <a:pPr marL="130175" indent="-13017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专题简析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这一讲我们继续讨论两步计算应用题。记住：一定要弄清楚题中条件与条件、条件和问题之间的关系，才能找出解题的方法。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答这组题时，要分析题中各部分之间的关系，如果求几个几是多少或求几的倍数是多少，就用乘法。如果把一个数平均分成几份，求每份是多少或求一个数里有几个几就用除法来计算。当求几的几倍是多少后，再求总数或差时，就不止一种解题方法。小朋友要学会选择最佳解法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652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30175" indent="-13017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latin typeface="Times New Roman"/>
              </a:rPr>
              <a:t>【</a:t>
            </a:r>
            <a:r>
              <a:rPr lang="zh-CN" altLang="zh-CN" sz="4000" kern="100" dirty="0">
                <a:latin typeface="Times New Roman"/>
              </a:rPr>
              <a:t>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b="1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妈妈买回一些梨，平均放在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个盘子里，每个盘子里放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个，还余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个，妈妈一共买了多少个梨？ </a:t>
            </a:r>
            <a:endParaRPr lang="zh-CN" altLang="zh-CN" kern="100" dirty="0"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【思路导航】根据“平均放在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个盘子里，每个盘子里放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个”，可以知道盘子里一共有梨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 = 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（个），再根据“盘子里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个，还余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个”，就可以求出妈妈一共买梨的个数。列式如下：</a:t>
            </a:r>
          </a:p>
          <a:p>
            <a:pPr marL="111760" indent="26225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 = 24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 = 26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12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答：妈妈一共买了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个梨。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09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．老师把一些铅笔平均分给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个小朋友，每个小朋友分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枝，结果还剩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枝，老师手里一共有多少枝铅笔？ </a:t>
            </a:r>
            <a:endParaRPr lang="zh-CN" altLang="zh-CN" sz="2400" kern="100" dirty="0"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．图书室把新到的一批书平均分给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个班，每个班分到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本，最后还剩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本，图书室新到多少本书？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4429125" algn="l"/>
              </a:tabLs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．小刚有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张纸订草稿本，每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张订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本，要订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本，还缺几张？ </a:t>
            </a:r>
            <a:r>
              <a:rPr lang="en-US" altLang="zh-CN" kern="100" dirty="0">
                <a:latin typeface="Times New Roman"/>
              </a:rPr>
              <a:t>	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698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30175" indent="-13017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/>
              </a:rPr>
              <a:t>【</a:t>
            </a:r>
            <a:r>
              <a:rPr lang="zh-CN" altLang="zh-CN" kern="100" dirty="0">
                <a:latin typeface="Times New Roman"/>
              </a:rPr>
              <a:t>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b="1" kern="100" dirty="0">
                <a:latin typeface="Times New Roman"/>
              </a:rPr>
              <a:t>】</a:t>
            </a:r>
            <a:r>
              <a:rPr lang="zh-CN" altLang="zh-CN" kern="100" dirty="0">
                <a:latin typeface="Times New Roman"/>
              </a:rPr>
              <a:t>田田练了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天的字，前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天，每天练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张纸，最后一天练了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张纸。田田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天一共练写了多少张纸？ </a:t>
            </a:r>
            <a:endParaRPr lang="zh-CN" altLang="zh-CN" sz="2400" kern="100" dirty="0"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【思路导航】因为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天中，有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天每天练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张纸，所以，我们可以用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 = 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（张）求出前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天练写的总张数。最后一天练了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张，再用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 = 33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（张），就是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天一共练写的纸的张纸。列式如下：</a:t>
            </a:r>
          </a:p>
          <a:p>
            <a:pPr marL="111760" indent="22923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 = 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（张）</a:t>
            </a:r>
          </a:p>
          <a:p>
            <a:pPr marL="111760" indent="22923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 = 33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（张）</a:t>
            </a:r>
          </a:p>
          <a:p>
            <a:pPr marL="111760" indent="12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答：田田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天一共练写了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张纸。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058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．小明看一本故事书，前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天每天看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页，最后一天看了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页正好看完，这本故事书一共多少页？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．张师傅生产一批零件，前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天每天生产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个，后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天共生产</a:t>
            </a:r>
            <a:r>
              <a:rPr lang="en-US" altLang="zh-CN" kern="100" dirty="0">
                <a:latin typeface="Times New Roman"/>
              </a:rPr>
              <a:t>60</a:t>
            </a:r>
            <a:r>
              <a:rPr lang="zh-CN" altLang="zh-CN" kern="100" dirty="0">
                <a:latin typeface="Times New Roman"/>
              </a:rPr>
              <a:t>个，张师傅一周共生产多少个零件？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．同学计划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天装订本子</a:t>
            </a:r>
            <a:r>
              <a:rPr lang="en-US" altLang="zh-CN" kern="100" dirty="0">
                <a:latin typeface="Times New Roman"/>
              </a:rPr>
              <a:t>300</a:t>
            </a:r>
            <a:r>
              <a:rPr lang="zh-CN" altLang="zh-CN" kern="100" dirty="0">
                <a:latin typeface="Times New Roman"/>
              </a:rPr>
              <a:t>本，结果前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天装订了</a:t>
            </a:r>
            <a:r>
              <a:rPr lang="en-US" altLang="zh-CN" kern="100" dirty="0">
                <a:latin typeface="Times New Roman"/>
              </a:rPr>
              <a:t>160</a:t>
            </a:r>
            <a:r>
              <a:rPr lang="zh-CN" altLang="zh-CN" kern="100" dirty="0">
                <a:latin typeface="Times New Roman"/>
              </a:rPr>
              <a:t>本，后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听装订后还剩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本没完成，同学们在后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天共装订了多少本？ </a:t>
            </a:r>
            <a:endParaRPr lang="zh-CN" altLang="zh-CN" sz="2400" kern="100" dirty="0"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442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latin typeface="Times New Roman"/>
              </a:rPr>
              <a:t>【</a:t>
            </a:r>
            <a:r>
              <a:rPr lang="zh-CN" altLang="zh-CN" kern="100" dirty="0">
                <a:latin typeface="Times New Roman"/>
              </a:rPr>
              <a:t>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b="1" kern="100" dirty="0">
                <a:latin typeface="Times New Roman"/>
              </a:rPr>
              <a:t>】</a:t>
            </a: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）班有</a:t>
            </a:r>
            <a:r>
              <a:rPr lang="en-US" altLang="zh-CN" kern="100" dirty="0">
                <a:latin typeface="Times New Roman"/>
              </a:rPr>
              <a:t>55</a:t>
            </a:r>
            <a:r>
              <a:rPr lang="zh-CN" altLang="zh-CN" kern="100" dirty="0">
                <a:latin typeface="Times New Roman"/>
              </a:rPr>
              <a:t>个同学去野外植树，他们每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人一组，每组种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棵，求二（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）班同学这次一共能种多少棵树？ </a:t>
            </a:r>
            <a:endParaRPr lang="zh-CN" altLang="zh-CN" sz="2400" kern="100" dirty="0">
              <a:latin typeface="Times New Roman"/>
            </a:endParaRPr>
          </a:p>
          <a:p>
            <a:pPr marL="178435" indent="-17843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【思路导航】由“全班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人每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人一组”这两个已知条件，就能算出全班一共有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 =11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（个）小组。再根据“每组种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棵”，和刚求出的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个小组，就可以算出二（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）班同学这次一共能种多少棵树。列式如下：</a:t>
            </a:r>
          </a:p>
          <a:p>
            <a:pPr marL="177165" indent="18732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55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 =11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77165" indent="18732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 = 44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（棵）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marL="11303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答：二（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）班同学这次一共能种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棵树。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71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36</a:t>
            </a:r>
            <a:r>
              <a:rPr lang="zh-CN" altLang="zh-CN" kern="100" dirty="0">
                <a:latin typeface="Times New Roman"/>
              </a:rPr>
              <a:t>个同学做纸花，他们每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人一组，每组做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朵，这些同学一共能做多少朵纸花？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名少先队员帮助图书馆修补图书，他们每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人一组，每组修补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本，问这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名少先队员一共修补了多少本图书？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．学校组织同学们进行放风筝比赛，让他们每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人一组，每组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只风筝，这时，天空中一共飘起了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只风筝，你知道这次参加比赛的一共有多少名同学吗？ </a:t>
            </a:r>
            <a:endParaRPr lang="zh-CN" altLang="zh-CN" sz="2400" kern="100" dirty="0">
              <a:latin typeface="Times New Roman"/>
            </a:endParaRPr>
          </a:p>
          <a:p>
            <a:pPr marL="113665" indent="-11366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932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47500" lnSpcReduction="20000"/>
          </a:bodyPr>
          <a:lstStyle/>
          <a:p>
            <a:pPr marL="130175" indent="-13017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latin typeface="Times New Roman"/>
              </a:rPr>
              <a:t>【</a:t>
            </a:r>
            <a:r>
              <a:rPr lang="zh-CN" altLang="zh-CN" sz="4000" kern="100" dirty="0">
                <a:latin typeface="Times New Roman"/>
              </a:rPr>
              <a:t>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b="1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蓝气球有</a:t>
            </a:r>
            <a:r>
              <a:rPr lang="en-US" altLang="zh-CN" sz="4000" kern="100" dirty="0">
                <a:latin typeface="Times New Roman"/>
              </a:rPr>
              <a:t>25</a:t>
            </a:r>
            <a:r>
              <a:rPr lang="zh-CN" altLang="zh-CN" sz="4000" kern="100" dirty="0">
                <a:latin typeface="Times New Roman"/>
              </a:rPr>
              <a:t>个，红气球是蓝气球的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倍，一共有气球多少个？ </a:t>
            </a:r>
            <a:endParaRPr lang="zh-CN" altLang="zh-CN" kern="100" dirty="0"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【思路导航】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从图中可以看出，如果把蓝气球个个数看作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份，红气球的个数应该就是这样的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份。蓝气球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个，红气球应该是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 = 125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（个）。红气球个数求出后，再把红、蓝气球的个数合起来，就是一共有气球的个数，列式如下：</a:t>
            </a:r>
          </a:p>
          <a:p>
            <a:pPr marL="111760" indent="52260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25 = 125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25 = 150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26225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或：把蓝气球作为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份，红气球就是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份，合起来是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份。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52451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25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＋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 25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 = 150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12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答：一共有气球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484784"/>
            <a:ext cx="4078874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036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．第一组做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个风筝，第二组做的是第一组的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倍，两组一共做了几个风筝？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．果园里有梨树</a:t>
            </a:r>
            <a:r>
              <a:rPr lang="en-US" altLang="zh-CN" kern="100" dirty="0">
                <a:latin typeface="Times New Roman"/>
              </a:rPr>
              <a:t>35</a:t>
            </a:r>
            <a:r>
              <a:rPr lang="zh-CN" altLang="zh-CN" kern="100" dirty="0">
                <a:latin typeface="Times New Roman"/>
              </a:rPr>
              <a:t>棵，苹果树是梨树的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倍，两种树一共有多少棵？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．王伯伯家养了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只鸭，鸡的只数是鸭的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倍，要使鸭的只数和鸡的只数一样多，那么王伯伯家还要买几只鸭？ 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551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b="1" kern="100" dirty="0">
                <a:latin typeface="Times New Roman"/>
              </a:rPr>
              <a:t>】</a:t>
            </a:r>
            <a:r>
              <a:rPr lang="zh-CN" altLang="zh-CN" sz="4000" kern="100" dirty="0">
                <a:latin typeface="Times New Roman"/>
              </a:rPr>
              <a:t>李奶奶家养了</a:t>
            </a:r>
            <a:r>
              <a:rPr lang="en-US" altLang="zh-CN" sz="4000" kern="100" dirty="0">
                <a:latin typeface="Times New Roman"/>
              </a:rPr>
              <a:t>10</a:t>
            </a:r>
            <a:r>
              <a:rPr lang="zh-CN" altLang="zh-CN" sz="4000" kern="100" dirty="0">
                <a:latin typeface="Times New Roman"/>
              </a:rPr>
              <a:t>只鸭，鸡的只数是鸭的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倍，要使鸭的只数和鸡同样多，那么李奶奶家还要买几只鸭？ </a:t>
            </a:r>
            <a:endParaRPr lang="zh-CN" altLang="zh-CN" kern="100" dirty="0">
              <a:latin typeface="Times New Roman"/>
            </a:endParaRP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【思路导航】这道题关键是要先求出鸡的只数：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 = 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（只）。已知鸭有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只，要使鸭的只数与鸡同样多，还应该买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 = 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（只）。</a:t>
            </a:r>
          </a:p>
          <a:p>
            <a:pPr marL="113030" indent="-11303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也可以把鸭的只数当作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份，鸡的只数就是这样的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份，鸭比鸡少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只，即还要买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只鸭。列式如下：</a:t>
            </a:r>
          </a:p>
          <a:p>
            <a:pPr marL="111760" indent="52260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 = 30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 = 20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26225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或：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= 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 = 20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11760" indent="12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答：李奶奶家还要买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只鸭。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130175" indent="-13017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125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</a:t>
            </a:r>
            <a:r>
              <a:rPr lang="zh-CN" altLang="zh-CN" kern="100" dirty="0">
                <a:latin typeface="Times New Roman"/>
              </a:rPr>
              <a:t>．公园里有灰鸽子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只，白鸽的只数是灰鸽的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倍，要使灰鸽的只数与白鸽同样多，那么公园里还要买几只灰鸽？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．学校里买来彩色粉笔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箱，买的白色粉笔是彩色粉笔的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倍，现在要使彩色粉笔和白色粉笔一样多，学校还要买多少箱彩色粉笔？ 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marL="129540" indent="-12954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．芳芳有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本书，兵兵有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本书，要使两人的书同样多，兵兵要给芳芳几本书？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1761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28</a:t>
            </a:r>
            <a:r>
              <a:rPr lang="zh-CN" altLang="zh-CN" sz="4400" b="1" kern="100" dirty="0">
                <a:latin typeface="Times New Roman"/>
              </a:rPr>
              <a:t>讲 线路问题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比较几条线段的长短或一根绳子如何一刀剪成四段等等，这类题目非常有趣，我们在做题的时候要仔细观察，认真思考。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比较线段的长短，可借助方格图数一数，每条线段占几格，横的、竖的、斜的分别比一比，很快就可以比出哪条线段长些。将绳子对折剪开时，别忘了对折一次，有一处相连，再对折一次，又有两处相连，所以剪开后的段数中必须去掉相连的几处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74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仔细观察下面的几条线段，哪一条最长？哪一条最短？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Times New Roman"/>
              </a:rPr>
              <a:t> 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从观察发现，第一条线段占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格多一点，第二条线段占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格多一点，第三条线段占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格，显然，第二条最长，第三条最短。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解：第二条最长，第三条最短。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700808"/>
            <a:ext cx="3456384" cy="168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18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4664"/>
            <a:ext cx="8784112" cy="5545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45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观察下面的方格图，想一想哪只猫先捉到老鼠？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黑猫竖的横的走了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段，斜的走了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段；白猫竖的横的走了与黑猫同样的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段，斜的走了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段，比黑猫多走一段。白猫走的路长，黑猫走的路短，所以，黑猫先捉到老鼠。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解：黑猫先捉到老鼠。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412776"/>
            <a:ext cx="2664296" cy="277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226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0"/>
            <a:ext cx="6768752" cy="7174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85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9268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如图，下面</a:t>
            </a:r>
            <a:r>
              <a:rPr lang="en-US" altLang="zh-CN" sz="4000" kern="100" dirty="0">
                <a:latin typeface="Times New Roman"/>
              </a:rPr>
              <a:t>A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B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C</a:t>
            </a:r>
            <a:r>
              <a:rPr lang="zh-CN" altLang="zh-CN" sz="4000" kern="100" dirty="0">
                <a:latin typeface="Times New Roman"/>
              </a:rPr>
              <a:t>三条线，哪条最长？哪条最短？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用尺子量一量，容易看出，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C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线段最长，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线段最短。结论是夹在两条平行线间的线段，竖直的那条最短，越倾斜越长。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C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最长，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B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最短。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303" y="1916832"/>
            <a:ext cx="2665803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762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4664"/>
            <a:ext cx="6984776" cy="6399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76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一张长方形纸，怎样折剩下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个角、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个角、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个角？我们可以拿一张纸亲自试验一下。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过两个顶点对折，就剩下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个角，如图（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）；过一个顶点折一次，就剩下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个角，如图（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）；不过顶点，过长方形相邻两边折一次，就剩下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个角了，如图（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           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解：见图（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），图（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），图（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581128"/>
            <a:ext cx="7412309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61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一张正方形纸，剪去一个角，剩下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个角、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个角，你会剪吗？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一张三角形纸，剪去一个角，剩下几个角？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一块三角板，切去两个角，还会剩下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个、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个、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个角吗？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074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一根绳子对折，从中间剪一刀，绳子会分成几段？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这根绳子对折后，有一处相连，从中间剪上一刀时，可以分成的段数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（段）中去掉了一处相连的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段，从而得到了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段，一根绳子对折，从中间剪一刀，分成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段。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解：分成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段。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497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一根绳子对折一次，从中间剪二刀，绳子会分成几段？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一根绳子对折，再对折，从中间剪一刀，绳子会分成几段？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两根彩带，先对折，再对折，从中间剪开，分成几段？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957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29</a:t>
            </a:r>
            <a:r>
              <a:rPr lang="zh-CN" altLang="zh-CN" sz="4400" b="1" kern="100" dirty="0">
                <a:latin typeface="Times New Roman"/>
              </a:rPr>
              <a:t>讲 智趣巧题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，下面有一些有趣的题目，不要列复杂的算式计算，但一不小心，在回答时就可能落入“圈套”，要想正确解答这些题目，一定要充分发挥自己的智力，有时还要打破“常规”去想。解答这些带有迷惑性的题目，要靠认真读题，领会题目的意思，再经过充分的分析和思考，运用自己的聪明才智巧妙地解决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82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两棵树上一共有</a:t>
            </a:r>
            <a:r>
              <a:rPr lang="en-US" altLang="zh-CN" sz="4000" kern="100" dirty="0">
                <a:latin typeface="Times New Roman"/>
              </a:rPr>
              <a:t>16</a:t>
            </a:r>
            <a:r>
              <a:rPr lang="zh-CN" altLang="zh-CN" sz="4000" kern="100" dirty="0">
                <a:latin typeface="Times New Roman"/>
              </a:rPr>
              <a:t>只小鸟，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只小鸟从第二棵树上飞到第一棵树上，现在两棵树上一共有几只小鸟？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只小鸟从第二棵树上飞到第一棵树上，虽然第一棵树上多了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只鸟，但第二棵树上少了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只鸟，因此两棵树上鸟的总数并没有发生变化。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解：现在两棵树上一共有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只小鸟。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356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小乐和小佳共有</a:t>
            </a:r>
            <a:r>
              <a:rPr lang="en-US" altLang="zh-CN" kern="100" dirty="0">
                <a:latin typeface="Times New Roman"/>
              </a:rPr>
              <a:t>23</a:t>
            </a:r>
            <a:r>
              <a:rPr lang="zh-CN" altLang="zh-CN" kern="100" dirty="0">
                <a:latin typeface="Times New Roman"/>
              </a:rPr>
              <a:t>本课外书，小乐送给小佳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本课外书，现在小乐和小佳一共有多少本课外书？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小美和小芳共做了</a:t>
            </a:r>
            <a:r>
              <a:rPr lang="en-US" altLang="zh-CN" kern="100" dirty="0">
                <a:latin typeface="Times New Roman"/>
              </a:rPr>
              <a:t>17</a:t>
            </a:r>
            <a:r>
              <a:rPr lang="zh-CN" altLang="zh-CN" kern="100" dirty="0">
                <a:latin typeface="Times New Roman"/>
              </a:rPr>
              <a:t>朵小花，小美送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朵小红花给小芳，小芳送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朵小蓝花给小美，现在小美和小芳一共有多少朵小花？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两个鱼缸里红色金鱼比粉色金鱼多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条，把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条红色金鱼从第一个鱼缸里放到第二个鱼缸里，现在两个鱼缸里红色金鱼和粉色金鱼哪种多，多几条？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581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688632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布袋里有形状、大小完全一样的红球、蓝球各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个。如果不用眼睛看，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（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）一次至少摸出几个才能保证得到两个颜色相同的球？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（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）一次至少摸出几个才能保证得到两个颜色不同的球？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）要保证摸到两个颜色相同的球，可以从摸到颜色不同的球入手分析。如果一次摸出的两个球恰巧是不同的颜色，那么再摸一个球就一定能和其中的一个球颜色相同。因此一次至少摸出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个才能保证得到两个颜色相同的球。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）要保证摸到两种颜色不同的球，可以从摸到颜色相同的球入手分析。如果不凑巧，摸出的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个球都是同一种颜色，那么再摸一个球一定是另一种颜色了。因此，一次至少摸出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个才能保证得到两种颜色不同的球。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193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布袋里有形状、大小完全一样的蓝球和黄球各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个。不用眼睛看，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）一次至少摸出几个球才能保证得到两个颜色相同的球？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）一次至少摸出几个球才能保证得到两个颜色不同的球？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在</a:t>
            </a:r>
            <a:r>
              <a:rPr lang="en-US" altLang="zh-CN" kern="100" dirty="0">
                <a:latin typeface="Times New Roman"/>
              </a:rPr>
              <a:t>32</a:t>
            </a:r>
            <a:r>
              <a:rPr lang="zh-CN" altLang="zh-CN" kern="100" dirty="0">
                <a:latin typeface="Times New Roman"/>
              </a:rPr>
              <a:t>个同月出生的小朋友中，至少有几个小朋友是同月同日生的？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布袋里有形状、大小完全一样的蓝球和黄球各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个。不用眼睛看，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）一次至少摸出几个球才能保证得到两个颜色不同的球？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）一次至少摸出几个球才能保证得到两个颜色相同的球？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198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</a:t>
            </a:r>
            <a:r>
              <a:rPr lang="zh-CN" altLang="zh-CN" kern="100" dirty="0">
                <a:latin typeface="Times New Roman"/>
              </a:rPr>
              <a:t>个人吃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个西红柿，用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分钟吃完，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个人吃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个西红柿需要几分钟才能吃完？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个西红柿，也就是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个西红柿，根据题意，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个西红柿，用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分钟吃完，即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个西红柿，用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分钟吃完。同样，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个西红柿，也就是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个西红柿，也是需要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分钟才能吃完。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解：需要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分钟才能吃完。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19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一只猫吃完一条鱼要用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分钟，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只猫同时吃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条同样大小的鱼需要几分钟？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一只猫吃一条鱼要用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分钟，吃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条同样大小的鱼要用几分钟？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如果每人的步行速度相同，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个人一起从甲地走到乙地要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小时，那么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个人一起从甲地走到乙地要几小时？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856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5</a:t>
            </a:r>
            <a:r>
              <a:rPr lang="zh-CN" altLang="zh-CN" sz="4000" kern="100" dirty="0">
                <a:latin typeface="Times New Roman"/>
              </a:rPr>
              <a:t>点放学，雨还在不停地下，大家都盼着晴天，小林对小季说：“已经连续两天下雨了，你说再过</a:t>
            </a:r>
            <a:r>
              <a:rPr lang="en-US" altLang="zh-CN" sz="4000" kern="100" dirty="0">
                <a:latin typeface="Times New Roman"/>
              </a:rPr>
              <a:t>30</a:t>
            </a:r>
            <a:r>
              <a:rPr lang="zh-CN" altLang="zh-CN" sz="4000" kern="100" dirty="0">
                <a:latin typeface="Times New Roman"/>
              </a:rPr>
              <a:t>小时太阳会出来吗？”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晚上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点，再过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小时，是第二天晚上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点，（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24+12+5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）而不管阴天、雨天、晴天、夜里太阳都不会出来，因此再过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小时太阳不会出来。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解：不会。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52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1.12</a:t>
            </a:r>
            <a:r>
              <a:rPr lang="zh-CN" altLang="zh-CN" kern="100" dirty="0">
                <a:latin typeface="Times New Roman"/>
              </a:rPr>
              <a:t>点放学，雨还在下，大家都盼着晴天，小灰灰问美羊羊：“再过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小时，太阳会出来吗？”请你帮美羊羊判断一下。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中午小红问小明：“后天有雨吗？”小明说：“今天晴，再过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小时要连续下雨两天两夜。”请你帮小红推导一下后天是否有雨？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今天是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号，早上雨还在不停地下，中午妈妈问小明：“小明，我考考你，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号开始转晴天，至少要过多少小时？”请你帮小明回答。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515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猴园里分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个区，一共养了</a:t>
            </a:r>
            <a:r>
              <a:rPr lang="en-US" altLang="zh-CN" sz="4000" kern="100" dirty="0">
                <a:latin typeface="Times New Roman"/>
              </a:rPr>
              <a:t>15</a:t>
            </a:r>
            <a:r>
              <a:rPr lang="zh-CN" altLang="zh-CN" sz="4000" kern="100" dirty="0">
                <a:latin typeface="Times New Roman"/>
              </a:rPr>
              <a:t>只猴子，但每个区里的猴子数不一样，你知道每个区里分别有多少只猴子吗？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因为每个区里的猴子数不一样，一个区里至少有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只猴子，那么，依次下去每个区里的猴子只数分别为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只，这样，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个区里正好有：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1+2+3+4+5=15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解：每个区里分别有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只猴子。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95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1.15</a:t>
            </a:r>
            <a:r>
              <a:rPr lang="zh-CN" altLang="zh-CN" kern="100" dirty="0">
                <a:latin typeface="Times New Roman"/>
              </a:rPr>
              <a:t>个网球分成数量不同的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堆，数量最多的一堆至少有多少个球？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甜甜小朋友将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颗珠子排成数量不等的五堆，每堆的颗数恰好都是双数，你知道每堆各有多少颗？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en-US" altLang="zh-CN" kern="100" dirty="0">
                <a:latin typeface="宋体"/>
              </a:rPr>
              <a:t> 10</a:t>
            </a:r>
            <a:r>
              <a:rPr lang="zh-CN" altLang="zh-CN" kern="100" dirty="0">
                <a:latin typeface="Times New Roman"/>
              </a:rPr>
              <a:t>块糖分成数量不同的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堆，数量最多的一堆有几块糖？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052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30</a:t>
            </a:r>
            <a:r>
              <a:rPr lang="zh-CN" altLang="zh-CN" sz="4400" b="1" kern="100" dirty="0">
                <a:latin typeface="Times New Roman"/>
              </a:rPr>
              <a:t>讲 移多补少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在我们的日常生活中，有很多不相等的情况，如姐姐有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支铅笔，弟弟有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支铅笔，两人的支数不相等。有时为需要，要把不相等转换成相等，应该怎么办呢？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要把不相等转换成相等，就要移多补少，也就是把多出来的部分平均分成两份，其中一份补给少的，这样就一样多了。要特别注意的是，不能把多出来的部分全部给少的，否则又不相等了。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998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453336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开心超人有</a:t>
            </a:r>
            <a:r>
              <a:rPr lang="en-US" altLang="zh-CN" sz="4000" kern="100" dirty="0">
                <a:latin typeface="Times New Roman"/>
              </a:rPr>
              <a:t>14</a:t>
            </a:r>
            <a:r>
              <a:rPr lang="zh-CN" altLang="zh-CN" sz="4000" kern="100" dirty="0">
                <a:latin typeface="Times New Roman"/>
              </a:rPr>
              <a:t>张纪念邮票，甜心超人有</a:t>
            </a:r>
            <a:r>
              <a:rPr lang="en-US" altLang="zh-CN" sz="4000" kern="100" dirty="0">
                <a:latin typeface="Times New Roman"/>
              </a:rPr>
              <a:t>10</a:t>
            </a:r>
            <a:r>
              <a:rPr lang="zh-CN" altLang="zh-CN" sz="4000" kern="100" dirty="0">
                <a:latin typeface="Times New Roman"/>
              </a:rPr>
              <a:t>张纪念邮票，要使两人的邮票张数同样多，开心超人应给甜心超人几张邮票？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思路导航：根据题意，用下图表示题中的条件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。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从图中可以看出，开心超人邮票的张数比甜心超人多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14-10=4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（张），将多出的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张邮票平均分成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（张），把开心超人的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张邮票给甜心超人，那么，他们两个人的邮票张数就同样多了。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（张）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（张）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答：要使两人的邮票张数同样多，开心超人应给甜心超人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张邮票。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231" y="2204864"/>
            <a:ext cx="4762977" cy="900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817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）班有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个足球，二（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）班有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个足球，要使两个班的足球数量相同，二（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）班应给二（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）班几个足球？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小红有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枝铅笔，小军有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枝铅笔，小红给小军几枝铅笔后，两人的铅笔数就一样多了？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姐姐和妹妹做红五角星，姐姐做了</a:t>
            </a:r>
            <a:r>
              <a:rPr lang="en-US" altLang="zh-CN" kern="100" dirty="0">
                <a:latin typeface="Times New Roman"/>
              </a:rPr>
              <a:t>22</a:t>
            </a:r>
            <a:r>
              <a:rPr lang="zh-CN" altLang="zh-CN" kern="100" dirty="0">
                <a:latin typeface="Times New Roman"/>
              </a:rPr>
              <a:t>个，妹妹做了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个，姐姐给妹妹几个，两人的红五角昨就同样多了？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507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姐姐和妹妹各有一些糖块，姐姐比妹妹多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块，要使两人的糖块一样我，姐姐应给妹妹几块糖？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根据题中条件“姐姐比妹妹多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块”，把“多的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块”平均分成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份，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（块），即把姐姐的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块给娃娃，两人就同样多了。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（块）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答：要使两人的糖块一样我，姐姐应给妹妹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块糖。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48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小红和小明各有一些铅笔，小红比小明多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枝，要使两人的铅笔一样多，小红应该给小明几枝？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男同学和女同学排队，男同学比女同学少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名，要使两队人数同样多，应该调几名女同学到男同学的队里？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小刚和小军各有一些纸风车，小刚比小军多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架，要使两人的纸风车一样多，小刚应给小军几架？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751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欢欢把自己的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枝铅笔给飞飞后，两人的铅笔枝数就同样多了。欢欢原来比飞飞多几枝铅笔？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根据题意，“欢欢把自己的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枝铅笔给飞飞，两人的铅笔枝数就同样多了”，可以得出，“移动数”为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，要求“相差数”是多少，我们只要把“移动数”扩大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倍就可以了。所以，原来欢欢比飞飞多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（枝）。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（枝）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答：欢欢原来比飞飞多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枝铅笔。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381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一个书架有两层，王老师把上层的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本书放到下层，两层的本数正好同样多，原来上层比下层多几本书？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小花把自己的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张画片送给了小兰，两人的画片就同样多了，小花原来比小兰多几张画片？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）班有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名小朋友排两队做操，第一队调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人到第二队，两队人数同样多，第一队原来比第二队多几人？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92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大肥羊和小胖羊两队进行拔河比赛，大肥羊队有</a:t>
            </a:r>
            <a:r>
              <a:rPr lang="en-US" altLang="zh-CN" kern="100" dirty="0">
                <a:latin typeface="Times New Roman"/>
              </a:rPr>
              <a:t>31</a:t>
            </a:r>
            <a:r>
              <a:rPr lang="zh-CN" altLang="zh-CN" kern="100" dirty="0">
                <a:latin typeface="Times New Roman"/>
              </a:rPr>
              <a:t>只小羊。如果从大肥羊队调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只小羊到小胖羊队，这时两队羊数就一样多了。小胖羊队原来有多少只小羊？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问小胖羊队原来有多少只小羊，现在知道大肥羊队有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只小羊，还知道两队之间的关系，那只要求出大肥羊队和小胖羊队相差几只小羊就可以了。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31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答：小胖羊队原来有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只小羊。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600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有两篮鸡蛋，甲篮有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个鸡蛋，如果从甲篮拿出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个放入乙篮，那么两篮鸡蛋同样多，乙篮原来有多少个鸡蛋？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甲、乙两油桶，甲油桶中有油</a:t>
            </a:r>
            <a:r>
              <a:rPr lang="en-US" altLang="zh-CN" kern="100" dirty="0">
                <a:latin typeface="Times New Roman"/>
              </a:rPr>
              <a:t>120</a:t>
            </a:r>
            <a:r>
              <a:rPr lang="zh-CN" altLang="zh-CN" kern="100" dirty="0">
                <a:latin typeface="Times New Roman"/>
              </a:rPr>
              <a:t>千克，如果从甲桶中倒出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千克放入乙桶中，那么两个油桶中的油就同样多了，乙桶中原来有油多少千克？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甲借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本书给乙后，两人书的本数同样多，这时乙有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本书，问甲原来有几本书？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624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帅帅家的书柜分上下两层，共有图书</a:t>
            </a:r>
            <a:r>
              <a:rPr lang="en-US" altLang="zh-CN" sz="4000" kern="100" dirty="0">
                <a:latin typeface="Times New Roman"/>
              </a:rPr>
              <a:t>30</a:t>
            </a:r>
            <a:r>
              <a:rPr lang="zh-CN" altLang="zh-CN" sz="4000" kern="100" dirty="0">
                <a:latin typeface="Times New Roman"/>
              </a:rPr>
              <a:t>本，帅帅从上层拿出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本放进下层后，两层书的本数就同样多。原来下层有多少本书？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因为从上层拿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本放入下层里，两层书的本数就同样多，所以后来就是每层都放有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（本）书。而下层中有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本是上层拿过来的，所以，原来下层中有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（本）图书。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（本）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    15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（本）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答：原来下层有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本图书。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69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甲、乙两只笼子里共有兔子</a:t>
            </a:r>
            <a:r>
              <a:rPr lang="en-US" altLang="zh-CN" kern="100" dirty="0">
                <a:latin typeface="Times New Roman"/>
              </a:rPr>
              <a:t>34</a:t>
            </a:r>
            <a:r>
              <a:rPr lang="zh-CN" altLang="zh-CN" kern="100" dirty="0">
                <a:latin typeface="Times New Roman"/>
              </a:rPr>
              <a:t>只，饲养员从甲笼捉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只放到乙笼后，两笼中兔子的只数同样多。原来乙笼中有兔多少只？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甲、乙两个停车场都停着一些汽车，如果从甲停车场开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辆到乙车场，那么乙停车场就比甲停车场多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辆。问：原来甲停车场比乙停车场多停几辆车？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有两盘桃，从第一盘中拿出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个放入第二盘后，第一盘反而比第二盘少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个。原来第一盘比第二盘多几个？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269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31</a:t>
            </a:r>
            <a:r>
              <a:rPr lang="zh-CN" altLang="zh-CN" sz="4400" b="1" kern="100" dirty="0">
                <a:latin typeface="Times New Roman"/>
              </a:rPr>
              <a:t>讲 计算时间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小朋友，我们已经认识了钟表，钟表的用处可多了，我们的日常生活、学习、工作都离不开钟表。关于时间的数学问题有很多，下面我们就一起来研究有关时间的趣题。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这组与时间有关的趣题，不仅与时间的知识有关，还与平均分、间隔等数学问题有联系。小朋友要注意，当你所学的数学知识越来越多时，你还要学会综合运用所学知识解决问题的本领。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03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336704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钟面上有</a:t>
            </a:r>
            <a:r>
              <a:rPr lang="en-US" altLang="zh-CN" sz="4000" kern="100" dirty="0">
                <a:latin typeface="Times New Roman"/>
              </a:rPr>
              <a:t>12</a:t>
            </a:r>
            <a:r>
              <a:rPr lang="zh-CN" altLang="zh-CN" sz="4000" kern="100" dirty="0">
                <a:latin typeface="Times New Roman"/>
              </a:rPr>
              <a:t>个数，你能在钟面上画一条线，把钟面平均分成两部分，使每一部分数的个数相等，和也相等吗</a:t>
            </a:r>
            <a:r>
              <a:rPr lang="zh-CN" altLang="zh-CN" sz="4000" kern="100" dirty="0" smtClean="0">
                <a:latin typeface="Times New Roman"/>
              </a:rPr>
              <a:t>？</a:t>
            </a:r>
            <a:endParaRPr lang="en-US" altLang="zh-CN" kern="100" dirty="0" smtClean="0"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endParaRPr lang="en-US" altLang="zh-CN" kern="100" dirty="0"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导航：钟面上有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个数，它们的和就为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1+2+3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…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，根据题意把钟面平均分成两部分，每一部分数的个数相等，那么每一部分有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（个）数，和应为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10+3+11+2+12+1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39     9+4+8+5+7+6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39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260" y="5125869"/>
            <a:ext cx="1921641" cy="1717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771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-23727"/>
            <a:ext cx="7272808" cy="671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624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小枫家的钟一时敲一下，二时敲二下……十二时敲十二下，每到半小时敲一下。有一天，小枫在家看一本书，听到钟正好敲一下，他一看钟面正好是一点钟，这本书看完时，听到钟正好敲了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下，他一共听到钟敲了多少下？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根据题意，钟敲一下是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点，敲两下是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点，敲四下是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点，一至四点整点钟，小枫共听到钟敲了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1+2+3+4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（下），每半点敲一下，一至四点中间有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个半点，钟又分别敲了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下，所以小枫一共听到钟敲了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下。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1+2+3+4+3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（下）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答：他一共听到钟敲了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下。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245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120680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小华家的桌面上放了一座钟，几时就打几下铃，每到半点又打一声，一天小华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：</a:t>
            </a:r>
            <a:r>
              <a:rPr lang="en-US" altLang="zh-CN" kern="100" dirty="0">
                <a:latin typeface="Times New Roman"/>
              </a:rPr>
              <a:t>00</a:t>
            </a:r>
            <a:r>
              <a:rPr lang="zh-CN" altLang="zh-CN" kern="100" dirty="0">
                <a:latin typeface="Times New Roman"/>
              </a:rPr>
              <a:t>开始写作业时听到时钟整点报时，做完作业时又听到整点报时，前后一共打了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下，小明做作业用了多少时间？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小云家的一座台钟，一点打一下，两点打两下……十二点打十二下，每半点钟又打一下。小云在家玩，看见爸爸拿着书去书房，正好听到台钟打了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下；爸爸从书记出来，这是台钟正好打了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下。小云一共听台钟打了多少下？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时钟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时打一下，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时打二下，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时打三下……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时打十二下，每到半点还要打一下。一昼夜，时钟要打多少下？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554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u="sng" kern="100" dirty="0">
                <a:latin typeface="宋体"/>
              </a:rPr>
              <a:t>       </a:t>
            </a:r>
            <a:r>
              <a:rPr lang="zh-CN" altLang="zh-CN" kern="100" dirty="0">
                <a:latin typeface="Times New Roman"/>
              </a:rPr>
              <a:t>时整，时针和分针分别指向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，这时两针重合在一起。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时针和分针重合，就是时针和分针走到一起，这种情况一天有好几次，但整点时两针重合，只有中午一次和夜里一次。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时或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时，时针分针都指向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247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en-US" altLang="zh-CN" u="sng" kern="100" dirty="0">
                <a:latin typeface="宋体"/>
              </a:rPr>
              <a:t>       </a:t>
            </a:r>
            <a:r>
              <a:rPr lang="zh-CN" altLang="zh-CN" kern="100" dirty="0">
                <a:latin typeface="Times New Roman"/>
              </a:rPr>
              <a:t>时整，时针和分针分别指向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和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，两针在一直线上。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en-US" altLang="zh-CN" u="sng" kern="100" dirty="0">
                <a:latin typeface="宋体"/>
              </a:rPr>
              <a:t>       </a:t>
            </a:r>
            <a:r>
              <a:rPr lang="zh-CN" altLang="zh-CN" kern="100" dirty="0">
                <a:latin typeface="Times New Roman"/>
              </a:rPr>
              <a:t>时整，时针和分针组成直角。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3.3</a:t>
            </a:r>
            <a:r>
              <a:rPr lang="zh-CN" altLang="zh-CN" kern="100" dirty="0">
                <a:latin typeface="Times New Roman"/>
              </a:rPr>
              <a:t>点半，时针和分针组成 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角；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点半，时针和分针组成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角。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205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40871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</a:t>
            </a:r>
            <a:r>
              <a:rPr lang="zh-CN" altLang="zh-CN" kern="100" dirty="0">
                <a:latin typeface="Times New Roman"/>
              </a:rPr>
              <a:t>路车每隔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分钟开一班，明明想搭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：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的一班车到文具百货店，可明明到站时已是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：</a:t>
            </a:r>
            <a:r>
              <a:rPr lang="en-US" altLang="zh-CN" kern="100" dirty="0">
                <a:latin typeface="Times New Roman"/>
              </a:rPr>
              <a:t>38</a:t>
            </a:r>
            <a:r>
              <a:rPr lang="zh-CN" altLang="zh-CN" kern="100" dirty="0">
                <a:latin typeface="Times New Roman"/>
              </a:rPr>
              <a:t>分，他要等几分钟，才可搭乘下一班汽车？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下一班车要在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开出（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+20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他要等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也可以这样想：明明等车时（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），上一班车已开走了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时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分钟），而汽车每隔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分钟开出一班，因此他还要在车站等候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解：他要等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分钟，才可搭乘下一班汽车。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886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汽车每隔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分钟开出一班，妈妈想搭上午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时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分的车到超市，当她到达车站时，已是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时</a:t>
            </a:r>
            <a:r>
              <a:rPr lang="en-US" altLang="zh-CN" kern="100" dirty="0">
                <a:latin typeface="Times New Roman"/>
              </a:rPr>
              <a:t>21</a:t>
            </a:r>
            <a:r>
              <a:rPr lang="zh-CN" altLang="zh-CN" kern="100" dirty="0">
                <a:latin typeface="Times New Roman"/>
              </a:rPr>
              <a:t>分，她要等多少分钟才可以搭乘下一班车？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汽车每隔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分钟开一班，哥哥想搭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时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分的一班车，当他到达车站时，已是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时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分，他要等多少分钟，才可以搭乘下一班汽车？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汽车每隔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分钟开出第一班，第一班车在上午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时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分开出，第四班车应在什么时候开出？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44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264696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小兰的钟停了，电视显示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点时，爷爷跟电视对钟，由于爷爷年老眼花，把时针和分针颠倒了，妈妈下班回家，见钟才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点钟，大吃一惊。请你帮小兰妈妈想一想，现在应该是几点？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根据题意，电视显示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点时，爷爷把时针和分针颠倒了这时，钟面上的实际时间是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分，妈妈下班回家，见钟面是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点整，中间经过了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分，那么正确时间应该从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点经过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小时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分，是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解：小兰妈妈下班回家时，应该是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点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分。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 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40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小明家的钟停了，电台广播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点时，奶奶跟电台对表由于年老眼花把时针与分针颠倒了，小明放学回家见钟才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点整，大吃一惊，请你帮忙想一想，现在应该是几点钟？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张爷爷的手表停了，下午电台广播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点时，他跟着电台对表，不小心把时针和分针颠倒了，等他午睡醒来，发现手表还是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点整。你知道现在应该是几点钟吗？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把钟面上的长针和短针调换位置后，应该是几点几分？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          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80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32</a:t>
            </a:r>
            <a:r>
              <a:rPr lang="zh-CN" altLang="zh-CN" sz="4400" b="1" kern="100" dirty="0">
                <a:latin typeface="Times New Roman"/>
              </a:rPr>
              <a:t>讲 浅谈最值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小朋友都知道，数是由数字组成的，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这十个数字，可以组成许许多多的数。我们的生活中，少不了数和数字。数字组成的数有许多有趣的练习。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比较数的大小，先要从最高位起，一位一位地比较，把不同的几个数字按照不同的方法排列，就可以组成不同的数，把几个数字按从大到小顺序排列，可以组成最大的数；把几个数字从小到大排列（注意：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不能排在最高位），可以组成最小的数，如果要知道一共可以组成几个数，那就将几个数字依次排在最高位，然后确定其余各位上是什么数字。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885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□中最大能填几？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928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99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372 3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2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765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48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根据数的大小比较方法，先找出符合条件的数，再找出其中最大的数。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的百位数相同，十位上大的那个数就大。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的十位上是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，要使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大于□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，□中最大只能填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372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□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的百位和个位数字相同，只要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□就行，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7 0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，其中最大的是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，所以□中最大填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765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与□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，因为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65 48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，所以□中的数只要不大于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都行，□中最大填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 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032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□ 里最大能填几？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4132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4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33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588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5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8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在□里最大能填几？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931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9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1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462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13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136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）□</a:t>
            </a:r>
            <a:r>
              <a:rPr lang="en-US" altLang="zh-CN" kern="100" dirty="0">
                <a:latin typeface="Times New Roman"/>
              </a:rPr>
              <a:t>99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1000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在□里最大能填几？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209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2099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347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74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177     </a:t>
            </a: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）</a:t>
            </a:r>
            <a:r>
              <a:rPr lang="en-US" altLang="zh-CN" kern="100" dirty="0">
                <a:latin typeface="Times New Roman"/>
              </a:rPr>
              <a:t>95</a:t>
            </a:r>
            <a:r>
              <a:rPr lang="zh-CN" altLang="zh-CN" kern="100" dirty="0">
                <a:latin typeface="Times New Roman"/>
              </a:rPr>
              <a:t>□</a:t>
            </a:r>
            <a:r>
              <a:rPr lang="en-US" altLang="zh-CN" sz="2400" kern="100" dirty="0">
                <a:latin typeface="Times New Roman"/>
              </a:rPr>
              <a:t> </a:t>
            </a:r>
            <a:r>
              <a:rPr lang="en-US" altLang="zh-CN" kern="100" dirty="0">
                <a:latin typeface="宋体"/>
              </a:rPr>
              <a:t>954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982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用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这四个数字按下面的要求写出四位数。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）最大的四位数是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；（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）最小的四位数是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；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）只读一个零的四位数是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；（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）一个零也不读的四位数是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）写最大的四位数，要把最大的数字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写在千位，第二个大的数字写在百位；（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）写最小的四位数要把除零以外的最小数写在千位，因为零不能放在最高位；（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）只读一个零的四位数，两个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可以放在十位、百位，也可以一个零放在个位，另一个零放在百位；（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）一个零都不读的四位数，两个零放在个位和十位。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8200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2008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8002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2008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8020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2080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8200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2800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735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用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组成的四位数中最大是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，最小是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，只读一个零的四位数是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，一个零也不读的四位数是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一个四位数，它的十位上的数比个位上的数多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，百位上的数比十位上的数多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，千位上的数比百位上的数多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，这个数是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。（写出一个即可）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在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～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这十个数字中选出四个（每个数字只用一次）按要求组成四位数。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）最大的四位数是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；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）最小的四位数是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；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）有一个零，但零不读出来的最大四位数是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；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（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）有一个零，要读出的最小的四位数是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566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什么数减去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是最大的三位数？什么数加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是最小的三位数？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）最大的三位数是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，什么数减去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，这个数应该比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大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的数是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，因此所求的数是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）最小的三位数是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，什么数加上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，这个数应该比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，比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小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的数是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，所以所求的数是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1000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减去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是最大的三位数，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加上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是最小的三位数。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811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什么数加上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是最小的四位数？什么数减去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是最大的四位数？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2.</a:t>
            </a:r>
            <a:r>
              <a:rPr lang="zh-CN" altLang="zh-CN" kern="100" dirty="0">
                <a:latin typeface="Times New Roman"/>
              </a:rPr>
              <a:t>最大的三位数与最小的四位数相差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，最大的两位数与最大的三位数相差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，最大的四位数与最小的五位数相差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。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最大的两位数与最小的三位数相差多少？最小的四位数与最大的四位数相差多少？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235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用</a:t>
            </a:r>
            <a:r>
              <a:rPr lang="en-US" altLang="zh-CN" sz="4000" kern="100" dirty="0">
                <a:latin typeface="Times New Roman"/>
              </a:rPr>
              <a:t>7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9</a:t>
            </a:r>
            <a:r>
              <a:rPr lang="zh-CN" altLang="zh-CN" sz="4000" kern="100" dirty="0">
                <a:latin typeface="Times New Roman"/>
              </a:rPr>
              <a:t>这三个数字，可以排成几个不同的三位数？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这三个数字组成数的时候，可以用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分别作最高位，当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作最高位时，十位可以是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，个位上可以是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769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796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；当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作最高位时，十位上可以是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，个位上可以是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679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697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；当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作最高位时，十位上可以是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，个位上可以是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967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976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解：可以排成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个不同的三位数。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297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用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三个数字排三位数，你能排出几个？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用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这三个数可以组成几个不同的三位数，并把它们从大到小排列。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用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四个数字，可以组成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个不同的四位数。把它们按照从小到大的顺序排列，第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个数是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，第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个数是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743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用</a:t>
            </a:r>
            <a:r>
              <a:rPr lang="en-US" altLang="zh-CN" sz="4000" kern="100" dirty="0">
                <a:latin typeface="Times New Roman"/>
              </a:rPr>
              <a:t>0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9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、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五个数字组成最大五位数和最小的五位数，各是多少？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五位数是几个万、几个千、几个百、几个十和几个一组成的。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）要使组成的五位数最大，必须把这五个了中的最大的数字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放在首位，即万位；第二大的数字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放在千位；第三大的数字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放在百位；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放在十位上；最小的数字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放在个位上，也就是把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个数字按从大到小的顺序排列，就组成了最大的五位数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96510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）组成最小的五位数时，就要考虑把最小的数字放在最高位，把最大的数字放在个位，所以要把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除外的最小数字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放在万位上，这样最小的五位数是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10569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解：组成最大的五位数是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96510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，组成最小的一位数是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10569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210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用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组成最大的五位数和最小的五位数，各是多少？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用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五个数字组成最大的五位数是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，最小的五位数是</a:t>
            </a:r>
            <a:r>
              <a:rPr lang="en-US" altLang="zh-CN" u="sng" kern="100" dirty="0">
                <a:latin typeface="Times New Roman"/>
              </a:rPr>
              <a:t>       </a:t>
            </a:r>
            <a:r>
              <a:rPr lang="zh-CN" altLang="zh-CN" kern="100" dirty="0">
                <a:latin typeface="Times New Roman"/>
              </a:rPr>
              <a:t>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把</a:t>
            </a:r>
            <a:r>
              <a:rPr lang="en-US" altLang="zh-CN" kern="100" dirty="0">
                <a:latin typeface="Times New Roman"/>
              </a:rPr>
              <a:t>0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、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组成一个最大四位数和最小的四位数，求出两数的差。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312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33</a:t>
            </a:r>
            <a:r>
              <a:rPr lang="zh-CN" altLang="zh-CN" sz="4400" b="1" kern="100" dirty="0">
                <a:latin typeface="Times New Roman"/>
              </a:rPr>
              <a:t>讲 间隔的学问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在实际生活中，像植树这种特殊问题应用较广。学会了植树问题的解决方法，我们就可以把这种方法运用到实际生活中，多角度多方位地去思考面临的新问题。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解决这一组练习题，首先要应用植树问题的解题方法，两端都种树，种的棵数比间隔数多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；如果围成一个圆，棵数与间隔数相等。如果要求种的棵数较少，应该公用的棵数越多越好；种的棵数要最多，应该没有公用的棵数。运用这些关系，看清题意，就能算出正确结果。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798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有</a:t>
            </a:r>
            <a:r>
              <a:rPr lang="en-US" altLang="zh-CN" sz="4000" kern="100" dirty="0">
                <a:latin typeface="Times New Roman"/>
              </a:rPr>
              <a:t>10</a:t>
            </a:r>
            <a:r>
              <a:rPr lang="zh-CN" altLang="zh-CN" sz="4000" kern="100" dirty="0">
                <a:latin typeface="Times New Roman"/>
              </a:rPr>
              <a:t>棵树排成一行，如果在每两棵树之间再栽一棵，想一想，一共还需要多少棵树？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棵树排成一行，这行就有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（个）间隔。每两棵树之间再栽一棵树，也就是每个间隔中再栽一棵树，那么一共需要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（棵）树，如图，△表示原来有的树；▲表示新栽的树。</a:t>
            </a:r>
          </a:p>
          <a:p>
            <a:pPr indent="6667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△▲△▲△▲△▲△▲△▲△▲△▲△▲△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棵原有的树，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棵新栽的树）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（棵）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答：一共还需要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棵树。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66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在一排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名男生队伍中，每两名男生之间插一名女生，一共插进了几名女生？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教室楼门口摆了一排红花共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盆，在每两盆红花之间插入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盆黄花，一共需要多少盆黄花？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足球场周围共有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面红旗，如果在每两面红旗之间再插一面绿旗，一共需要多少面绿旗？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208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10</a:t>
            </a:r>
            <a:r>
              <a:rPr lang="zh-CN" altLang="zh-CN" sz="4000" kern="100" dirty="0">
                <a:latin typeface="Times New Roman"/>
              </a:rPr>
              <a:t>个同学围成一圈，每两个同学之间相隔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米，这个圈的周长是多少米？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由于围成的是一个圈，首尾相连，因此同学的个数也就是这个圈共有的间隔数，即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个间隔，要求这个圈的周长是多少米，也就是求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是多少。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（米）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答：这个圈的周长是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米。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304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一个圆形花坛周围每隔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分米放一盆花，一共放了</a:t>
            </a:r>
            <a:r>
              <a:rPr lang="en-US" altLang="zh-CN" kern="100" dirty="0">
                <a:latin typeface="Times New Roman"/>
              </a:rPr>
              <a:t>100</a:t>
            </a:r>
            <a:r>
              <a:rPr lang="zh-CN" altLang="zh-CN" kern="100" dirty="0">
                <a:latin typeface="Times New Roman"/>
              </a:rPr>
              <a:t>盆花，这个花坛周长是多少分米？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一个圆形鱼池，在它的四周每隔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米种一棵小树，一共种了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棵，这个鱼池的周长是多少米？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环形跑道上每隔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米插一面红旗，共插了</a:t>
            </a:r>
            <a:r>
              <a:rPr lang="en-US" altLang="zh-CN" kern="100" dirty="0">
                <a:latin typeface="Times New Roman"/>
              </a:rPr>
              <a:t>50</a:t>
            </a:r>
            <a:r>
              <a:rPr lang="zh-CN" altLang="zh-CN" kern="100" dirty="0">
                <a:latin typeface="Times New Roman"/>
              </a:rPr>
              <a:t>面红旗，这个环形跑道长多少米？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382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学校操场有条</a:t>
            </a:r>
            <a:r>
              <a:rPr lang="en-US" altLang="zh-CN" kern="100" dirty="0">
                <a:latin typeface="Times New Roman"/>
              </a:rPr>
              <a:t>200</a:t>
            </a:r>
            <a:r>
              <a:rPr lang="zh-CN" altLang="zh-CN" kern="100" dirty="0">
                <a:latin typeface="Times New Roman"/>
              </a:rPr>
              <a:t>米长的环形跑道，在跑道边上每隔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米插一根小木柱，这个跑道需要插多少根小木柱？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由于这是一个环形跑道，插木柱的根数和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米长的段数是相等的。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（根）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答：这个跑道需要插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根小木柱。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410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圆形花圃的周长是</a:t>
            </a:r>
            <a:r>
              <a:rPr lang="en-US" altLang="zh-CN" kern="100" dirty="0">
                <a:latin typeface="Times New Roman"/>
              </a:rPr>
              <a:t>27</a:t>
            </a:r>
            <a:r>
              <a:rPr lang="zh-CN" altLang="zh-CN" kern="100" dirty="0">
                <a:latin typeface="Times New Roman"/>
              </a:rPr>
              <a:t>米，每隔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米栽一棵树，一共要栽多少棵？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一个圆形花坛周长是</a:t>
            </a:r>
            <a:r>
              <a:rPr lang="en-US" altLang="zh-CN" kern="100" dirty="0">
                <a:latin typeface="Times New Roman"/>
              </a:rPr>
              <a:t>48</a:t>
            </a:r>
            <a:r>
              <a:rPr lang="zh-CN" altLang="zh-CN" kern="100" dirty="0">
                <a:latin typeface="Times New Roman"/>
              </a:rPr>
              <a:t>米，在它的边上每隔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米插一根柱子，一共可插多少根柱子？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一个圆形跑道长</a:t>
            </a:r>
            <a:r>
              <a:rPr lang="en-US" altLang="zh-CN" kern="100" dirty="0">
                <a:latin typeface="Times New Roman"/>
              </a:rPr>
              <a:t>200</a:t>
            </a:r>
            <a:r>
              <a:rPr lang="zh-CN" altLang="zh-CN" kern="100" dirty="0">
                <a:latin typeface="Times New Roman"/>
              </a:rPr>
              <a:t>米，沿周围每隔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米插一面红旗，一共可插多少面红旗？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4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一个鱼塘周围长</a:t>
            </a:r>
            <a:r>
              <a:rPr lang="en-US" altLang="zh-CN" kern="100" dirty="0">
                <a:latin typeface="Times New Roman"/>
              </a:rPr>
              <a:t>1800</a:t>
            </a:r>
            <a:r>
              <a:rPr lang="zh-CN" altLang="zh-CN" kern="100" dirty="0">
                <a:latin typeface="Times New Roman"/>
              </a:rPr>
              <a:t>米，沿鱼塘周围每隔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米植一棵杨树，每两棵杨树之间等距离的植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棵柳树，需要植杨树、柳树各多少棵？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鱼塘的周长是封闭线路，所以杨树的棵数和段数相等，每一段上又栽有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棵柳树，则柳树棵数是段数的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倍。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（棵）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200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（棵）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答：需要植杨树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棵，柳树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400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429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同学们在一个周长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米的草地上围成一圈做游戏，每隔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米站一个男同学，每两个男同学之间站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个女同学，做游戏的共有多少个同学？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一个湖泊的周长是</a:t>
            </a:r>
            <a:r>
              <a:rPr lang="en-US" altLang="zh-CN" kern="100" dirty="0">
                <a:latin typeface="Times New Roman"/>
              </a:rPr>
              <a:t>1800</a:t>
            </a:r>
            <a:r>
              <a:rPr lang="zh-CN" altLang="zh-CN" kern="100" dirty="0">
                <a:latin typeface="Times New Roman"/>
              </a:rPr>
              <a:t>米，沿湖泊周围每隔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米栽一棵柳树，每两棵柳树中间栽一棵桃树，湖泊周围栽柳树和桃树各多少棵？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在一个周长为</a:t>
            </a:r>
            <a:r>
              <a:rPr lang="en-US" altLang="zh-CN" kern="100" dirty="0">
                <a:latin typeface="Times New Roman"/>
              </a:rPr>
              <a:t>8600</a:t>
            </a:r>
            <a:r>
              <a:rPr lang="zh-CN" altLang="zh-CN" kern="100" dirty="0">
                <a:latin typeface="Times New Roman"/>
              </a:rPr>
              <a:t>米的住宅周围绿化，每隔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米栽一棵苹果树，在相邻两棵苹果树中间每隔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米栽一棵桃树，问栽苹果树、桃树各多少棵？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557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有</a:t>
            </a:r>
            <a:r>
              <a:rPr lang="en-US" altLang="zh-CN" sz="4000" kern="100" dirty="0">
                <a:latin typeface="Times New Roman"/>
              </a:rPr>
              <a:t>9</a:t>
            </a:r>
            <a:r>
              <a:rPr lang="zh-CN" altLang="zh-CN" sz="4000" kern="100" dirty="0">
                <a:latin typeface="Times New Roman"/>
              </a:rPr>
              <a:t>棵树，要求栽成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行，每行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棵，应该怎样栽？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棵树，要求栽的行数多，使我们自然想到正方形有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条边，两条对角线，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行，再把相对边的中点连起来，又是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行，一共有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行了。这样就有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个交点，每行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个交点，在交点处栽树，正好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棵树栽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行，每行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棵。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解：栽法如图：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221088"/>
            <a:ext cx="2304256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86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现在有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棵树，要求你栽成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行，每行都有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棵，应该怎样栽？（提示：成三角形）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学校买来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盆花，要求摆成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行，每行都是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盆，应该怎样摆？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有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棵树，要栽成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行，应该怎样栽？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44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775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34</a:t>
            </a:r>
            <a:r>
              <a:rPr lang="zh-CN" altLang="zh-CN" sz="4400" b="1" kern="100" dirty="0">
                <a:latin typeface="Times New Roman"/>
              </a:rPr>
              <a:t>讲 推理计算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我们已经知道用移多补少的方法可使不相等变成相等，在分东西的题中，有很多把不相等的数量转化成相等数量的问题，这就需要我们分析两个数量之间的关系，再进行移多补少。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决这类问题，首先要明确“移多补少”至相等时，移的部分是相差部分的一半，由相等移为不等，相差的部分是移的部分的两倍。如果说移后，两个数量仍然不相等，要知道原来两个数量之间有什么关系，你会吗？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41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甲筐比乙筐多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个西瓜，甲筐给了乙筐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个西瓜后，哪筐西瓜多？多几个？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根据甲筐比乙筐多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个西瓜，由“移多补少”知甲给乙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个西瓜，两筐就同样多。甲筐给了乙筐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个，相当于先给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个，又给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个，可知乙筐比甲筐多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答：乙筐西瓜多，多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819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小红比小兰多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张邮票，小红给小兰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张后，两人谁多？多几张？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欢欢把自己的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枝铅笔送给飞飞，两个的铅笔枝数同样多，欢欢原来比飞飞多几枝铅笔？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小明有两个书架，每一个书架比第二个书架多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本书，第二个书架给第一个书架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本书后，两个书架谁的书多？多几本？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888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8640"/>
            <a:ext cx="8229600" cy="612616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姐姐和弟弟都有一些玻璃珠子，姐姐送给弟弟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颗后，姐姐还比弟弟多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颗，原来姐姐比弟弟多几颗珠子？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“姐姐送给弟弟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颗后”，如果两个人珠子同样多，那么姐姐比弟弟多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（颗）珠子，而事实上“姐姐还比弟弟多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颗”，因此，原来姐姐比弟弟多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10+3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（颗）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2+3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（颗）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答：原来姐姐比弟弟多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颗珠子。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722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甲筐和乙筐都有西红柿，甲筐给了乙筐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个后，甲筐还比乙筐多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个，原来甲筐比乙筐多几个西红柿？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甲筐和乙筐都有黄瓜，甲筐给了乙筐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根后，甲筐比乙筐少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根，原来甲筐和乙筐哪个多？多几根？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甲、乙两个停车场都停放着一些汽车，如果从甲停车场开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辆汽车到乙停车场，那么乙停车场就比甲停车场多停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辆汽车。问：原来甲停车场比乙停车场多停几辆汽车？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868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甲、乙两筐西瓜各</a:t>
            </a:r>
            <a:r>
              <a:rPr lang="en-US" altLang="zh-CN" sz="4000" kern="100" dirty="0">
                <a:latin typeface="Times New Roman"/>
              </a:rPr>
              <a:t>28</a:t>
            </a:r>
            <a:r>
              <a:rPr lang="zh-CN" altLang="zh-CN" sz="4000" kern="100" dirty="0">
                <a:latin typeface="Times New Roman"/>
              </a:rPr>
              <a:t>个，从甲筐取几个放入乙筐中后，乙筐就比甲筐多</a:t>
            </a:r>
            <a:r>
              <a:rPr lang="en-US" altLang="zh-CN" sz="4000" kern="100" dirty="0">
                <a:latin typeface="Times New Roman"/>
              </a:rPr>
              <a:t>10</a:t>
            </a:r>
            <a:r>
              <a:rPr lang="zh-CN" altLang="zh-CN" sz="4000" kern="100" dirty="0">
                <a:latin typeface="Times New Roman"/>
              </a:rPr>
              <a:t>个，甲筐现在有多少西瓜？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要知道甲筐现在有多少个西瓜，就要知道甲筐给了乙筐几个，由题意可知，原来甲、乙两筐西瓜相等，现在乙筐比甲筐多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个，可见甲筐给了乙筐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（个），甲筐现在还剩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（个）西瓜。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28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答：甲筐现在有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个西瓜。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51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开心超人和甜心超人各有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块积木，开心超人给甜心超人几块后，甜心超人就经开心超人多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块，开心超人现在有几块？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大筐和小筐共有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个鸡蛋，从大筐中拿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个放入小筐里，两筐鸡蛋个数就同样多，原来小筐里有几个鸡蛋？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一个两层书架，上层和下层共有</a:t>
            </a:r>
            <a:r>
              <a:rPr lang="en-US" altLang="zh-CN" kern="100" dirty="0">
                <a:latin typeface="Times New Roman"/>
              </a:rPr>
              <a:t>28</a:t>
            </a:r>
            <a:r>
              <a:rPr lang="zh-CN" altLang="zh-CN" kern="100" dirty="0">
                <a:latin typeface="Times New Roman"/>
              </a:rPr>
              <a:t>本书，从上层拿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本放入下层后，上下两层的书一样多，原来上层有多少本？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326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小青有两盒糖，甲盒有糖</a:t>
            </a:r>
            <a:r>
              <a:rPr lang="en-US" altLang="zh-CN" kern="100" dirty="0">
                <a:latin typeface="Times New Roman"/>
              </a:rPr>
              <a:t>78</a:t>
            </a:r>
            <a:r>
              <a:rPr lang="zh-CN" altLang="zh-CN" kern="100" dirty="0">
                <a:latin typeface="Times New Roman"/>
              </a:rPr>
              <a:t>粒，乙盒有</a:t>
            </a:r>
            <a:r>
              <a:rPr lang="en-US" altLang="zh-CN" kern="100" dirty="0">
                <a:latin typeface="Times New Roman"/>
              </a:rPr>
              <a:t>38</a:t>
            </a:r>
            <a:r>
              <a:rPr lang="zh-CN" altLang="zh-CN" kern="100" dirty="0">
                <a:latin typeface="Times New Roman"/>
              </a:rPr>
              <a:t>粒，每次从甲盒取五粒糖放到乙盒中，取几次两盒糖的粒数就同样多？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由题意可知，甲盒比乙盒多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（粒），从这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粒糖中取出一半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（粒）放入乙盒，两盒糖的粒数就同样多了，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粒糖每次取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粒，要取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（次）。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（粒）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40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（次）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166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甲、乙两堆棋子，甲堆有</a:t>
            </a:r>
            <a:r>
              <a:rPr lang="en-US" altLang="zh-CN" kern="100" dirty="0">
                <a:latin typeface="Times New Roman"/>
              </a:rPr>
              <a:t>68</a:t>
            </a:r>
            <a:r>
              <a:rPr lang="zh-CN" altLang="zh-CN" kern="100" dirty="0">
                <a:latin typeface="Times New Roman"/>
              </a:rPr>
              <a:t>粒，乙堆有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粒，每次从甲堆中取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粒放到乙堆中，取几次两堆棋子的粒数同样多？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水果店有两筐苹果，甲筐比乙筐多</a:t>
            </a:r>
            <a:r>
              <a:rPr lang="en-US" altLang="zh-CN" kern="100" dirty="0">
                <a:latin typeface="Times New Roman"/>
              </a:rPr>
              <a:t>18</a:t>
            </a:r>
            <a:r>
              <a:rPr lang="zh-CN" altLang="zh-CN" kern="100" dirty="0">
                <a:latin typeface="Times New Roman"/>
              </a:rPr>
              <a:t>千克，每次从甲筐中取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千克放到乙筐中，取几次两筐苹果才同样多？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沸羊羊有邮票</a:t>
            </a:r>
            <a:r>
              <a:rPr lang="en-US" altLang="zh-CN" kern="100" dirty="0">
                <a:latin typeface="Times New Roman"/>
              </a:rPr>
              <a:t>12</a:t>
            </a:r>
            <a:r>
              <a:rPr lang="zh-CN" altLang="zh-CN" kern="100" dirty="0">
                <a:latin typeface="Times New Roman"/>
              </a:rPr>
              <a:t>张，美羊羊有邮票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张，沸羊羊每天给美羊羊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张邮票，要过几天两人的邮票才同样多？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021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5750099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欢欢买了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本练习本，心心买了同样的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本练习本，丁丁没有买，现在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人平均分，丁丁付出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元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角，每本练习本多少钱？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欢欢和心心共买了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9+6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（本）练习本，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人平均分，每人应得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（本），丁丁拿了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本，付了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元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角，可以知道每本练习本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（角）。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9+6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（本）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元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角＝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角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15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（角）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答：每本练习本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角钱。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724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525344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小军和小浩原来拿出相同的钱买来相等数目的同种铅笔若干枝，后来小军拿了</a:t>
            </a:r>
            <a:r>
              <a:rPr lang="en-US" altLang="zh-CN" kern="100" dirty="0">
                <a:latin typeface="Times New Roman"/>
              </a:rPr>
              <a:t>13</a:t>
            </a:r>
            <a:r>
              <a:rPr lang="zh-CN" altLang="zh-CN" kern="100" dirty="0">
                <a:latin typeface="Times New Roman"/>
              </a:rPr>
              <a:t>枝，小浩拿了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枝，而小军给了小浩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角钱。问每枝铅笔是多少钱？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小林和小勇每人拿出同样多的钱买来相同的英语练习本</a:t>
            </a:r>
            <a:r>
              <a:rPr lang="en-US" altLang="zh-CN" kern="100" dirty="0">
                <a:latin typeface="Times New Roman"/>
              </a:rPr>
              <a:t>16</a:t>
            </a:r>
            <a:r>
              <a:rPr lang="zh-CN" altLang="zh-CN" kern="100" dirty="0">
                <a:latin typeface="Times New Roman"/>
              </a:rPr>
              <a:t>本，小林拿了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本，小勇拿了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本，而小林付给小勇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角钱。问：每本英语练习本是多少钱？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三个小朋友买馒头，甲买了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个，乙买了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个，丙买了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个，三个小朋友平均分馒头吃，丙给了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元钱，每个馒头多少钱？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62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35</a:t>
            </a:r>
            <a:r>
              <a:rPr lang="zh-CN" altLang="zh-CN" sz="4400" b="1" kern="100" dirty="0">
                <a:latin typeface="Times New Roman"/>
              </a:rPr>
              <a:t>讲 坐船过河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在日常生活中，常常要乘车或坐船。在乘车、坐船活动中有很多数学题，做这些题，如果光凭计算，有时就会产生错误，一定要认真审题，全面各种情况。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indent="762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解答日常生活中的一些有趣的问题，一定要从生活实际出发，充分运用学过的数学知识，使求出的问题合乎实际情况，有时可以先假设一个结论，然后对照所给的条件，找到符合所有条件的结果。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624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有</a:t>
            </a:r>
            <a:r>
              <a:rPr lang="en-US" altLang="zh-CN" sz="4000" kern="100" dirty="0">
                <a:latin typeface="Times New Roman"/>
              </a:rPr>
              <a:t>16</a:t>
            </a:r>
            <a:r>
              <a:rPr lang="zh-CN" altLang="zh-CN" sz="4000" kern="100" dirty="0">
                <a:latin typeface="Times New Roman"/>
              </a:rPr>
              <a:t>人要到河对岸去，河边只有一条船，这只船上只能坐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人。用这条小船至少要多少次才能把</a:t>
            </a:r>
            <a:r>
              <a:rPr lang="en-US" altLang="zh-CN" sz="4000" kern="100" dirty="0">
                <a:latin typeface="Times New Roman"/>
              </a:rPr>
              <a:t>16</a:t>
            </a:r>
            <a:r>
              <a:rPr lang="zh-CN" altLang="zh-CN" sz="4000" kern="100" dirty="0">
                <a:latin typeface="Times New Roman"/>
              </a:rPr>
              <a:t>人全部渡过河去？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解答这道题要从实际情况去考虑，第一次船上坐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人，到对岸后，必须留下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人在船上驾船返回，实际上只把三个人渡过河去。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，当小船渡过了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次时，渡过的人数是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（人），还没渡过河的人有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（人），最后这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人刚好一次渡过河去。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（次）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（人）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16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（人）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4+1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（次）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答：至少要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次才能把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人全部渡过河去。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31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有</a:t>
            </a:r>
            <a:r>
              <a:rPr lang="en-US" altLang="zh-CN" kern="100" dirty="0">
                <a:latin typeface="Times New Roman"/>
              </a:rPr>
              <a:t>25</a:t>
            </a:r>
            <a:r>
              <a:rPr lang="zh-CN" altLang="zh-CN" kern="100" dirty="0">
                <a:latin typeface="Times New Roman"/>
              </a:rPr>
              <a:t>人要到河对岸去，江边只有一条船，这条船上每次只能坐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人。用这条船至少要多少次才能把人全部渡到河对岸去？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1813560" algn="l"/>
              </a:tabLst>
            </a:pPr>
            <a:r>
              <a:rPr lang="en-US" altLang="zh-CN" kern="100" dirty="0">
                <a:latin typeface="宋体"/>
              </a:rPr>
              <a:t> 	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2.36</a:t>
            </a:r>
            <a:r>
              <a:rPr lang="zh-CN" altLang="zh-CN" kern="100" dirty="0">
                <a:latin typeface="Times New Roman"/>
              </a:rPr>
              <a:t>只小羊要乘船渡河去羊村，河边只有一条船，这条船每次只能坐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只羊。小羊们用这条船要多少次才能全部渡到河对岸去？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3.51</a:t>
            </a:r>
            <a:r>
              <a:rPr lang="zh-CN" altLang="zh-CN" kern="100" dirty="0">
                <a:latin typeface="Times New Roman"/>
              </a:rPr>
              <a:t>个人要过一条河，只有一条船，每次只能载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人，至少要渡几次，才能使大家全部过河？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53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29</a:t>
            </a:r>
            <a:r>
              <a:rPr lang="zh-CN" altLang="zh-CN" kern="100" dirty="0">
                <a:latin typeface="Times New Roman"/>
              </a:rPr>
              <a:t>人要去演出，有两种车，一种是面包车，每辆可乘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人，另一种是小轿车，每辆可乘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人，可怎样派车？哪种方案派车时，车上没有空位？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如果只派面包车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（辆）……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（人），要派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辆；如果只派小轿车；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（辆）……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（人），要派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辆；如果既派面包车，又派小轿车，正好一次把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人送完，就是最好方案。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从派面包车的情况看出，少派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辆面包车，就剩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人，这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人正好用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辆轿车送，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7+2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（人）。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解：派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辆面包车，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辆小轿车正好一次送完，每辆车上都没有空位，这就是最好的方案。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669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一个旅游团共有</a:t>
            </a:r>
            <a:r>
              <a:rPr lang="en-US" altLang="zh-CN" kern="100" dirty="0">
                <a:latin typeface="Times New Roman"/>
              </a:rPr>
              <a:t>62</a:t>
            </a:r>
            <a:r>
              <a:rPr lang="zh-CN" altLang="zh-CN" kern="100" dirty="0">
                <a:latin typeface="Times New Roman"/>
              </a:rPr>
              <a:t>人，现在有两种车，面包车每辆最多坐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人，小轿车每辆最多坐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人，问应派几辆面包车、几辆小轿车能一次把他们送到火车站？（每辆车上无空位）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有</a:t>
            </a:r>
            <a:r>
              <a:rPr lang="en-US" altLang="zh-CN" kern="100" dirty="0">
                <a:latin typeface="Times New Roman"/>
              </a:rPr>
              <a:t>33</a:t>
            </a:r>
            <a:r>
              <a:rPr lang="zh-CN" altLang="zh-CN" kern="100" dirty="0">
                <a:latin typeface="Times New Roman"/>
              </a:rPr>
              <a:t>人要同时坐船过河，大船可坐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人，小船可坐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人，请你写出至少三种不同的方案。（每只船都要坐满）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一个大人和两个小孩为了过河，他们找来一条船，船最多载重</a:t>
            </a:r>
            <a:r>
              <a:rPr lang="en-US" altLang="zh-CN" kern="100" dirty="0">
                <a:latin typeface="Times New Roman"/>
              </a:rPr>
              <a:t>60</a:t>
            </a:r>
            <a:r>
              <a:rPr lang="zh-CN" altLang="zh-CN" kern="100" dirty="0">
                <a:latin typeface="Times New Roman"/>
              </a:rPr>
              <a:t>千克，而大人正好重</a:t>
            </a:r>
            <a:r>
              <a:rPr lang="en-US" altLang="zh-CN" kern="100" dirty="0">
                <a:latin typeface="Times New Roman"/>
              </a:rPr>
              <a:t>60</a:t>
            </a:r>
            <a:r>
              <a:rPr lang="zh-CN" altLang="zh-CN" kern="100" dirty="0">
                <a:latin typeface="Times New Roman"/>
              </a:rPr>
              <a:t>千克，两个小孩各重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千克。问：他们怎样才能全部过河？（三人都会划船）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063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8</a:t>
            </a:r>
            <a:r>
              <a:rPr lang="zh-CN" altLang="zh-CN" kern="100" dirty="0">
                <a:latin typeface="Times New Roman"/>
              </a:rPr>
              <a:t>个人吃饭，每人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只饭碗，两人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只菜碗，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个人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只汤碗，一共有几只碗？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个人吃饭，每人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只饭碗，需要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（只）饭碗，两人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只菜碗，需要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（只）菜碗，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只汤碗，需要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（只）汤碗，那么一共需要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8+4+2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（只）碗。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   8+2+4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只碗。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512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炊事员王师傅正在洗碗，李师傅问他：“今天中午用了几个碗？”他说：“</a:t>
            </a:r>
            <a:r>
              <a:rPr lang="en-US" altLang="zh-CN" kern="100" dirty="0">
                <a:latin typeface="Times New Roman"/>
              </a:rPr>
              <a:t>36</a:t>
            </a:r>
            <a:r>
              <a:rPr lang="zh-CN" altLang="zh-CN" kern="100" dirty="0">
                <a:latin typeface="Times New Roman"/>
              </a:rPr>
              <a:t>个人吃饭，每人用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个饭碗，平均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个人共用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个菜碗，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个人共用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个汤碗。”请你算一算，中午一共用了几个碗？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食堂李师傅洗碗，王师傅问他：“今天你洗了多少个碗？”李师傅说：“</a:t>
            </a:r>
            <a:r>
              <a:rPr lang="en-US" altLang="zh-CN" kern="100" dirty="0">
                <a:latin typeface="Times New Roman"/>
              </a:rPr>
              <a:t>40</a:t>
            </a:r>
            <a:r>
              <a:rPr lang="zh-CN" altLang="zh-CN" kern="100" dirty="0">
                <a:latin typeface="Times New Roman"/>
              </a:rPr>
              <a:t>人吃饭，每人用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个饭碗，平均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个人用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个菜碗，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个人共用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个汤碗。”你说他洗了多少个碗？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小朋友们吃饭，每人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个饭碗，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个人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个菜碗，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个人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个汤碗，一共用了</a:t>
            </a:r>
            <a:r>
              <a:rPr lang="en-US" altLang="zh-CN" kern="100" dirty="0">
                <a:latin typeface="Times New Roman"/>
              </a:rPr>
              <a:t>22</a:t>
            </a:r>
            <a:r>
              <a:rPr lang="zh-CN" altLang="zh-CN" kern="100" dirty="0">
                <a:latin typeface="Times New Roman"/>
              </a:rPr>
              <a:t>个碗，请你算一算，吃饭的究竟有多少个小朋友？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652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一个大信封里放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个中等的信封，每个中等的信封里又放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个小信封，请你算出一共有多少个信封？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个中等的信封，每个中等的信封里有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个小信封，可以算出一共有小信封：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（个），小信封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中等信封＝共有的信封数，小信封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佧，中等的信封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个，大信封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个，因此共有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信封。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5+5+1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答：一共有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个信封。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160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1.1</a:t>
            </a:r>
            <a:r>
              <a:rPr lang="zh-CN" altLang="zh-CN" kern="100" dirty="0">
                <a:latin typeface="Times New Roman"/>
              </a:rPr>
              <a:t>个大盒子里装有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个中等盒子，每个中等盒子里又有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个小盒子，请你算出一共有多少个盒子？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有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个大盒子，每个大盒子内装有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个中盒子，每个中盒子内装有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个小盒子，大、中、小盒子共有多少个？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李大爷家养了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只兔子，其中有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只是白兔，其他的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只是黑兔，每只黑兔又生了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只小兔，每只白兔又生了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只小兔，李大爷家现在一共有多少只兔子？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95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妈妈买回不到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个鸡蛋，两个两个地数，最后多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个的数，最后也多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个，你说妈妈买了几个鸡蛋？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根据题意，鸡蛋个数除以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余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，除以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也余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，既能除以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，又能除以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而没有余数的最小的数是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3+1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（个），所以妈妈买回了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个鸡蛋。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3+1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（个）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答：妈妈买了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个鸡蛋。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400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一串珠子，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颗一数，正好数尽，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颗一数，最后余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，你能算出最少有多少颗珠子？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妈妈买回不到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块糖，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块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块的数还余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块，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块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块地数还余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块，问妈妈到底买回多少块糖？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Times New Roman"/>
              </a:rPr>
              <a:t>3.</a:t>
            </a:r>
            <a:r>
              <a:rPr lang="zh-CN" altLang="zh-CN" kern="100" dirty="0">
                <a:latin typeface="Times New Roman"/>
              </a:rPr>
              <a:t>同学们春游，把他们分成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人一组，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人一组或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人一组都刚好没有剩余。这批学生至少有多少人？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019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36</a:t>
            </a:r>
            <a:r>
              <a:rPr lang="zh-CN" altLang="zh-CN" sz="4400" b="1" kern="100" dirty="0">
                <a:latin typeface="Times New Roman"/>
              </a:rPr>
              <a:t>讲 合理安排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小朋友，你知道“统筹方法”吗？我国著名的数学家华罗庚爷爷曾积极推广、普及这种数学思考方法。这一讲，我们就来学习日常生活中最简单的“最优化”问题</a:t>
            </a:r>
            <a:r>
              <a:rPr lang="en-US" altLang="zh-CN" u="sng" kern="100" dirty="0">
                <a:solidFill>
                  <a:srgbClr val="FFC000"/>
                </a:solidFill>
                <a:latin typeface="Times New Roman"/>
              </a:rPr>
              <a:t>     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合理安排时间。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要在较短的时间内完成必须做的几件事，就要合理地安排时间，首先要理清要做几件事，做事的顺序是怎样的，然后制定工作程序，如果某几件事不可以同时进行的话，那么，按时间从少到多的顺序排列，可以使等待的时间最短，完成的时间最少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504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小明早上起床，烧开水用</a:t>
            </a:r>
            <a:r>
              <a:rPr lang="en-US" altLang="zh-CN" sz="4000" kern="100" dirty="0">
                <a:latin typeface="Times New Roman"/>
              </a:rPr>
              <a:t>10</a:t>
            </a:r>
            <a:r>
              <a:rPr lang="zh-CN" altLang="zh-CN" sz="4000" kern="100" dirty="0">
                <a:latin typeface="Times New Roman"/>
              </a:rPr>
              <a:t>分钟，吃早饭用</a:t>
            </a:r>
            <a:r>
              <a:rPr lang="en-US" altLang="zh-CN" sz="4000" kern="100" dirty="0">
                <a:latin typeface="Times New Roman"/>
              </a:rPr>
              <a:t>7</a:t>
            </a:r>
            <a:r>
              <a:rPr lang="zh-CN" altLang="zh-CN" sz="4000" kern="100" dirty="0">
                <a:latin typeface="Times New Roman"/>
              </a:rPr>
              <a:t>分钟，洗碗筷用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分钟，整理书包用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分钟，冲牛奶用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分钟，请你安排一下，用尽可能短的时间做完全部的事情。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由题意可知，小明起床要做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件事。烧开水时可以吃早饭，洗碗筷，整理书包，最后冲牛奶，这样可以得到完成这些事的工作程序：烧开水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分钟（同时吃早饭、洗碗筷、整理书包）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冲牛奶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分钟。一共用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10+1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（分钟）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答：小明要花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分钟才能尽快做完全部事情。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03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星期天妈妈出差，小雨只能自己做饭吃。烧水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分钟，淘米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分钟，电饭锅烧饭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分钟，把妈妈烧好的几个菜用微波炉热一下花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分钟，冲一碗汤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分钟，请问小雨最快过多长时间就可以吃了？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星期天老师来小丽家家访，妈妈让小丽给老师烧水泡咖啡，小丽要做的事：打开饮水机开关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秒，烧开水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分钟，洗咖啡杯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分钟，拿咖啡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分钟，加入糖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分钟，最快过多长时间可以让老师喝上咖啡？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小红早晨起床后，必须做完以下事情：叠被子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分钟、刷牙洗脸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分钟、读英语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分钟，吃饭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分钟，收碗筷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分钟，听</a:t>
            </a:r>
            <a:r>
              <a:rPr lang="en-US" altLang="zh-CN" kern="100" dirty="0">
                <a:latin typeface="Times New Roman"/>
              </a:rPr>
              <a:t>MP3</a:t>
            </a:r>
            <a:r>
              <a:rPr lang="zh-CN" altLang="zh-CN" kern="100" dirty="0">
                <a:latin typeface="Times New Roman"/>
              </a:rPr>
              <a:t>（带外放功能）里的小故事</a:t>
            </a:r>
            <a:r>
              <a:rPr lang="en-US" altLang="zh-CN" kern="100" dirty="0">
                <a:latin typeface="Times New Roman"/>
              </a:rPr>
              <a:t>20</a:t>
            </a:r>
            <a:r>
              <a:rPr lang="zh-CN" altLang="zh-CN" kern="100" dirty="0">
                <a:latin typeface="Times New Roman"/>
              </a:rPr>
              <a:t>分钟。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</a:t>
            </a:r>
            <a:r>
              <a:rPr lang="zh-CN" altLang="zh-CN" kern="100" dirty="0">
                <a:latin typeface="Times New Roman"/>
              </a:rPr>
              <a:t>请你帮她合理安排时间，用最少的时间完成以上事情。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737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在平底锅上煎鸡蛋，每次同时放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个，煎鸡蛋的时候，煎每一面要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分钟，现在要煎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个鸡蛋，至少一共要多少时间？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先同时煎两个鸡蛋的第一面，然后煎其中一个鸡蛋的第二面，同时煎第三个鸡蛋的第一面，最后同时煎剩下两个鸡蛋的第二面。一共煎了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次，每次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（分钟）。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解：至少一共要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分钟。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208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在平底锅上煎蛋，每次同时放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个，煎每一面要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分钟，现在要煎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个蛋，至少需要几分钟？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用一只锅煎饼，每次可以放两块饼，煎一块饼需要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分钟（正反面各需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分钟、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分钟），煎七块饼至少要几分钟？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两个漆工要给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块同样的木板的正、反面刷漆，每面需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分钟，怎样安排刷漆的时间最少？最少的时间是几分钟？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688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696744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赵、钱、孙三人同是去小餐馆吃饭，当时餐馆只有一位厨师。姓钱的吃水饺要等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分钟，姓赵的吃荷包蛋要等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分钟，姓孙的吃面要等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分钟，怎样安排使得三人等待时间总和最少？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要使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人等待的时间最少，可以把用的时间最少的放在最前面，当姓赵的等荷包蛋时，一共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人在等，即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（分钟）；当姓孙的等面条时，一共有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个人在等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（分钟）；当姓钱的在等水饺时，只要他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人等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分钟，这样安排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人等待的时间的总和是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6+10+6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（分钟）为最少。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解：等荷包蛋：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（分钟）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等面条：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（分钟）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等水饺：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（分钟）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等待时间的总和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6+10+6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（分钟）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答：所以，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分钟为最少。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787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王、张、李三人同时到小吃部吃早饭，姓王的要等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分钟，姓张的要等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分钟，姓李的要等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分钟，怎样安排，使得三人等待时间总和最少？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理发店来了三名顾客，甲理发、刮胡子不吹风，乙只刮胡子不理发，丙理发、吹风还刮胡子，店里只有一位理发师，请你安排一个合理的先后顺序使三人等待时间总和最少。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三位顾客一起到超市柜台结账，按他们买东西的多少，甲需要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分钟，乙需要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分钟，丙需要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分钟，他们花的总时间（包括等候时间）最少是多少？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267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264696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4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小君要去买</a:t>
            </a:r>
            <a:r>
              <a:rPr lang="en-US" altLang="zh-CN" sz="4000" kern="100" dirty="0">
                <a:latin typeface="Times New Roman"/>
              </a:rPr>
              <a:t>40</a:t>
            </a:r>
            <a:r>
              <a:rPr lang="zh-CN" altLang="zh-CN" sz="4000" kern="100" dirty="0">
                <a:latin typeface="Times New Roman"/>
              </a:rPr>
              <a:t>听饮料，有三种如下图，怎样买最</a:t>
            </a:r>
            <a:r>
              <a:rPr lang="zh-CN" altLang="zh-CN" sz="4000" kern="100" dirty="0" smtClean="0">
                <a:latin typeface="Times New Roman"/>
              </a:rPr>
              <a:t>便宜？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我们来比较一下，如果大箱中的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听饮料全部按零售价买要花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48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（元），按箱买就便宜了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元，小箱中的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听饮料按零售价买要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（元），按箱买就便宜了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元，因此，我们买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40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听时应该尽可能买大箱的，不能凑成大箱的就买小箱的，再买零售的。按“一大箱（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听）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一小箱（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10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听）</a:t>
            </a:r>
            <a:r>
              <a:rPr lang="en-US" altLang="zh-CN" kern="100" dirty="0">
                <a:solidFill>
                  <a:srgbClr val="FFC000"/>
                </a:solidFill>
                <a:latin typeface="Times New Roman"/>
              </a:rPr>
              <a:t>+6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听”购买。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40+18+2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40+18+12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70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（元）</a:t>
            </a:r>
            <a:endParaRPr lang="zh-CN" altLang="zh-CN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答：按一大箱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+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一小箱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+6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听来买最便宜，总价为</a:t>
            </a:r>
            <a:r>
              <a:rPr lang="en-US" altLang="zh-CN" sz="4000" kern="100" dirty="0">
                <a:solidFill>
                  <a:srgbClr val="FFC000"/>
                </a:solidFill>
                <a:latin typeface="Times New Roman"/>
              </a:rPr>
              <a:t>70</a:t>
            </a:r>
            <a:r>
              <a:rPr lang="zh-CN" altLang="zh-CN" sz="4000" kern="100" dirty="0">
                <a:solidFill>
                  <a:srgbClr val="FFC000"/>
                </a:solidFill>
                <a:latin typeface="Times New Roman"/>
              </a:rPr>
              <a:t>元。</a:t>
            </a:r>
            <a:endParaRPr lang="zh-CN" altLang="zh-CN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484784"/>
            <a:ext cx="477588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391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525344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有</a:t>
            </a:r>
            <a:r>
              <a:rPr lang="en-US" altLang="zh-CN" kern="100" dirty="0">
                <a:latin typeface="Times New Roman"/>
              </a:rPr>
              <a:t>60</a:t>
            </a:r>
            <a:r>
              <a:rPr lang="zh-CN" altLang="zh-CN" kern="100" dirty="0">
                <a:latin typeface="Times New Roman"/>
              </a:rPr>
              <a:t>个同学去划船，大船每条可坐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人，租金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元；小船每条可坐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人，租金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元。怎样租船最省钱？需要多少钱？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小齐帮妈妈去商店买茶叶，看到柜台里</a:t>
            </a:r>
            <a:r>
              <a:rPr lang="en-US" altLang="zh-CN" kern="100" dirty="0">
                <a:latin typeface="Times New Roman"/>
              </a:rPr>
              <a:t>200</a:t>
            </a:r>
            <a:r>
              <a:rPr lang="zh-CN" altLang="zh-CN" kern="100" dirty="0">
                <a:latin typeface="Times New Roman"/>
              </a:rPr>
              <a:t>克的茶叶一袋</a:t>
            </a:r>
            <a:r>
              <a:rPr lang="en-US" altLang="zh-CN" kern="100" dirty="0">
                <a:latin typeface="Times New Roman"/>
              </a:rPr>
              <a:t>24</a:t>
            </a:r>
            <a:r>
              <a:rPr lang="zh-CN" altLang="zh-CN" kern="100" dirty="0">
                <a:latin typeface="Times New Roman"/>
              </a:rPr>
              <a:t>元，</a:t>
            </a:r>
            <a:r>
              <a:rPr lang="en-US" altLang="zh-CN" kern="100" dirty="0">
                <a:latin typeface="Times New Roman"/>
              </a:rPr>
              <a:t>100</a:t>
            </a:r>
            <a:r>
              <a:rPr lang="zh-CN" altLang="zh-CN" kern="100" dirty="0">
                <a:latin typeface="Times New Roman"/>
              </a:rPr>
              <a:t>克的茶叶一袋</a:t>
            </a:r>
            <a:r>
              <a:rPr lang="en-US" altLang="zh-CN" kern="100" dirty="0">
                <a:latin typeface="Times New Roman"/>
              </a:rPr>
              <a:t>13</a:t>
            </a:r>
            <a:r>
              <a:rPr lang="zh-CN" altLang="zh-CN" kern="100" dirty="0">
                <a:latin typeface="Times New Roman"/>
              </a:rPr>
              <a:t>元，他要买</a:t>
            </a:r>
            <a:r>
              <a:rPr lang="en-US" altLang="zh-CN" kern="100" dirty="0">
                <a:latin typeface="Times New Roman"/>
              </a:rPr>
              <a:t>500</a:t>
            </a:r>
            <a:r>
              <a:rPr lang="zh-CN" altLang="zh-CN" kern="100" dirty="0">
                <a:latin typeface="Times New Roman"/>
              </a:rPr>
              <a:t>克这样的茶叶，怎样买最便宜？共需多少钱？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小丽、小华和小红三人去商店买本子，每个本子零售价是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元，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个一小包的售价为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元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角，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个一大包的售价为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元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角。三人每人要买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个本子，问怎样买最便宜？每人花多少块？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914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525344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小明已上初中了，他早上起来到上学要做几件事，怎样安排，可以在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小时内完成这些事呢？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 smtClean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 smtClean="0">
                <a:solidFill>
                  <a:srgbClr val="FFC000"/>
                </a:solidFill>
                <a:latin typeface="Times New Roman"/>
              </a:rPr>
              <a:t>思路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要想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小时内完成这些事，最主要是安排合理，在可能的情况下做这件事的同时还能做另一件事，这样就能节省时间。解答这题就要从整体考虑，再计算一下时间，就能解答问题了。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解：小明可以这样设计要做的事：先读英语或语文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分钟，然后听新闻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分钟，听新闻时，整理房间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分钟，刷牙洗脸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分钟，吃早饭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分钟，整理书包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分钟，共用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分钟。也可以先整理房间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分钟，再读英语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分钟，后听新闻广播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30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分钟，听新闻时刷牙洗脸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分钟，吃早饭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分钟，整理书包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分钟，共用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分钟……反正只要设计合理，不超时，都可以。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458112"/>
              </p:ext>
            </p:extLst>
          </p:nvPr>
        </p:nvGraphicFramePr>
        <p:xfrm>
          <a:off x="4644008" y="1412776"/>
          <a:ext cx="3915916" cy="136815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59202"/>
                <a:gridCol w="939424"/>
                <a:gridCol w="1067977"/>
                <a:gridCol w="949313"/>
              </a:tblGrid>
              <a:tr h="6840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吃早饭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8</a:t>
                      </a: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分钟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读英语、语文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20</a:t>
                      </a: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分钟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0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听新闻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30</a:t>
                      </a: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分钟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整理书包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2</a:t>
                      </a: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分钟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0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整理房间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宋体"/>
                          <a:ea typeface="宋体"/>
                        </a:rPr>
                        <a:t>5</a:t>
                      </a: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分钟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Times New Roman"/>
                          <a:ea typeface="宋体"/>
                        </a:rPr>
                        <a:t>刷牙洗脸</a:t>
                      </a:r>
                      <a:endParaRPr lang="zh-CN" sz="105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宋体"/>
                          <a:ea typeface="宋体"/>
                        </a:rPr>
                        <a:t>3</a:t>
                      </a:r>
                      <a:r>
                        <a:rPr lang="zh-CN" sz="1200" kern="100" dirty="0">
                          <a:effectLst/>
                          <a:latin typeface="Times New Roman"/>
                          <a:ea typeface="宋体"/>
                        </a:rPr>
                        <a:t>分钟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73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41978"/>
            <a:ext cx="7344816" cy="615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800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37</a:t>
            </a:r>
            <a:r>
              <a:rPr lang="zh-CN" altLang="zh-CN" sz="4400" b="1" kern="100" dirty="0">
                <a:latin typeface="Times New Roman"/>
              </a:rPr>
              <a:t>讲 寻找隐藏条件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小朋友，我们已经学过怎样解答两步计算的应用题，知道了在解答时，首先要弄清题意，仔细分析题中的数量关系，然后才能正确解答，这讲我们再来做这方面的练习。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要想顺利解答应用题，可以根据题中所给的条件和问题画出线段图，再进行认真分析，这样题中的数量关系可一目了然，从而找准隐藏条件，正确列式解答。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407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92688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小明每天看</a:t>
            </a:r>
            <a:r>
              <a:rPr lang="en-US" altLang="zh-CN" sz="4000" kern="100" dirty="0">
                <a:latin typeface="Times New Roman"/>
              </a:rPr>
              <a:t>8</a:t>
            </a:r>
            <a:r>
              <a:rPr lang="zh-CN" altLang="zh-CN" sz="4000" kern="100" dirty="0">
                <a:latin typeface="Times New Roman"/>
              </a:rPr>
              <a:t>页，看了</a:t>
            </a:r>
            <a:r>
              <a:rPr lang="en-US" altLang="zh-CN" sz="4000" kern="100" dirty="0">
                <a:latin typeface="Times New Roman"/>
              </a:rPr>
              <a:t>6</a:t>
            </a:r>
            <a:r>
              <a:rPr lang="zh-CN" altLang="zh-CN" sz="4000" kern="100" dirty="0">
                <a:latin typeface="Times New Roman"/>
              </a:rPr>
              <a:t>天后，还剩</a:t>
            </a:r>
            <a:r>
              <a:rPr lang="en-US" altLang="zh-CN" sz="4000" kern="100" dirty="0">
                <a:latin typeface="Times New Roman"/>
              </a:rPr>
              <a:t>24</a:t>
            </a:r>
            <a:r>
              <a:rPr lang="zh-CN" altLang="zh-CN" sz="4000" kern="100" dirty="0">
                <a:latin typeface="Times New Roman"/>
              </a:rPr>
              <a:t>页，这本书小明一共需要多少天才能看完？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根据小明每天看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页，看了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天，可以知道，已经看了：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（页），再根据已经看了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页，还剩下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页，又可以知道，这本书一共有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48+24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（页），最后再根据每天看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页，从而求出这本书小明一共要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（天）才能看完。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另外题中告诉我们已经看了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天，还剩下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页，那么，还要看几天才看完呢？根据“每天看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页，还剩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页”可以求出还要看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（天），从而求出一共需要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6+3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（天）。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6+24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或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24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8+6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48+24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8   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3+6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（天）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           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（天）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答：这本书小明一共需要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天才能看完。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490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修一条公路，工人叔叔每天修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米，修了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天，还剩</a:t>
            </a:r>
            <a:r>
              <a:rPr lang="en-US" altLang="zh-CN" kern="100" dirty="0">
                <a:latin typeface="Times New Roman"/>
              </a:rPr>
              <a:t>60</a:t>
            </a:r>
            <a:r>
              <a:rPr lang="zh-CN" altLang="zh-CN" kern="100" dirty="0">
                <a:latin typeface="Times New Roman"/>
              </a:rPr>
              <a:t>米没修，这条路一共需几天才能修完？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一堆煤，每次运走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吨，运了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次后还剩</a:t>
            </a:r>
            <a:r>
              <a:rPr lang="en-US" altLang="zh-CN" kern="100" dirty="0">
                <a:latin typeface="Times New Roman"/>
              </a:rPr>
              <a:t>42</a:t>
            </a:r>
            <a:r>
              <a:rPr lang="zh-CN" altLang="zh-CN" kern="100" dirty="0">
                <a:latin typeface="Times New Roman"/>
              </a:rPr>
              <a:t>吨，运完这堆煤，一共要多少次？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灰太狼看《狼族历史》这本书，计划每天看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页，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天看完，他实际每天多看了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页，灰太狼看完这本书实际用了多少天？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099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480720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仓库里有一些水泥，第一天用去一半，第二用去剩下的一半，结果还剩</a:t>
            </a:r>
            <a:r>
              <a:rPr lang="en-US" altLang="zh-CN" sz="4000" kern="100" dirty="0">
                <a:latin typeface="Times New Roman"/>
              </a:rPr>
              <a:t>18</a:t>
            </a:r>
            <a:r>
              <a:rPr lang="zh-CN" altLang="zh-CN" sz="4000" kern="100" dirty="0">
                <a:latin typeface="Times New Roman"/>
              </a:rPr>
              <a:t>包。仓库里原来有多少包水泥？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根据题意画出线段图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从线段图中，可清楚地看出，最终剩下的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包是第一天用去后剩下的一半，如果第二天没用则应有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（包），这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包就是总数的一半，仓库里原来有的就是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（包）。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18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36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×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indent="1524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72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（包）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答：仓库里原来有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72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包水泥。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000" b="1" kern="100" dirty="0">
                <a:solidFill>
                  <a:srgbClr val="FFC000"/>
                </a:solidFill>
                <a:latin typeface="宋体"/>
              </a:rPr>
              <a:t>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556792"/>
            <a:ext cx="4283000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9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一瓶苹果汁，小冬第一次喝去半瓶，第二次又喝去剩下的一半，结果还剩下</a:t>
            </a:r>
            <a:r>
              <a:rPr lang="en-US" altLang="zh-CN" kern="100" dirty="0">
                <a:latin typeface="Times New Roman"/>
              </a:rPr>
              <a:t>250</a:t>
            </a:r>
            <a:r>
              <a:rPr lang="zh-CN" altLang="zh-CN" kern="100" dirty="0">
                <a:latin typeface="Times New Roman"/>
              </a:rPr>
              <a:t>毫升，这瓶苹果汁原来有多少毫升？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一筐鲜鱼，先卖出鲜鱼的一半，再卖出剩下的一半，这时还有鲜鱼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千克，原来这筐鲜鱼重多少千克？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小明看一本书，第一天看了总数的一样，第二天看了剩下的一半，还有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页第三天正好全部看完。请你算出这本书一共有多少页？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499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48072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二（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）班共有</a:t>
            </a:r>
            <a:r>
              <a:rPr lang="en-US" altLang="zh-CN" sz="4000" kern="100" dirty="0">
                <a:latin typeface="Times New Roman"/>
              </a:rPr>
              <a:t>45</a:t>
            </a:r>
            <a:r>
              <a:rPr lang="zh-CN" altLang="zh-CN" sz="4000" kern="100" dirty="0">
                <a:latin typeface="Times New Roman"/>
              </a:rPr>
              <a:t>名同学，男生比女生多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名，女生有多少名？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从右图中可以看出，假如男生少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名就和女生同样多，那么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女生和男生的总数也就是减少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名，就是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（名），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42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名里男生和女生同样多，把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平均分成两份，其中的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一份就是女生的人数。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45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）÷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（名）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答：女生有</a:t>
            </a:r>
            <a:r>
              <a:rPr lang="en-US" altLang="zh-CN" sz="4000" b="1" kern="100" dirty="0">
                <a:solidFill>
                  <a:srgbClr val="FFC000"/>
                </a:solidFill>
                <a:latin typeface="Times New Roman"/>
              </a:rPr>
              <a:t>21</a:t>
            </a: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名。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844824"/>
            <a:ext cx="3367433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439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3</a:t>
            </a:r>
            <a:endParaRPr lang="zh-CN" altLang="zh-CN" sz="2400" kern="100" dirty="0">
              <a:latin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kern="100" dirty="0">
                <a:latin typeface="Times New Roman"/>
              </a:rPr>
              <a:t>动物园里有大猴子和小猴子共</a:t>
            </a:r>
            <a:r>
              <a:rPr lang="en-US" altLang="zh-CN" kern="100" dirty="0">
                <a:latin typeface="Times New Roman"/>
              </a:rPr>
              <a:t>30</a:t>
            </a:r>
            <a:r>
              <a:rPr lang="zh-CN" altLang="zh-CN" kern="100" dirty="0">
                <a:latin typeface="Times New Roman"/>
              </a:rPr>
              <a:t>只，小猴子比大猴子多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只，动物园有大猴子多少只？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小华家有</a:t>
            </a:r>
            <a:r>
              <a:rPr lang="en-US" altLang="zh-CN" kern="100" dirty="0">
                <a:latin typeface="Times New Roman"/>
              </a:rPr>
              <a:t>36</a:t>
            </a:r>
            <a:r>
              <a:rPr lang="zh-CN" altLang="zh-CN" kern="100" dirty="0">
                <a:latin typeface="Times New Roman"/>
              </a:rPr>
              <a:t>只鸡，母鸡比公鸡多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只，小华家养公鸡几只？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公园有桃树和梅花树共</a:t>
            </a:r>
            <a:r>
              <a:rPr lang="en-US" altLang="zh-CN" kern="100" dirty="0">
                <a:latin typeface="Times New Roman"/>
              </a:rPr>
              <a:t>80</a:t>
            </a:r>
            <a:r>
              <a:rPr lang="zh-CN" altLang="zh-CN" kern="100" dirty="0">
                <a:latin typeface="Times New Roman"/>
              </a:rPr>
              <a:t>棵，桃树比梅花树多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棵，桃树有多少棵？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344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40871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瓶里装着一些油，把油加到原来的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倍，称重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千克，把油加到原来的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倍时，再称重</a:t>
            </a:r>
            <a:r>
              <a:rPr lang="en-US" altLang="zh-CN" kern="100" dirty="0">
                <a:latin typeface="Times New Roman"/>
              </a:rPr>
              <a:t>9</a:t>
            </a:r>
            <a:r>
              <a:rPr lang="zh-CN" altLang="zh-CN" kern="100" dirty="0">
                <a:latin typeface="Times New Roman"/>
              </a:rPr>
              <a:t>千克，问原来有油多少千克？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从图中可以看出瓶重加原来油的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倍是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千克，瓶重加原来油的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倍是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千克，由此可知原来油的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倍就是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（千克），那么原来的油就是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（千克）。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C000"/>
                </a:solidFill>
                <a:latin typeface="宋体"/>
              </a:rPr>
              <a:t> 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9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）÷（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－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（千克）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答：原来有油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千克。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996952"/>
            <a:ext cx="4701838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024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4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玻璃瓶里装着一些水，把水加到原来的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倍，称重</a:t>
            </a:r>
            <a:r>
              <a:rPr lang="en-US" altLang="zh-CN" kern="100" dirty="0">
                <a:latin typeface="Times New Roman"/>
              </a:rPr>
              <a:t>10</a:t>
            </a:r>
            <a:r>
              <a:rPr lang="zh-CN" altLang="zh-CN" kern="100" dirty="0">
                <a:latin typeface="Times New Roman"/>
              </a:rPr>
              <a:t>千克，把水加到原来的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倍，称重</a:t>
            </a:r>
            <a:r>
              <a:rPr lang="en-US" altLang="zh-CN" kern="100" dirty="0">
                <a:latin typeface="Times New Roman"/>
              </a:rPr>
              <a:t>14</a:t>
            </a:r>
            <a:r>
              <a:rPr lang="zh-CN" altLang="zh-CN" kern="100" dirty="0">
                <a:latin typeface="Times New Roman"/>
              </a:rPr>
              <a:t>千克，问原来有水多少千克？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杯里有一些果汁，把果汁加到原来的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倍是</a:t>
            </a:r>
            <a:r>
              <a:rPr lang="en-US" altLang="zh-CN" kern="100" dirty="0">
                <a:latin typeface="Times New Roman"/>
              </a:rPr>
              <a:t>150</a:t>
            </a:r>
            <a:r>
              <a:rPr lang="zh-CN" altLang="zh-CN" kern="100" dirty="0">
                <a:latin typeface="Times New Roman"/>
              </a:rPr>
              <a:t>毫升，加到原来的</a:t>
            </a:r>
            <a:r>
              <a:rPr lang="en-US" altLang="zh-CN" kern="100" dirty="0">
                <a:latin typeface="Times New Roman"/>
              </a:rPr>
              <a:t>8</a:t>
            </a:r>
            <a:r>
              <a:rPr lang="zh-CN" altLang="zh-CN" kern="100" dirty="0">
                <a:latin typeface="Times New Roman"/>
              </a:rPr>
              <a:t>倍是</a:t>
            </a:r>
            <a:r>
              <a:rPr lang="en-US" altLang="zh-CN" kern="100" dirty="0">
                <a:latin typeface="Times New Roman"/>
              </a:rPr>
              <a:t>240</a:t>
            </a:r>
            <a:r>
              <a:rPr lang="zh-CN" altLang="zh-CN" kern="100" dirty="0">
                <a:latin typeface="Times New Roman"/>
              </a:rPr>
              <a:t>毫升，问杯里原有果汁多少毫升？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一杯牛奶，小明喝了半杯后用水加满，又喝了半杯再加满水，最后全部喝完，小明喝的牛奶多还是喝的水多？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508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48072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美羊羊做了</a:t>
            </a:r>
            <a:r>
              <a:rPr lang="en-US" altLang="zh-CN" kern="100" dirty="0">
                <a:latin typeface="Times New Roman"/>
              </a:rPr>
              <a:t>15</a:t>
            </a:r>
            <a:r>
              <a:rPr lang="zh-CN" altLang="zh-CN" kern="100" dirty="0">
                <a:latin typeface="Times New Roman"/>
              </a:rPr>
              <a:t>朵小红花，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朵小蓝花，两种花的总数恰好是小粉花的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倍，美羊羊做了多少朵小粉花？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由于小红花和小蓝花的总数恰好是小粉花的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倍，先求出小红花和小蓝花的朵数和，就可以求出小粉花的朵数。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15+6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（朵）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   21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÷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＝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（朵）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答：美羊羊做了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7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朵小粉花。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37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0"/>
            <a:ext cx="8229600" cy="6741367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水果店一天共卖出</a:t>
            </a:r>
            <a:r>
              <a:rPr lang="en-US" altLang="zh-CN" kern="100" dirty="0">
                <a:latin typeface="Times New Roman"/>
              </a:rPr>
              <a:t>29</a:t>
            </a:r>
            <a:r>
              <a:rPr lang="zh-CN" altLang="zh-CN" kern="100" dirty="0">
                <a:latin typeface="Times New Roman"/>
              </a:rPr>
              <a:t>千克苹果，</a:t>
            </a:r>
            <a:r>
              <a:rPr lang="en-US" altLang="zh-CN" kern="100" dirty="0">
                <a:latin typeface="Times New Roman"/>
              </a:rPr>
              <a:t>34</a:t>
            </a:r>
            <a:r>
              <a:rPr lang="zh-CN" altLang="zh-CN" kern="100" dirty="0">
                <a:latin typeface="Times New Roman"/>
              </a:rPr>
              <a:t>千克橘子，两种水果总销量正好是香蕉销量的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倍，这天卖出了多少千克香蕉？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乐乐有</a:t>
            </a:r>
            <a:r>
              <a:rPr lang="en-US" altLang="zh-CN" kern="100" dirty="0">
                <a:latin typeface="Times New Roman"/>
              </a:rPr>
              <a:t>17</a:t>
            </a:r>
            <a:r>
              <a:rPr lang="zh-CN" altLang="zh-CN" kern="100" dirty="0">
                <a:latin typeface="Times New Roman"/>
              </a:rPr>
              <a:t>本课外书，亮亮有</a:t>
            </a:r>
            <a:r>
              <a:rPr lang="en-US" altLang="zh-CN" kern="100" dirty="0">
                <a:latin typeface="Times New Roman"/>
              </a:rPr>
              <a:t>23</a:t>
            </a:r>
            <a:r>
              <a:rPr lang="zh-CN" altLang="zh-CN" kern="100" dirty="0">
                <a:latin typeface="Times New Roman"/>
              </a:rPr>
              <a:t>本课外书，两人课外书的总数正好是毛毛课外书本数的</a:t>
            </a:r>
            <a:r>
              <a:rPr lang="en-US" altLang="zh-CN" kern="100" dirty="0">
                <a:latin typeface="Times New Roman"/>
              </a:rPr>
              <a:t>5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倍，毛毛有几本课外书？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二（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）班喜欢看《开心超人》的小朋友有</a:t>
            </a:r>
            <a:r>
              <a:rPr lang="en-US" altLang="zh-CN" kern="100" dirty="0">
                <a:latin typeface="Times New Roman"/>
              </a:rPr>
              <a:t>7</a:t>
            </a:r>
            <a:r>
              <a:rPr lang="zh-CN" altLang="zh-CN" kern="100" dirty="0">
                <a:latin typeface="Times New Roman"/>
              </a:rPr>
              <a:t>人，喜欢看《大耳朵图图》的有</a:t>
            </a:r>
            <a:r>
              <a:rPr lang="en-US" altLang="zh-CN" kern="100" dirty="0">
                <a:latin typeface="Times New Roman"/>
              </a:rPr>
              <a:t>13</a:t>
            </a:r>
            <a:r>
              <a:rPr lang="zh-CN" altLang="zh-CN" kern="100" dirty="0">
                <a:latin typeface="Times New Roman"/>
              </a:rPr>
              <a:t>人，喜欢看《喜羊羊与灰太狼》的小朋友是喜欢看《开心超人》和喜欢看《大耳朵图图》的总人数的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倍，喜欢看《喜羊羊与灰太狼》的小朋友有多少人？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294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>
              <a:spcAft>
                <a:spcPts val="0"/>
              </a:spcAft>
            </a:pPr>
            <a:r>
              <a:rPr lang="zh-CN" altLang="zh-CN" sz="4400" b="1" kern="100" dirty="0">
                <a:latin typeface="Times New Roman"/>
              </a:rPr>
              <a:t>第</a:t>
            </a:r>
            <a:r>
              <a:rPr lang="en-US" altLang="zh-CN" sz="4400" b="1" kern="100" dirty="0">
                <a:latin typeface="Times New Roman"/>
              </a:rPr>
              <a:t>38</a:t>
            </a:r>
            <a:r>
              <a:rPr lang="zh-CN" altLang="zh-CN" sz="4400" b="1" kern="100" dirty="0">
                <a:latin typeface="Times New Roman"/>
              </a:rPr>
              <a:t>讲 简单推理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【专题简析】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生活中我们经常碰到这样的情况：甲比乙长得高，乙比丙长得高，你知道他们谁最高吗？像这样根据一些已经知道的事实，推断出某些结果，就是推理。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C000"/>
                </a:solidFill>
                <a:latin typeface="宋体"/>
              </a:rPr>
              <a:t> </a:t>
            </a:r>
            <a:r>
              <a:rPr lang="zh-CN" altLang="zh-CN" kern="100" dirty="0">
                <a:solidFill>
                  <a:srgbClr val="FFC000"/>
                </a:solidFill>
                <a:latin typeface="Times New Roman"/>
              </a:rPr>
              <a:t>推理时，要充分利用题中已知条件和已经推断出的结论作为条件，逐一推进，最终作出正确的判断。得到结论后，还要把结论带到原题中检验，没有矛盾，说明推理正确。</a:t>
            </a:r>
            <a:endParaRPr lang="zh-CN" altLang="zh-CN" sz="2400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950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桌子上有三盘苹果，小猫说：“第一盘比第三盘多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个。”小狗说：“第三盘比第二盘少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个。”猜一猜，哪盘苹果最多？哪盘苹果最少？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根据小狗说的“第三盘比第二盘少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只”，可知第二盘比第三盘多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只，再根据小猫说的“第一盘比第三盘多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只”，可知第一盘、第二盘都比第三盘多，也就是第三盘最少，再想：第一盘比第三盘多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只，第二盘比第一盘多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只，就知道第二盘的苹果最多，第三盘苹果最少。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解：第二盘苹果最多，第三盘苹果最少。 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70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1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三个小朋友比大小，根据下面两句话，请你猜一猜，谁最大？谁最小？（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）芳芳比阳阳大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岁；（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）宁宁比芳芳小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岁。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桌子上放着橘子、苹果和香蕉，苹果比橘子多</a:t>
            </a:r>
            <a:r>
              <a:rPr lang="en-US" altLang="zh-CN" kern="100" dirty="0">
                <a:latin typeface="Times New Roman"/>
              </a:rPr>
              <a:t>2</a:t>
            </a:r>
            <a:r>
              <a:rPr lang="zh-CN" altLang="zh-CN" kern="100" dirty="0">
                <a:latin typeface="Times New Roman"/>
              </a:rPr>
              <a:t>个，橘子比香蕉少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个。猜一猜，哪种水果最多？哪种水果最少？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有一个三层的书架，第一层比第二层多</a:t>
            </a:r>
            <a:r>
              <a:rPr lang="en-US" altLang="zh-CN" kern="100" dirty="0">
                <a:latin typeface="Times New Roman"/>
              </a:rPr>
              <a:t>5</a:t>
            </a:r>
            <a:r>
              <a:rPr lang="zh-CN" altLang="zh-CN" kern="100" dirty="0">
                <a:latin typeface="Times New Roman"/>
              </a:rPr>
              <a:t>本书，如果从第一层取</a:t>
            </a:r>
            <a:r>
              <a:rPr lang="en-US" altLang="zh-CN" kern="100" dirty="0">
                <a:latin typeface="Times New Roman"/>
              </a:rPr>
              <a:t>3</a:t>
            </a:r>
            <a:r>
              <a:rPr lang="zh-CN" altLang="zh-CN" kern="100" dirty="0">
                <a:latin typeface="Times New Roman"/>
              </a:rPr>
              <a:t>本放到第三层，那么第一层就和第三层一样多。猜一猜，哪一层放书最多？哪一层放书最少？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43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6192688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王、徐、刘三人中，一位是工人，一位是教师，一们是农民。已知（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）王比教师的体重重；（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）刘和教师体重不同；（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）王和农民是朋友，你能猜出王、徐、刘三人中谁是工人，谁是农民，谁是教师吗？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解答这类问题时可以画一张表按条件逐项推理，得出三人各是什么工作，根据（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）可知王不是教师；根据（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）可知刘不是教师，只有徐是教师，是的打“√”不是打“×”，根据（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）可知王不是农民，也不是教师，一定是工人，由此，可推出刘一定是农民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。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解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：王是工人，刘是农民，徐是教师。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b="1" dirty="0">
              <a:solidFill>
                <a:srgbClr val="FFC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316550"/>
              </p:ext>
            </p:extLst>
          </p:nvPr>
        </p:nvGraphicFramePr>
        <p:xfrm>
          <a:off x="5148064" y="4509120"/>
          <a:ext cx="3384375" cy="165618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94292"/>
                <a:gridCol w="863361"/>
                <a:gridCol w="863361"/>
                <a:gridCol w="863361"/>
              </a:tblGrid>
              <a:tr h="3734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105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工人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农民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教师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√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√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75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/>
                          <a:ea typeface="宋体"/>
                        </a:rPr>
                        <a:t>√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/>
                          <a:ea typeface="宋体"/>
                        </a:rPr>
                        <a:t>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0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练习</a:t>
            </a:r>
            <a:r>
              <a:rPr lang="en-US" altLang="zh-CN" kern="100" dirty="0">
                <a:latin typeface="Times New Roman"/>
              </a:rPr>
              <a:t>2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1.</a:t>
            </a:r>
            <a:r>
              <a:rPr lang="zh-CN" altLang="zh-CN" kern="100" dirty="0">
                <a:latin typeface="Times New Roman"/>
              </a:rPr>
              <a:t>二年级举行数学竞赛，王菲、周勇、李明取得了前三名，已知王菲不是第一名，李明不是第一名也不是第二名，请排出三人的名次。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2.</a:t>
            </a:r>
            <a:r>
              <a:rPr lang="zh-CN" altLang="zh-CN" kern="100" dirty="0">
                <a:latin typeface="Times New Roman"/>
              </a:rPr>
              <a:t>娟娟、卉卉、婷婷、佳佳四人画鸡，第人画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只，有黑公鸡、白公鸡、黑母鸡、白母鸡，又知：卉卉和娟娟的鸡都是黑色的，婷婷和娟娟画的都是母鸡，问：白公鸡是谁画的？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3.</a:t>
            </a:r>
            <a:r>
              <a:rPr lang="zh-CN" altLang="zh-CN" kern="100" dirty="0">
                <a:latin typeface="Times New Roman"/>
              </a:rPr>
              <a:t>张、王、李三位老师都在某校任教，他们各教音乐、体育、美术中的一门。张老师不教美术，李老师不会画画，也不会唱歌，你能说出三位老师各任教什么课程吗？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63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4624"/>
            <a:ext cx="8229600" cy="6081539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3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密西西岛上住着说真话和说假话的两种人，说假话的句句是假话，说真话的句句是真话。有一天，飞飞去岛上探险，碰到甲、乙、丙三个人，互相交谈中，有一段对话：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甲说：“乙和丙都说假话。”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乙说：“我没有说假话。”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丙说：“乙在说假话。”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小朋友，你知道他们中有几个说了假话？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由于乙和丙说的话正好相反，其在一人一定说了假话，另一个肯定说了真话。由此可分析出甲说的是真话还是假话。根据乙说：“我没有说假话”，如果他说的是真话，则丙和甲说的都是假话，则有两人说了假话，同理，如果乙说了假话，则丙说的是真话，甲说的也是假话，则也有两人说了假话，从以上两种情况可知，三人中必定有两人说了假话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解：他们中有两个人说了假话。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931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Times New Roman"/>
              </a:rPr>
              <a:t>练习</a:t>
            </a:r>
            <a:r>
              <a:rPr lang="en-US" altLang="zh-CN" sz="1200" kern="100" dirty="0">
                <a:latin typeface="Times New Roman"/>
              </a:rPr>
              <a:t>3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1.</a:t>
            </a:r>
            <a:r>
              <a:rPr lang="zh-CN" altLang="zh-CN" sz="1200" kern="100" dirty="0">
                <a:latin typeface="Times New Roman"/>
              </a:rPr>
              <a:t>甲、乙、丙三人中有一位做了一件好事，为了弄明白到底是谁做的好事，老师询问了他们三人，他们的回答如下：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Times New Roman"/>
              </a:rPr>
              <a:t>甲说：“我没做这件事，乙也没有做。”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Times New Roman"/>
              </a:rPr>
              <a:t>乙说：“我没做这件事，丙也没有做。”</a:t>
            </a:r>
            <a:r>
              <a:rPr lang="en-US" altLang="zh-CN" sz="1200" kern="100" dirty="0">
                <a:latin typeface="Times New Roman"/>
              </a:rPr>
              <a:t> 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Times New Roman"/>
              </a:rPr>
              <a:t>丙说：“我没做这件事，也不知道是谁做的。”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Times New Roman"/>
              </a:rPr>
              <a:t>在老师的两三追问下，他们承认，每人说的都有半句是真话，半句是假话，小朋友，你能帮老师找出是谁做的好事吗？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 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 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 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2.</a:t>
            </a:r>
            <a:r>
              <a:rPr lang="zh-CN" altLang="zh-CN" sz="1200" kern="100" dirty="0">
                <a:latin typeface="Times New Roman"/>
              </a:rPr>
              <a:t>甲、乙、丙三人中有一人做了一件好事，他们各自都说了一句话，而且其中只有一句真话。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1200" kern="100" dirty="0">
                <a:latin typeface="Times New Roman"/>
              </a:rPr>
              <a:t>甲说：是乙做的。乙说：不是我做的。丙说：也不是我做的。问：到底是谁做的好事？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 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 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 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 </a:t>
            </a:r>
            <a:endParaRPr lang="zh-CN" altLang="zh-CN" sz="12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3.</a:t>
            </a:r>
            <a:r>
              <a:rPr lang="zh-CN" altLang="zh-CN" sz="1200" kern="100" dirty="0">
                <a:latin typeface="Times New Roman"/>
              </a:rPr>
              <a:t>一个院里住着四户人家，老张、小张、小王、老王，每家都有一个小孩，他们的名字是方方、圆圆、大伟和王英，只知道：（</a:t>
            </a:r>
            <a:r>
              <a:rPr lang="en-US" altLang="zh-CN" sz="1200" kern="100" dirty="0">
                <a:latin typeface="Times New Roman"/>
              </a:rPr>
              <a:t>1</a:t>
            </a:r>
            <a:r>
              <a:rPr lang="zh-CN" altLang="zh-CN" sz="1200" kern="100" dirty="0">
                <a:latin typeface="Times New Roman"/>
              </a:rPr>
              <a:t>）王英不是小王家的；（</a:t>
            </a:r>
            <a:r>
              <a:rPr lang="en-US" altLang="zh-CN" sz="1200" kern="100" dirty="0">
                <a:latin typeface="Times New Roman"/>
              </a:rPr>
              <a:t>2</a:t>
            </a:r>
            <a:r>
              <a:rPr lang="zh-CN" altLang="zh-CN" sz="1200" kern="100" dirty="0">
                <a:latin typeface="Times New Roman"/>
              </a:rPr>
              <a:t>）方方的爸爸不是老张；（</a:t>
            </a:r>
            <a:r>
              <a:rPr lang="en-US" altLang="zh-CN" sz="1200" kern="100" dirty="0">
                <a:latin typeface="Times New Roman"/>
              </a:rPr>
              <a:t>3</a:t>
            </a:r>
            <a:r>
              <a:rPr lang="zh-CN" altLang="zh-CN" sz="1200" kern="100" dirty="0">
                <a:latin typeface="Times New Roman"/>
              </a:rPr>
              <a:t>）圆圆的爸爸姓王。请问：哪两个人是一家？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1200" kern="100" dirty="0">
                <a:latin typeface="宋体"/>
              </a:rPr>
              <a:t> </a:t>
            </a:r>
            <a:endParaRPr lang="zh-CN" altLang="zh-CN" sz="1200" kern="100" dirty="0">
              <a:latin typeface="Times New Roman"/>
            </a:endParaRP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7824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【例题</a:t>
            </a:r>
            <a:r>
              <a:rPr lang="en-US" altLang="zh-CN" kern="100" dirty="0">
                <a:latin typeface="Times New Roman"/>
              </a:rPr>
              <a:t>4</a:t>
            </a:r>
            <a:r>
              <a:rPr lang="zh-CN" altLang="zh-CN" kern="100" dirty="0">
                <a:latin typeface="Times New Roman"/>
              </a:rPr>
              <a:t>】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/>
              </a:rPr>
              <a:t>有一个正方体，每个面上分别写上数字</a:t>
            </a:r>
            <a:r>
              <a:rPr lang="en-US" altLang="zh-CN" kern="100" dirty="0">
                <a:latin typeface="Times New Roman"/>
              </a:rPr>
              <a:t>1</a:t>
            </a:r>
            <a:r>
              <a:rPr lang="zh-CN" altLang="zh-CN" kern="100" dirty="0">
                <a:latin typeface="Times New Roman"/>
              </a:rPr>
              <a:t>～</a:t>
            </a:r>
            <a:r>
              <a:rPr lang="en-US" altLang="zh-CN" kern="100" dirty="0">
                <a:latin typeface="Times New Roman"/>
              </a:rPr>
              <a:t>6</a:t>
            </a:r>
            <a:r>
              <a:rPr lang="zh-CN" altLang="zh-CN" kern="100" dirty="0">
                <a:latin typeface="Times New Roman"/>
              </a:rPr>
              <a:t>，有人从不同的角度观察到如下情况。问这个正方体相对的两个面上的数字各是几？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            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思路导航：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）看，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的对面不是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   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由此可以得出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）看，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的对面不是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1    6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）看，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的对面不是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   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由此可以得出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）看，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的对面不是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2    3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）看，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的对面不是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6    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由此可以得出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从图（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）看，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的对面不是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3    1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的对面是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sz="2400" b="1" kern="100" dirty="0">
                <a:solidFill>
                  <a:srgbClr val="FFC000"/>
                </a:solidFill>
                <a:latin typeface="Times New Roman"/>
              </a:rPr>
              <a:t>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解：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6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的对面是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的对面是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4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；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的对面是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5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。</a:t>
            </a:r>
            <a:endParaRPr lang="zh-CN" altLang="zh-CN" sz="2400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557338"/>
            <a:ext cx="4494673" cy="1439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429000"/>
            <a:ext cx="1428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517" y="4036277"/>
            <a:ext cx="1428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116" y="4581128"/>
            <a:ext cx="1428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580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0350"/>
            <a:ext cx="7344816" cy="6419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11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【例题</a:t>
            </a:r>
            <a:r>
              <a:rPr lang="en-US" altLang="zh-CN" sz="4000" kern="100" dirty="0">
                <a:latin typeface="Times New Roman"/>
              </a:rPr>
              <a:t>5</a:t>
            </a:r>
            <a:r>
              <a:rPr lang="zh-CN" altLang="zh-CN" sz="4000" kern="100" dirty="0">
                <a:latin typeface="Times New Roman"/>
              </a:rPr>
              <a:t>】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kern="100" dirty="0">
                <a:latin typeface="Times New Roman"/>
              </a:rPr>
              <a:t>甲、乙、丙三位同学下棋比赛，已知甲赛了</a:t>
            </a:r>
            <a:r>
              <a:rPr lang="en-US" altLang="zh-CN" sz="4000" kern="100" dirty="0">
                <a:latin typeface="Times New Roman"/>
              </a:rPr>
              <a:t>2</a:t>
            </a:r>
            <a:r>
              <a:rPr lang="zh-CN" altLang="zh-CN" sz="4000" kern="100" dirty="0">
                <a:latin typeface="Times New Roman"/>
              </a:rPr>
              <a:t>盘，乙赛了</a:t>
            </a:r>
            <a:r>
              <a:rPr lang="en-US" altLang="zh-CN" sz="4000" kern="100" dirty="0">
                <a:latin typeface="Times New Roman"/>
              </a:rPr>
              <a:t>1</a:t>
            </a:r>
            <a:r>
              <a:rPr lang="zh-CN" altLang="zh-CN" sz="4000" kern="100" dirty="0">
                <a:latin typeface="Times New Roman"/>
              </a:rPr>
              <a:t>盘，那么此时丙赛了几盘？</a:t>
            </a:r>
            <a:endParaRPr lang="zh-CN" altLang="zh-CN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思路导航</a:t>
            </a:r>
            <a:r>
              <a:rPr lang="zh-CN" altLang="zh-CN" b="1" kern="100" dirty="0" smtClean="0">
                <a:solidFill>
                  <a:srgbClr val="FFC000"/>
                </a:solidFill>
                <a:latin typeface="Times New Roman"/>
              </a:rPr>
              <a:t>：</a:t>
            </a:r>
            <a:endParaRPr lang="en-US" altLang="zh-CN" b="1" kern="100" dirty="0" smtClean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b="1" kern="100" dirty="0">
              <a:solidFill>
                <a:srgbClr val="FFC000"/>
              </a:solidFill>
              <a:latin typeface="Times New Roman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对这样的比赛问题，我们可以用线段图来分析，用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个点表示甲、乙、丙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3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位同学，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用两点之间连的线段表示两人赛过，有几条连线，就表示赛了几场，根据题意：“甲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赛了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盘，乙赛了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盘”作图，由图可以知道，甲与乙，甲与丙各赛了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盘，共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2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盘，而乙与甲赛了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盘，不能再和丙连线，否则不符合题意，此时这种状况下，丙与甲有连线，与乙无连线，说明丙与甲赛了</a:t>
            </a:r>
            <a:r>
              <a:rPr lang="en-US" altLang="zh-CN" b="1" kern="100" dirty="0">
                <a:solidFill>
                  <a:srgbClr val="FFC000"/>
                </a:solidFill>
                <a:latin typeface="Times New Roman"/>
              </a:rPr>
              <a:t>1</a:t>
            </a:r>
            <a:r>
              <a:rPr lang="zh-CN" altLang="zh-CN" b="1" kern="100" dirty="0">
                <a:solidFill>
                  <a:srgbClr val="FFC000"/>
                </a:solidFill>
                <a:latin typeface="Times New Roman"/>
              </a:rPr>
              <a:t>盘。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000" b="1" kern="100" dirty="0">
                <a:solidFill>
                  <a:srgbClr val="FFC000"/>
                </a:solidFill>
                <a:latin typeface="Times New Roman"/>
              </a:rPr>
              <a:t>解：丙只赛了一盘。</a:t>
            </a:r>
            <a:endParaRPr lang="zh-CN" altLang="zh-CN" b="1" kern="100" dirty="0">
              <a:solidFill>
                <a:srgbClr val="FFC000"/>
              </a:solidFill>
              <a:latin typeface="Times New Roman"/>
            </a:endParaRPr>
          </a:p>
          <a:p>
            <a:endParaRPr lang="zh-CN" altLang="en-US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628800"/>
            <a:ext cx="172402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55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800" kern="100" dirty="0">
                <a:latin typeface="Times New Roman"/>
              </a:rPr>
              <a:t>练习</a:t>
            </a:r>
            <a:r>
              <a:rPr lang="en-US" altLang="zh-CN" sz="4800" kern="100" dirty="0">
                <a:latin typeface="Times New Roman"/>
              </a:rPr>
              <a:t>5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1.</a:t>
            </a:r>
            <a:r>
              <a:rPr lang="zh-CN" altLang="zh-CN" sz="4800" kern="100" dirty="0">
                <a:latin typeface="Times New Roman"/>
              </a:rPr>
              <a:t>二年级三个班进行象棋比赛，每个班推选一名代表参加。三名代表的名字分别是小红、小明、小军。第一盘比赛由小红对二（</a:t>
            </a:r>
            <a:r>
              <a:rPr lang="en-US" altLang="zh-CN" sz="4800" kern="100" dirty="0">
                <a:latin typeface="Times New Roman"/>
              </a:rPr>
              <a:t>1</a:t>
            </a:r>
            <a:r>
              <a:rPr lang="zh-CN" altLang="zh-CN" sz="4800" kern="100" dirty="0">
                <a:latin typeface="Times New Roman"/>
              </a:rPr>
              <a:t>）班的代表，第二盘的比赛由小明对二（</a:t>
            </a:r>
            <a:r>
              <a:rPr lang="en-US" altLang="zh-CN" sz="4800" kern="100" dirty="0">
                <a:latin typeface="Times New Roman"/>
              </a:rPr>
              <a:t>3</a:t>
            </a:r>
            <a:r>
              <a:rPr lang="zh-CN" altLang="zh-CN" sz="4800" kern="100" dirty="0">
                <a:latin typeface="Times New Roman"/>
              </a:rPr>
              <a:t>）班的代表，小红休息。二（</a:t>
            </a:r>
            <a:r>
              <a:rPr lang="en-US" altLang="zh-CN" sz="4800" kern="100" dirty="0">
                <a:latin typeface="Times New Roman"/>
              </a:rPr>
              <a:t>1</a:t>
            </a:r>
            <a:r>
              <a:rPr lang="zh-CN" altLang="zh-CN" sz="4800" kern="100" dirty="0">
                <a:latin typeface="Times New Roman"/>
              </a:rPr>
              <a:t>）班，二（</a:t>
            </a:r>
            <a:r>
              <a:rPr lang="en-US" altLang="zh-CN" sz="4800" kern="100" dirty="0">
                <a:latin typeface="Times New Roman"/>
              </a:rPr>
              <a:t>2</a:t>
            </a:r>
            <a:r>
              <a:rPr lang="zh-CN" altLang="zh-CN" sz="4800" kern="100" dirty="0">
                <a:latin typeface="Times New Roman"/>
              </a:rPr>
              <a:t>）班，二（</a:t>
            </a:r>
            <a:r>
              <a:rPr lang="en-US" altLang="zh-CN" sz="4800" kern="100" dirty="0">
                <a:latin typeface="Times New Roman"/>
              </a:rPr>
              <a:t>3</a:t>
            </a:r>
            <a:r>
              <a:rPr lang="zh-CN" altLang="zh-CN" sz="4800" kern="100" dirty="0">
                <a:latin typeface="Times New Roman"/>
              </a:rPr>
              <a:t>）班的代表各叫什么名字？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 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 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 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 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2.</a:t>
            </a:r>
            <a:r>
              <a:rPr lang="zh-CN" altLang="zh-CN" sz="4800" kern="100" dirty="0">
                <a:latin typeface="Times New Roman"/>
              </a:rPr>
              <a:t>赛马比赛前，</a:t>
            </a:r>
            <a:r>
              <a:rPr lang="en-US" altLang="zh-CN" sz="4800" kern="100" dirty="0">
                <a:latin typeface="Times New Roman"/>
              </a:rPr>
              <a:t>5</a:t>
            </a:r>
            <a:r>
              <a:rPr lang="zh-CN" altLang="zh-CN" sz="4800" kern="100" dirty="0">
                <a:latin typeface="Times New Roman"/>
              </a:rPr>
              <a:t>位观众给</a:t>
            </a:r>
            <a:r>
              <a:rPr lang="en-US" altLang="zh-CN" sz="4800" kern="100" dirty="0">
                <a:latin typeface="Times New Roman"/>
              </a:rPr>
              <a:t>A</a:t>
            </a:r>
            <a:r>
              <a:rPr lang="zh-CN" altLang="zh-CN" sz="4800" kern="100" dirty="0">
                <a:latin typeface="Times New Roman"/>
              </a:rPr>
              <a:t>、</a:t>
            </a:r>
            <a:r>
              <a:rPr lang="en-US" altLang="zh-CN" sz="4800" kern="100" dirty="0">
                <a:latin typeface="Times New Roman"/>
              </a:rPr>
              <a:t>B</a:t>
            </a:r>
            <a:r>
              <a:rPr lang="zh-CN" altLang="zh-CN" sz="4800" kern="100" dirty="0">
                <a:latin typeface="Times New Roman"/>
              </a:rPr>
              <a:t>、</a:t>
            </a:r>
            <a:r>
              <a:rPr lang="en-US" altLang="zh-CN" sz="4800" kern="100" dirty="0">
                <a:latin typeface="Times New Roman"/>
              </a:rPr>
              <a:t>C</a:t>
            </a:r>
            <a:r>
              <a:rPr lang="zh-CN" altLang="zh-CN" sz="4800" kern="100" dirty="0">
                <a:latin typeface="Times New Roman"/>
              </a:rPr>
              <a:t>、</a:t>
            </a:r>
            <a:r>
              <a:rPr lang="en-US" altLang="zh-CN" sz="4800" kern="100" dirty="0">
                <a:latin typeface="Times New Roman"/>
              </a:rPr>
              <a:t>D</a:t>
            </a:r>
            <a:r>
              <a:rPr lang="zh-CN" altLang="zh-CN" sz="4800" kern="100" dirty="0">
                <a:latin typeface="Times New Roman"/>
              </a:rPr>
              <a:t>、</a:t>
            </a:r>
            <a:r>
              <a:rPr lang="en-US" altLang="zh-CN" sz="4800" kern="100" dirty="0">
                <a:latin typeface="Times New Roman"/>
              </a:rPr>
              <a:t>E</a:t>
            </a:r>
            <a:r>
              <a:rPr lang="zh-CN" altLang="zh-CN" sz="4800" kern="100" dirty="0">
                <a:latin typeface="Times New Roman"/>
              </a:rPr>
              <a:t>五匹马预测名次。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800" kern="100" dirty="0">
                <a:latin typeface="Times New Roman"/>
              </a:rPr>
              <a:t>甲说：</a:t>
            </a:r>
            <a:r>
              <a:rPr lang="en-US" altLang="zh-CN" sz="4800" kern="100" dirty="0">
                <a:latin typeface="Times New Roman"/>
              </a:rPr>
              <a:t>B</a:t>
            </a:r>
            <a:r>
              <a:rPr lang="zh-CN" altLang="zh-CN" sz="4800" kern="100" dirty="0">
                <a:latin typeface="Times New Roman"/>
              </a:rPr>
              <a:t>第二、</a:t>
            </a:r>
            <a:r>
              <a:rPr lang="en-US" altLang="zh-CN" sz="4800" kern="100" dirty="0">
                <a:latin typeface="Times New Roman"/>
              </a:rPr>
              <a:t>C</a:t>
            </a:r>
            <a:r>
              <a:rPr lang="zh-CN" altLang="zh-CN" sz="4800" kern="100" dirty="0">
                <a:latin typeface="Times New Roman"/>
              </a:rPr>
              <a:t>第五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800" kern="100" dirty="0">
                <a:latin typeface="Times New Roman"/>
              </a:rPr>
              <a:t>乙说：</a:t>
            </a:r>
            <a:r>
              <a:rPr lang="en-US" altLang="zh-CN" sz="4800" kern="100" dirty="0">
                <a:latin typeface="Times New Roman"/>
              </a:rPr>
              <a:t>E</a:t>
            </a:r>
            <a:r>
              <a:rPr lang="zh-CN" altLang="zh-CN" sz="4800" kern="100" dirty="0">
                <a:latin typeface="Times New Roman"/>
              </a:rPr>
              <a:t>第四、</a:t>
            </a:r>
            <a:r>
              <a:rPr lang="en-US" altLang="zh-CN" sz="4800" kern="100" dirty="0">
                <a:latin typeface="Times New Roman"/>
              </a:rPr>
              <a:t>D</a:t>
            </a:r>
            <a:r>
              <a:rPr lang="zh-CN" altLang="zh-CN" sz="4800" kern="100" dirty="0">
                <a:latin typeface="Times New Roman"/>
              </a:rPr>
              <a:t>第五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800" kern="100" dirty="0">
                <a:latin typeface="Times New Roman"/>
              </a:rPr>
              <a:t>丙说：</a:t>
            </a:r>
            <a:r>
              <a:rPr lang="en-US" altLang="zh-CN" sz="4800" kern="100" dirty="0">
                <a:latin typeface="Times New Roman"/>
              </a:rPr>
              <a:t>A</a:t>
            </a:r>
            <a:r>
              <a:rPr lang="zh-CN" altLang="zh-CN" sz="4800" kern="100" dirty="0">
                <a:latin typeface="Times New Roman"/>
              </a:rPr>
              <a:t>第一、</a:t>
            </a:r>
            <a:r>
              <a:rPr lang="en-US" altLang="zh-CN" sz="4800" kern="100" dirty="0">
                <a:latin typeface="Times New Roman"/>
              </a:rPr>
              <a:t>E</a:t>
            </a:r>
            <a:r>
              <a:rPr lang="zh-CN" altLang="zh-CN" sz="4800" kern="100" dirty="0">
                <a:latin typeface="Times New Roman"/>
              </a:rPr>
              <a:t>第四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800" kern="100" dirty="0">
                <a:latin typeface="Times New Roman"/>
              </a:rPr>
              <a:t>丁说：</a:t>
            </a:r>
            <a:r>
              <a:rPr lang="en-US" altLang="zh-CN" sz="4800" kern="100" dirty="0">
                <a:latin typeface="Times New Roman"/>
              </a:rPr>
              <a:t>C</a:t>
            </a:r>
            <a:r>
              <a:rPr lang="zh-CN" altLang="zh-CN" sz="4800" kern="100" dirty="0">
                <a:latin typeface="Times New Roman"/>
              </a:rPr>
              <a:t>第一、</a:t>
            </a:r>
            <a:r>
              <a:rPr lang="en-US" altLang="zh-CN" sz="4800" kern="100" dirty="0">
                <a:latin typeface="Times New Roman"/>
              </a:rPr>
              <a:t>B</a:t>
            </a:r>
            <a:r>
              <a:rPr lang="zh-CN" altLang="zh-CN" sz="4800" kern="100" dirty="0">
                <a:latin typeface="Times New Roman"/>
              </a:rPr>
              <a:t>第三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800" kern="100" dirty="0">
                <a:latin typeface="Times New Roman"/>
              </a:rPr>
              <a:t>戊说：</a:t>
            </a:r>
            <a:r>
              <a:rPr lang="en-US" altLang="zh-CN" sz="4800" kern="100" dirty="0">
                <a:latin typeface="Times New Roman"/>
              </a:rPr>
              <a:t>A</a:t>
            </a:r>
            <a:r>
              <a:rPr lang="zh-CN" altLang="zh-CN" sz="4800" kern="100" dirty="0">
                <a:latin typeface="Times New Roman"/>
              </a:rPr>
              <a:t>第三、</a:t>
            </a:r>
            <a:r>
              <a:rPr lang="en-US" altLang="zh-CN" sz="4800" kern="100" dirty="0">
                <a:latin typeface="Times New Roman"/>
              </a:rPr>
              <a:t>D</a:t>
            </a:r>
            <a:r>
              <a:rPr lang="zh-CN" altLang="zh-CN" sz="4800" kern="100" dirty="0">
                <a:latin typeface="Times New Roman"/>
              </a:rPr>
              <a:t>第四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4800" kern="100" dirty="0">
                <a:latin typeface="Times New Roman"/>
              </a:rPr>
              <a:t>结果每个名次都有人猜中，请你给出各匹马的名次。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 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 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 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3.</a:t>
            </a:r>
            <a:r>
              <a:rPr lang="zh-CN" altLang="zh-CN" sz="4800" kern="100" dirty="0">
                <a:latin typeface="Times New Roman"/>
              </a:rPr>
              <a:t>刘超、马俊、王凡三个男孩都有一个妹妹，六个人在一起打球，举行男女混合双打。规定：兄妹两人不搭伴，第一盘刘超和小丽对王凡和小雅，第二盘王凡和小华对刘超和马俊的妹妹，问：他们哪两个是兄妹？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4800" kern="100" dirty="0">
                <a:latin typeface="宋体"/>
              </a:rPr>
              <a:t> </a:t>
            </a:r>
            <a:endParaRPr lang="zh-CN" altLang="zh-CN" sz="48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宋体"/>
              </a:rPr>
              <a:t> </a:t>
            </a:r>
            <a:endParaRPr lang="zh-CN" altLang="zh-CN" sz="2400" kern="100" dirty="0">
              <a:latin typeface="Times New Roman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350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1226</TotalTime>
  <Words>34661</Words>
  <Application>Microsoft Office PowerPoint</Application>
  <PresentationFormat>全屏显示(4:3)</PresentationFormat>
  <Paragraphs>3145</Paragraphs>
  <Slides>418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418</vt:i4>
      </vt:variant>
    </vt:vector>
  </HeadingPairs>
  <TitlesOfParts>
    <vt:vector size="419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1．5粒    2．7块     3．2个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89</cp:revision>
  <dcterms:created xsi:type="dcterms:W3CDTF">2016-11-14T04:25:15Z</dcterms:created>
  <dcterms:modified xsi:type="dcterms:W3CDTF">2016-12-05T01:53:39Z</dcterms:modified>
</cp:coreProperties>
</file>